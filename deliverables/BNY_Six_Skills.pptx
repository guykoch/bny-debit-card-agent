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dd3ad82-8e14-44be-9fee-494ca9f9f4f0}">
          <p14:sldIdLst>
            <p14:sldId id="256"/>
            <p14:sldId id="257"/>
          </p14:sldIdLst>
        </p14:section>
        <p14:section name="The six skills" id="{273ff817-667c-a337-2712-79c75f0be4cd}">
          <p14:sldIdLst>
            <p14:sldId id="258"/>
            <p14:sldId id="259"/>
            <p14:sldId id="260"/>
            <p14:sldId id="261"/>
            <p14:sldId id="262"/>
            <p14:sldId id="263"/>
          </p14:sldIdLst>
        </p14:section>
        <p14:section name="Summary" id="{c406c0d1-1ef7-a6cc-dd5d-5a15b237aa85}">
          <p14:sldIdLst>
            <p14:sldId id="264"/>
          </p14:sldIdLst>
        </p14:section>
        <p14:section name="Appendix" id="{f6bf5121-5a0a-ba90-3df4-5fafdf719b59}">
          <p14:sldIdLst>
            <p14:sldId id="265"/>
            <p14:sldId id="266"/>
            <p14:sldId id="267"/>
            <p14:sldId id="268"/>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takes the six actions agreed with Ben one at a time. Each slide answers the same four questions: what the skill does, what an advisor might type, what the chat needs before it acts, and what stops it from doing the wrong thing. On the right of each slide is a sample conversation using our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individual skills: the five steps are the same for all six, and they live in one shared file. That is what keeps six skills from drifting apart. The chat only acts on one card at a time, and nothing reaches the card system until the advisor clicks Confirm. The bottom row shows the four situations where the chat stops and asks. These are the cases a careless chatbot would guess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Lock is the simplest skill, so we use it to show the question every skill asks when there is more than one card. Robert Castellano has two active cards in our test data. The chat lists both and waits. It does not guess. The advisor can click or type the last four digits. Then the chat restates the action in one line, and nothing happens until Confirm. Lock is reversible, which is why its confirmation is the lightest of the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Unlock mirrors lock. The example shows the other common question: two clients with the same name. The chat lists both with the last four digits of the account and waits. Our test data has a third Sarah Chen who belongs to a different advisor. She is filtered out before the list is built, so this advisor never learns she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has four fields, so it shows how the chat collects them without a form. The client and card are found as usual. The reason is taken from the sentence only when it is explicit: cracked means damaged. The address is never assumed. The chat shows the one on file and asks the advisor to confirm or change it. A card mailed to the wrong address is a real risk, so this is a deliberate extra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is the only irreversible action, so it is the most careful skill. Advisors and clients say 'cancel the card' loosely, and that could mean lock or close. The chat asks rather than picking the more drastic option. The confirmation panel is red and states plainly that it cannot be undone. Open question for Ben: is BNY's entitlement check at action level? An advisor may be allowed to lock but not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urgent skill and the one advisors described most often. Lost and stolen are treated differently downstream, so the chat asks which rather than guessing from 'wallet'. It also asks about unrecognised charges, but it never decides which charges look suspicious. That is the client's call. When it is done, it offers the replacement. Each action is still confirmed separately, one card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Travel notice is the hardest skill because the inputs are vague. 'Next month for a couple of weeks' becomes real dates, and the chat shows its working instead of submitting a guess. Place names can be ambiguous: Georgia, Springfield, Victoria. The chat asks rather than picking the more common one. The confirmation shows the dates it worked out and where they came from, with a Change dates button, so the advisor can correct them before anything runs. It only asks for the fields still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summary for discussion. The two columns that matter for Ben are 'can it be undone' and the extra questions. Close permanently is the one irreversible action, which is why it has the strictest confirmation. This also connects to the open question about whether BNY checks entitlement per client or per action. Note that cancelling a travel notice is one of our suggested additions, not yet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reproduces the seven skill files exactly as they are in the repository: the shared rules first, then one file per action. These files are the whole of the instructions the model receives.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text of _shared.md, page 1 of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text of _shared.md, page 2 of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text of lock-card/SKILL.md, page 1 of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text of unlock-card/SKILL.md, page 1 of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text of replace-card/SKILL.md, page 1 of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text of close-card/SKILL.md, page 1 of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text of report-lost-stolen/SKILL.md, page 1 of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text of travel-notice/SKILL.md, page 1 of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rgbClr val="0E233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554480"/>
            <a:ext cx="10789920" cy="82296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1" type="body" hasCustomPrompt="1"/>
          </p:nvPr>
        </p:nvSpPr>
        <p:spPr>
          <a:xfrm>
            <a:off x="685800" y="2423160"/>
            <a:ext cx="10789920" cy="365760"/>
          </a:xfrm>
          <a:prstGeom prst="rect">
            <a:avLst/>
          </a:prstGeom>
          <a:noFill/>
          <a:ln/>
        </p:spPr>
        <p:txBody>
          <a:bodyPr wrap="square" rtlCol="0"/>
          <a:lstStyle>
            <a:lvl1pPr algn="l" indent="0" marL="0">
              <a:buNone/>
              <a:defRPr lang="en-US" sz="1700" dirty="0">
                <a:solidFill>
                  <a:srgbClr val="C9A227"/>
                </a:solidFill>
                <a:latin typeface="Calibri" pitchFamily="34" charset="0"/>
                <a:ea typeface="Calibri" pitchFamily="34" charset="-122"/>
                <a:cs typeface="Calibri" pitchFamily="34" charset="-120"/>
              </a:defRPr>
            </a:lvl1pPr>
          </a:lstStyle>
          <a:p>
            <a:pPr algn="l"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rtlCol="0"/>
          <a:lstStyle>
            <a:lvl1pPr algn="l" indent="0" marL="0">
              <a:buNone/>
              <a:defRPr lang="en-US" sz="3200" b="1" dirty="0">
                <a:solidFill>
                  <a:srgbClr val="14314F"/>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rtlCol="0"/>
          <a:lstStyle>
            <a:lvl1pPr algn="l" indent="0" marL="0">
              <a:buNone/>
              <a:defRPr lang="en-US" sz="1400" dirty="0">
                <a:solidFill>
                  <a:srgbClr val="5B6B7A"/>
                </a:solidFill>
                <a:latin typeface="Calibri" pitchFamily="34" charset="0"/>
                <a:ea typeface="Calibri" pitchFamily="34" charset="-122"/>
                <a:cs typeface="Calibri" pitchFamily="34" charset="-120"/>
              </a:defRPr>
            </a:lvl1pPr>
          </a:lstStyle>
          <a:p>
            <a:pPr algn="l" indent="0" marL="0">
              <a:buNone/>
            </a:pP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rtlCol="0"/>
          <a:lstStyle>
            <a:lvl1pPr indent="0" marL="0">
              <a:buNone/>
              <a:defRPr lang="en-US" sz="1100" i="1" dirty="0">
                <a:solidFill>
                  <a:srgbClr val="7E8D9B"/>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slideLayout" Target="../slideLayouts/slideLayout3.xml"/><Relationship Id="rId1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slideLayout" Target="../slideLayouts/slideLayout3.xml"/><Relationship Id="rId1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slideLayout" Target="../slideLayouts/slideLayout3.xml"/><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3.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slideLayout" Target="../slideLayouts/slideLayout3.xml"/><Relationship Id="rId1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slideLayout" Target="../slideLayouts/slideLayout3.xml"/><Relationship Id="rId1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85800" y="1554480"/>
            <a:ext cx="10789920" cy="822960"/>
          </a:xfrm>
          <a:prstGeom prst="rect">
            <a:avLst/>
          </a:prstGeom>
          <a:noFill/>
          <a:ln/>
        </p:spPr>
        <p:txBody>
          <a:bodyPr wrap="square" lIns="0" tIns="0" rIns="0" bIns="0" rtlCol="0" anchor="ctr"/>
          <a:lstStyle/>
          <a:p>
            <a:pPr algn="l" indent="0" marL="0">
              <a:buNone/>
            </a:pPr>
            <a:r>
              <a:rPr lang="en-US" sz="4200" b="1" dirty="0">
                <a:solidFill>
                  <a:srgbClr val="FFFFFF"/>
                </a:solidFill>
                <a:latin typeface="Cambria" pitchFamily="34" charset="0"/>
                <a:ea typeface="Cambria" pitchFamily="34" charset="-122"/>
                <a:cs typeface="Cambria" pitchFamily="34" charset="-120"/>
              </a:rPr>
              <a:t>Six skills, one chat</a:t>
            </a:r>
            <a:endParaRPr lang="en-US" sz="4200" dirty="0"/>
          </a:p>
        </p:txBody>
      </p:sp>
      <p:sp>
        <p:nvSpPr>
          <p:cNvPr id="3" name="Text 0"/>
          <p:cNvSpPr/>
          <p:nvPr>
            <p:ph idx="101" type="body" hasCustomPrompt="1"/>
          </p:nvPr>
        </p:nvSpPr>
        <p:spPr>
          <a:xfrm>
            <a:off x="685800" y="2423160"/>
            <a:ext cx="10789920" cy="365760"/>
          </a:xfrm>
          <a:prstGeom prst="rect">
            <a:avLst/>
          </a:prstGeom>
          <a:noFill/>
          <a:ln/>
        </p:spPr>
        <p:txBody>
          <a:bodyPr wrap="square" lIns="0" tIns="0" rIns="0" bIns="0" rtlCol="0"/>
          <a:lstStyle/>
          <a:p>
            <a:pPr algn="l" indent="0" marL="0">
              <a:buNone/>
            </a:pPr>
            <a:r>
              <a:rPr lang="en-US" sz="1700" dirty="0">
                <a:solidFill>
                  <a:srgbClr val="C9A227"/>
                </a:solidFill>
                <a:latin typeface="Calibri" pitchFamily="34" charset="0"/>
                <a:ea typeface="Calibri" pitchFamily="34" charset="-122"/>
                <a:cs typeface="Calibri" pitchFamily="34" charset="-120"/>
              </a:rPr>
              <a:t>BNY Pershing  ·  NetX360, advisor side  ·  How each debit card action works</a:t>
            </a:r>
            <a:endParaRPr lang="en-US" sz="1700" dirty="0"/>
          </a:p>
        </p:txBody>
      </p:sp>
      <p:sp>
        <p:nvSpPr>
          <p:cNvPr id="4" name="Shape 2"/>
          <p:cNvSpPr/>
          <p:nvPr/>
        </p:nvSpPr>
        <p:spPr>
          <a:xfrm>
            <a:off x="685800" y="3246120"/>
            <a:ext cx="2560320" cy="594360"/>
          </a:xfrm>
          <a:prstGeom prst="roundRect">
            <a:avLst>
              <a:gd name="adj" fmla="val 12308"/>
            </a:avLst>
          </a:prstGeom>
          <a:solidFill>
            <a:srgbClr val="1B3A56"/>
          </a:solidFill>
          <a:ln w="12700">
            <a:solidFill>
              <a:srgbClr val="2E5675"/>
            </a:solidFill>
            <a:prstDash val="solid"/>
          </a:ln>
        </p:spPr>
      </p:sp>
      <p:pic>
        <p:nvPicPr>
          <p:cNvPr id="5" name="Image 0" descr="preencoded.png">    </p:cNvPr>
          <p:cNvPicPr>
            <a:picLocks noChangeAspect="1"/>
          </p:cNvPicPr>
          <p:nvPr/>
        </p:nvPicPr>
        <p:blipFill>
          <a:blip r:embed="rId1"/>
          <a:stretch>
            <a:fillRect/>
          </a:stretch>
        </p:blipFill>
        <p:spPr>
          <a:xfrm>
            <a:off x="868680" y="3429000"/>
            <a:ext cx="228600" cy="228600"/>
          </a:xfrm>
          <a:prstGeom prst="rect">
            <a:avLst/>
          </a:prstGeom>
        </p:spPr>
      </p:pic>
      <p:sp>
        <p:nvSpPr>
          <p:cNvPr id="6" name="Text 3"/>
          <p:cNvSpPr txBox="1"/>
          <p:nvPr/>
        </p:nvSpPr>
        <p:spPr>
          <a:xfrm>
            <a:off x="1216152" y="3246120"/>
            <a:ext cx="1965960" cy="5943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Lock card</a:t>
            </a:r>
            <a:endParaRPr lang="en-US" sz="1500" dirty="0"/>
          </a:p>
        </p:txBody>
      </p:sp>
      <p:sp>
        <p:nvSpPr>
          <p:cNvPr id="7" name="Shape 4"/>
          <p:cNvSpPr/>
          <p:nvPr/>
        </p:nvSpPr>
        <p:spPr>
          <a:xfrm>
            <a:off x="3429000" y="3246120"/>
            <a:ext cx="2560320" cy="594360"/>
          </a:xfrm>
          <a:prstGeom prst="roundRect">
            <a:avLst>
              <a:gd name="adj" fmla="val 12308"/>
            </a:avLst>
          </a:prstGeom>
          <a:solidFill>
            <a:srgbClr val="1B3A56"/>
          </a:solidFill>
          <a:ln w="12700">
            <a:solidFill>
              <a:srgbClr val="2E5675"/>
            </a:solidFill>
            <a:prstDash val="solid"/>
          </a:ln>
        </p:spPr>
      </p:sp>
      <p:pic>
        <p:nvPicPr>
          <p:cNvPr id="8" name="Image 1" descr="preencoded.png">    </p:cNvPr>
          <p:cNvPicPr>
            <a:picLocks noChangeAspect="1"/>
          </p:cNvPicPr>
          <p:nvPr/>
        </p:nvPicPr>
        <p:blipFill>
          <a:blip r:embed="rId2"/>
          <a:stretch>
            <a:fillRect/>
          </a:stretch>
        </p:blipFill>
        <p:spPr>
          <a:xfrm>
            <a:off x="3611880" y="3429000"/>
            <a:ext cx="228600" cy="228600"/>
          </a:xfrm>
          <a:prstGeom prst="rect">
            <a:avLst/>
          </a:prstGeom>
        </p:spPr>
      </p:pic>
      <p:sp>
        <p:nvSpPr>
          <p:cNvPr id="9" name="Text 5"/>
          <p:cNvSpPr txBox="1"/>
          <p:nvPr/>
        </p:nvSpPr>
        <p:spPr>
          <a:xfrm>
            <a:off x="3959352" y="3246120"/>
            <a:ext cx="1965960" cy="5943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Unlock card</a:t>
            </a:r>
            <a:endParaRPr lang="en-US" sz="1500" dirty="0"/>
          </a:p>
        </p:txBody>
      </p:sp>
      <p:sp>
        <p:nvSpPr>
          <p:cNvPr id="10" name="Shape 6"/>
          <p:cNvSpPr/>
          <p:nvPr/>
        </p:nvSpPr>
        <p:spPr>
          <a:xfrm>
            <a:off x="6172200" y="3246120"/>
            <a:ext cx="2560320" cy="594360"/>
          </a:xfrm>
          <a:prstGeom prst="roundRect">
            <a:avLst>
              <a:gd name="adj" fmla="val 12308"/>
            </a:avLst>
          </a:prstGeom>
          <a:solidFill>
            <a:srgbClr val="1B3A56"/>
          </a:solidFill>
          <a:ln w="12700">
            <a:solidFill>
              <a:srgbClr val="2E5675"/>
            </a:solidFill>
            <a:prstDash val="solid"/>
          </a:ln>
        </p:spPr>
      </p:sp>
      <p:pic>
        <p:nvPicPr>
          <p:cNvPr id="11" name="Image 2" descr="preencoded.png">    </p:cNvPr>
          <p:cNvPicPr>
            <a:picLocks noChangeAspect="1"/>
          </p:cNvPicPr>
          <p:nvPr/>
        </p:nvPicPr>
        <p:blipFill>
          <a:blip r:embed="rId3"/>
          <a:stretch>
            <a:fillRect/>
          </a:stretch>
        </p:blipFill>
        <p:spPr>
          <a:xfrm>
            <a:off x="6355080" y="3429000"/>
            <a:ext cx="228600" cy="228600"/>
          </a:xfrm>
          <a:prstGeom prst="rect">
            <a:avLst/>
          </a:prstGeom>
        </p:spPr>
      </p:pic>
      <p:sp>
        <p:nvSpPr>
          <p:cNvPr id="12" name="Text 7"/>
          <p:cNvSpPr txBox="1"/>
          <p:nvPr/>
        </p:nvSpPr>
        <p:spPr>
          <a:xfrm>
            <a:off x="6702552" y="3246120"/>
            <a:ext cx="1965960" cy="5943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Replace card</a:t>
            </a:r>
            <a:endParaRPr lang="en-US" sz="1500" dirty="0"/>
          </a:p>
        </p:txBody>
      </p:sp>
      <p:sp>
        <p:nvSpPr>
          <p:cNvPr id="13" name="Shape 8"/>
          <p:cNvSpPr/>
          <p:nvPr/>
        </p:nvSpPr>
        <p:spPr>
          <a:xfrm>
            <a:off x="685800" y="4023360"/>
            <a:ext cx="2560320" cy="594360"/>
          </a:xfrm>
          <a:prstGeom prst="roundRect">
            <a:avLst>
              <a:gd name="adj" fmla="val 12308"/>
            </a:avLst>
          </a:prstGeom>
          <a:solidFill>
            <a:srgbClr val="1B3A56"/>
          </a:solidFill>
          <a:ln w="12700">
            <a:solidFill>
              <a:srgbClr val="2E5675"/>
            </a:solidFill>
            <a:prstDash val="solid"/>
          </a:ln>
        </p:spPr>
      </p:sp>
      <p:pic>
        <p:nvPicPr>
          <p:cNvPr id="14" name="Image 3" descr="preencoded.png">    </p:cNvPr>
          <p:cNvPicPr>
            <a:picLocks noChangeAspect="1"/>
          </p:cNvPicPr>
          <p:nvPr/>
        </p:nvPicPr>
        <p:blipFill>
          <a:blip r:embed="rId4"/>
          <a:stretch>
            <a:fillRect/>
          </a:stretch>
        </p:blipFill>
        <p:spPr>
          <a:xfrm>
            <a:off x="868680" y="4206240"/>
            <a:ext cx="228600" cy="228600"/>
          </a:xfrm>
          <a:prstGeom prst="rect">
            <a:avLst/>
          </a:prstGeom>
        </p:spPr>
      </p:pic>
      <p:sp>
        <p:nvSpPr>
          <p:cNvPr id="15" name="Text 9"/>
          <p:cNvSpPr txBox="1"/>
          <p:nvPr/>
        </p:nvSpPr>
        <p:spPr>
          <a:xfrm>
            <a:off x="1216152" y="4023360"/>
            <a:ext cx="1965960" cy="5943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Close permanently</a:t>
            </a:r>
            <a:endParaRPr lang="en-US" sz="1500" dirty="0"/>
          </a:p>
        </p:txBody>
      </p:sp>
      <p:sp>
        <p:nvSpPr>
          <p:cNvPr id="16" name="Shape 10"/>
          <p:cNvSpPr/>
          <p:nvPr/>
        </p:nvSpPr>
        <p:spPr>
          <a:xfrm>
            <a:off x="3429000" y="4023360"/>
            <a:ext cx="2560320" cy="594360"/>
          </a:xfrm>
          <a:prstGeom prst="roundRect">
            <a:avLst>
              <a:gd name="adj" fmla="val 12308"/>
            </a:avLst>
          </a:prstGeom>
          <a:solidFill>
            <a:srgbClr val="1B3A56"/>
          </a:solidFill>
          <a:ln w="12700">
            <a:solidFill>
              <a:srgbClr val="2E5675"/>
            </a:solidFill>
            <a:prstDash val="solid"/>
          </a:ln>
        </p:spPr>
      </p:sp>
      <p:pic>
        <p:nvPicPr>
          <p:cNvPr id="17" name="Image 4" descr="preencoded.png">    </p:cNvPr>
          <p:cNvPicPr>
            <a:picLocks noChangeAspect="1"/>
          </p:cNvPicPr>
          <p:nvPr/>
        </p:nvPicPr>
        <p:blipFill>
          <a:blip r:embed="rId5"/>
          <a:stretch>
            <a:fillRect/>
          </a:stretch>
        </p:blipFill>
        <p:spPr>
          <a:xfrm>
            <a:off x="3611880" y="4206240"/>
            <a:ext cx="228600" cy="228600"/>
          </a:xfrm>
          <a:prstGeom prst="rect">
            <a:avLst/>
          </a:prstGeom>
        </p:spPr>
      </p:pic>
      <p:sp>
        <p:nvSpPr>
          <p:cNvPr id="18" name="Text 11"/>
          <p:cNvSpPr txBox="1"/>
          <p:nvPr/>
        </p:nvSpPr>
        <p:spPr>
          <a:xfrm>
            <a:off x="3959352" y="4023360"/>
            <a:ext cx="1965960" cy="5943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Report lost or stolen</a:t>
            </a:r>
            <a:endParaRPr lang="en-US" sz="1500" dirty="0"/>
          </a:p>
        </p:txBody>
      </p:sp>
      <p:sp>
        <p:nvSpPr>
          <p:cNvPr id="19" name="Shape 12"/>
          <p:cNvSpPr/>
          <p:nvPr/>
        </p:nvSpPr>
        <p:spPr>
          <a:xfrm>
            <a:off x="6172200" y="4023360"/>
            <a:ext cx="2560320" cy="594360"/>
          </a:xfrm>
          <a:prstGeom prst="roundRect">
            <a:avLst>
              <a:gd name="adj" fmla="val 12308"/>
            </a:avLst>
          </a:prstGeom>
          <a:solidFill>
            <a:srgbClr val="1B3A56"/>
          </a:solidFill>
          <a:ln w="12700">
            <a:solidFill>
              <a:srgbClr val="2E5675"/>
            </a:solidFill>
            <a:prstDash val="solid"/>
          </a:ln>
        </p:spPr>
      </p:sp>
      <p:pic>
        <p:nvPicPr>
          <p:cNvPr id="20" name="Image 5" descr="preencoded.png">    </p:cNvPr>
          <p:cNvPicPr>
            <a:picLocks noChangeAspect="1"/>
          </p:cNvPicPr>
          <p:nvPr/>
        </p:nvPicPr>
        <p:blipFill>
          <a:blip r:embed="rId6"/>
          <a:stretch>
            <a:fillRect/>
          </a:stretch>
        </p:blipFill>
        <p:spPr>
          <a:xfrm>
            <a:off x="6355080" y="4206240"/>
            <a:ext cx="228600" cy="228600"/>
          </a:xfrm>
          <a:prstGeom prst="rect">
            <a:avLst/>
          </a:prstGeom>
        </p:spPr>
      </p:pic>
      <p:sp>
        <p:nvSpPr>
          <p:cNvPr id="21" name="Text 13"/>
          <p:cNvSpPr txBox="1"/>
          <p:nvPr/>
        </p:nvSpPr>
        <p:spPr>
          <a:xfrm>
            <a:off x="6702552" y="4023360"/>
            <a:ext cx="1965960" cy="5943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Travel notice</a:t>
            </a:r>
            <a:endParaRPr lang="en-US" sz="1500" dirty="0"/>
          </a:p>
        </p:txBody>
      </p:sp>
      <p:sp>
        <p:nvSpPr>
          <p:cNvPr id="22" name="Text 14"/>
          <p:cNvSpPr txBox="1"/>
          <p:nvPr/>
        </p:nvSpPr>
        <p:spPr>
          <a:xfrm>
            <a:off x="685800" y="5120640"/>
            <a:ext cx="10515600" cy="365760"/>
          </a:xfrm>
          <a:prstGeom prst="rect">
            <a:avLst/>
          </a:prstGeom>
          <a:noFill/>
          <a:ln/>
        </p:spPr>
        <p:txBody>
          <a:bodyPr wrap="square" lIns="0" tIns="0" rIns="0" bIns="0" rtlCol="0" anchor="t"/>
          <a:lstStyle/>
          <a:p>
            <a:pPr indent="0" marL="0">
              <a:buNone/>
            </a:pPr>
            <a:r>
              <a:rPr lang="en-US" sz="1500" i="1" dirty="0">
                <a:solidFill>
                  <a:srgbClr val="BFD0DE"/>
                </a:solidFill>
                <a:latin typeface="Calibri" pitchFamily="34" charset="0"/>
                <a:ea typeface="Calibri" pitchFamily="34" charset="-122"/>
                <a:cs typeface="Calibri" pitchFamily="34" charset="-120"/>
              </a:rPr>
              <a:t>One skill per action. Each one knows what to ask, what to refuse, and what to confirm.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Every skill follows the same five steps</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These rules are written once, in a shared file, so all six skills behave the same way.</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Steps 1–3 are where the chat asks questions. Step 4 is where the advisor stays in control. Nothing reaches the card system before it.</a:t>
            </a:r>
            <a:endParaRPr lang="en-US" sz="1100" dirty="0"/>
          </a:p>
        </p:txBody>
      </p:sp>
      <p:sp>
        <p:nvSpPr>
          <p:cNvPr id="5" name="Shape 3"/>
          <p:cNvSpPr/>
          <p:nvPr/>
        </p:nvSpPr>
        <p:spPr>
          <a:xfrm>
            <a:off x="1051560" y="1508760"/>
            <a:ext cx="914400" cy="914400"/>
          </a:xfrm>
          <a:prstGeom prst="ellipse">
            <a:avLst/>
          </a:prstGeom>
          <a:solidFill>
            <a:srgbClr val="14314F"/>
          </a:solidFill>
          <a:ln w="12700">
            <a:solidFill>
              <a:srgbClr val="14314F"/>
            </a:solidFill>
            <a:prstDash val="solid"/>
          </a:ln>
        </p:spPr>
      </p:sp>
      <p:sp>
        <p:nvSpPr>
          <p:cNvPr id="6" name="Text 4"/>
          <p:cNvSpPr txBox="1"/>
          <p:nvPr/>
        </p:nvSpPr>
        <p:spPr>
          <a:xfrm>
            <a:off x="1051560" y="150876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7" name="Text 5"/>
          <p:cNvSpPr txBox="1"/>
          <p:nvPr/>
        </p:nvSpPr>
        <p:spPr>
          <a:xfrm>
            <a:off x="2148840" y="1737360"/>
            <a:ext cx="548640" cy="457200"/>
          </a:xfrm>
          <a:prstGeom prst="rect">
            <a:avLst/>
          </a:prstGeom>
          <a:noFill/>
          <a:ln/>
        </p:spPr>
        <p:txBody>
          <a:bodyPr wrap="square" lIns="0" tIns="0" rIns="0" bIns="0" rtlCol="0" anchor="ctr"/>
          <a:lstStyle/>
          <a:p>
            <a:pPr algn="ctr" indent="0" marL="0">
              <a:buNone/>
            </a:pPr>
            <a:r>
              <a:rPr lang="en-US" sz="2400" dirty="0">
                <a:solidFill>
                  <a:srgbClr val="7E8D9B"/>
                </a:solidFill>
                <a:latin typeface="Calibri" pitchFamily="34" charset="0"/>
                <a:ea typeface="Calibri" pitchFamily="34" charset="-122"/>
                <a:cs typeface="Calibri" pitchFamily="34" charset="-120"/>
              </a:rPr>
              <a:t>→</a:t>
            </a:r>
            <a:endParaRPr lang="en-US" sz="2400" dirty="0"/>
          </a:p>
        </p:txBody>
      </p:sp>
      <p:sp>
        <p:nvSpPr>
          <p:cNvPr id="8" name="Text 6"/>
          <p:cNvSpPr txBox="1"/>
          <p:nvPr/>
        </p:nvSpPr>
        <p:spPr>
          <a:xfrm>
            <a:off x="548640" y="2560320"/>
            <a:ext cx="1920240" cy="320040"/>
          </a:xfrm>
          <a:prstGeom prst="rect">
            <a:avLst/>
          </a:prstGeom>
          <a:noFill/>
          <a:ln/>
        </p:spPr>
        <p:txBody>
          <a:bodyPr wrap="square" lIns="0" tIns="0" rIns="0" bIns="0" rtlCol="0" anchor="t"/>
          <a:lstStyle/>
          <a:p>
            <a:pPr algn="ctr" indent="0" marL="0">
              <a:buNone/>
            </a:pPr>
            <a:r>
              <a:rPr lang="en-US" sz="1500" b="1" dirty="0">
                <a:solidFill>
                  <a:srgbClr val="14314F"/>
                </a:solidFill>
                <a:latin typeface="Calibri" pitchFamily="34" charset="0"/>
                <a:ea typeface="Calibri" pitchFamily="34" charset="-122"/>
                <a:cs typeface="Calibri" pitchFamily="34" charset="-120"/>
              </a:rPr>
              <a:t>Find the client</a:t>
            </a:r>
            <a:endParaRPr lang="en-US" sz="1500" dirty="0"/>
          </a:p>
        </p:txBody>
      </p:sp>
      <p:sp>
        <p:nvSpPr>
          <p:cNvPr id="9" name="Text 7"/>
          <p:cNvSpPr txBox="1"/>
          <p:nvPr/>
        </p:nvSpPr>
        <p:spPr>
          <a:xfrm>
            <a:off x="548640" y="2880360"/>
            <a:ext cx="1920240" cy="548640"/>
          </a:xfrm>
          <a:prstGeom prst="rect">
            <a:avLst/>
          </a:prstGeom>
          <a:noFill/>
          <a:ln/>
        </p:spPr>
        <p:txBody>
          <a:bodyPr wrap="square" lIns="0" tIns="0" rIns="0" bIns="0" rtlCol="0" anchor="t"/>
          <a:lstStyle/>
          <a:p>
            <a:pPr algn="ctr" indent="0" marL="0">
              <a:buNone/>
            </a:pPr>
            <a:r>
              <a:rPr lang="en-US" sz="1250" dirty="0">
                <a:solidFill>
                  <a:srgbClr val="5B6B7A"/>
                </a:solidFill>
                <a:latin typeface="Calibri" pitchFamily="34" charset="0"/>
                <a:ea typeface="Calibri" pitchFamily="34" charset="-122"/>
                <a:cs typeface="Calibri" pitchFamily="34" charset="-120"/>
              </a:rPr>
              <a:t>Matches the name to one client the advisor may see</a:t>
            </a:r>
            <a:endParaRPr lang="en-US" sz="1250" dirty="0"/>
          </a:p>
        </p:txBody>
      </p:sp>
      <p:sp>
        <p:nvSpPr>
          <p:cNvPr id="10" name="Shape 8"/>
          <p:cNvSpPr/>
          <p:nvPr/>
        </p:nvSpPr>
        <p:spPr>
          <a:xfrm>
            <a:off x="3319272" y="1508760"/>
            <a:ext cx="914400" cy="914400"/>
          </a:xfrm>
          <a:prstGeom prst="ellipse">
            <a:avLst/>
          </a:prstGeom>
          <a:solidFill>
            <a:srgbClr val="14314F"/>
          </a:solidFill>
          <a:ln w="12700">
            <a:solidFill>
              <a:srgbClr val="14314F"/>
            </a:solidFill>
            <a:prstDash val="solid"/>
          </a:ln>
        </p:spPr>
      </p:sp>
      <p:sp>
        <p:nvSpPr>
          <p:cNvPr id="11" name="Text 9"/>
          <p:cNvSpPr txBox="1"/>
          <p:nvPr/>
        </p:nvSpPr>
        <p:spPr>
          <a:xfrm>
            <a:off x="3319272" y="150876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2" name="Text 10"/>
          <p:cNvSpPr txBox="1"/>
          <p:nvPr/>
        </p:nvSpPr>
        <p:spPr>
          <a:xfrm>
            <a:off x="4416552" y="1737360"/>
            <a:ext cx="548640" cy="457200"/>
          </a:xfrm>
          <a:prstGeom prst="rect">
            <a:avLst/>
          </a:prstGeom>
          <a:noFill/>
          <a:ln/>
        </p:spPr>
        <p:txBody>
          <a:bodyPr wrap="square" lIns="0" tIns="0" rIns="0" bIns="0" rtlCol="0" anchor="ctr"/>
          <a:lstStyle/>
          <a:p>
            <a:pPr algn="ctr" indent="0" marL="0">
              <a:buNone/>
            </a:pPr>
            <a:r>
              <a:rPr lang="en-US" sz="2400" dirty="0">
                <a:solidFill>
                  <a:srgbClr val="7E8D9B"/>
                </a:solidFill>
                <a:latin typeface="Calibri" pitchFamily="34" charset="0"/>
                <a:ea typeface="Calibri" pitchFamily="34" charset="-122"/>
                <a:cs typeface="Calibri" pitchFamily="34" charset="-120"/>
              </a:rPr>
              <a:t>→</a:t>
            </a:r>
            <a:endParaRPr lang="en-US" sz="2400" dirty="0"/>
          </a:p>
        </p:txBody>
      </p:sp>
      <p:sp>
        <p:nvSpPr>
          <p:cNvPr id="13" name="Text 11"/>
          <p:cNvSpPr txBox="1"/>
          <p:nvPr/>
        </p:nvSpPr>
        <p:spPr>
          <a:xfrm>
            <a:off x="2816352" y="2560320"/>
            <a:ext cx="1920240" cy="320040"/>
          </a:xfrm>
          <a:prstGeom prst="rect">
            <a:avLst/>
          </a:prstGeom>
          <a:noFill/>
          <a:ln/>
        </p:spPr>
        <p:txBody>
          <a:bodyPr wrap="square" lIns="0" tIns="0" rIns="0" bIns="0" rtlCol="0" anchor="t"/>
          <a:lstStyle/>
          <a:p>
            <a:pPr algn="ctr" indent="0" marL="0">
              <a:buNone/>
            </a:pPr>
            <a:r>
              <a:rPr lang="en-US" sz="1500" b="1" dirty="0">
                <a:solidFill>
                  <a:srgbClr val="14314F"/>
                </a:solidFill>
                <a:latin typeface="Calibri" pitchFamily="34" charset="0"/>
                <a:ea typeface="Calibri" pitchFamily="34" charset="-122"/>
                <a:cs typeface="Calibri" pitchFamily="34" charset="-120"/>
              </a:rPr>
              <a:t>Find the card</a:t>
            </a:r>
            <a:endParaRPr lang="en-US" sz="1500" dirty="0"/>
          </a:p>
        </p:txBody>
      </p:sp>
      <p:sp>
        <p:nvSpPr>
          <p:cNvPr id="14" name="Text 12"/>
          <p:cNvSpPr txBox="1"/>
          <p:nvPr/>
        </p:nvSpPr>
        <p:spPr>
          <a:xfrm>
            <a:off x="2816352" y="2880360"/>
            <a:ext cx="1920240" cy="548640"/>
          </a:xfrm>
          <a:prstGeom prst="rect">
            <a:avLst/>
          </a:prstGeom>
          <a:noFill/>
          <a:ln/>
        </p:spPr>
        <p:txBody>
          <a:bodyPr wrap="square" lIns="0" tIns="0" rIns="0" bIns="0" rtlCol="0" anchor="t"/>
          <a:lstStyle/>
          <a:p>
            <a:pPr algn="ctr" indent="0" marL="0">
              <a:buNone/>
            </a:pPr>
            <a:r>
              <a:rPr lang="en-US" sz="1250" dirty="0">
                <a:solidFill>
                  <a:srgbClr val="5B6B7A"/>
                </a:solidFill>
                <a:latin typeface="Calibri" pitchFamily="34" charset="0"/>
                <a:ea typeface="Calibri" pitchFamily="34" charset="-122"/>
                <a:cs typeface="Calibri" pitchFamily="34" charset="-120"/>
              </a:rPr>
              <a:t>Picks it automatically only if there is exactly one</a:t>
            </a:r>
            <a:endParaRPr lang="en-US" sz="1250" dirty="0"/>
          </a:p>
        </p:txBody>
      </p:sp>
      <p:sp>
        <p:nvSpPr>
          <p:cNvPr id="15" name="Shape 13"/>
          <p:cNvSpPr/>
          <p:nvPr/>
        </p:nvSpPr>
        <p:spPr>
          <a:xfrm>
            <a:off x="5586984" y="1508760"/>
            <a:ext cx="914400" cy="914400"/>
          </a:xfrm>
          <a:prstGeom prst="ellipse">
            <a:avLst/>
          </a:prstGeom>
          <a:solidFill>
            <a:srgbClr val="14314F"/>
          </a:solidFill>
          <a:ln w="12700">
            <a:solidFill>
              <a:srgbClr val="14314F"/>
            </a:solidFill>
            <a:prstDash val="solid"/>
          </a:ln>
        </p:spPr>
      </p:sp>
      <p:sp>
        <p:nvSpPr>
          <p:cNvPr id="16" name="Text 14"/>
          <p:cNvSpPr txBox="1"/>
          <p:nvPr/>
        </p:nvSpPr>
        <p:spPr>
          <a:xfrm>
            <a:off x="5586984" y="150876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17" name="Text 15"/>
          <p:cNvSpPr txBox="1"/>
          <p:nvPr/>
        </p:nvSpPr>
        <p:spPr>
          <a:xfrm>
            <a:off x="6684264" y="1737360"/>
            <a:ext cx="548640" cy="457200"/>
          </a:xfrm>
          <a:prstGeom prst="rect">
            <a:avLst/>
          </a:prstGeom>
          <a:noFill/>
          <a:ln/>
        </p:spPr>
        <p:txBody>
          <a:bodyPr wrap="square" lIns="0" tIns="0" rIns="0" bIns="0" rtlCol="0" anchor="ctr"/>
          <a:lstStyle/>
          <a:p>
            <a:pPr algn="ctr" indent="0" marL="0">
              <a:buNone/>
            </a:pPr>
            <a:r>
              <a:rPr lang="en-US" sz="2400" dirty="0">
                <a:solidFill>
                  <a:srgbClr val="7E8D9B"/>
                </a:solidFill>
                <a:latin typeface="Calibri" pitchFamily="34" charset="0"/>
                <a:ea typeface="Calibri" pitchFamily="34" charset="-122"/>
                <a:cs typeface="Calibri" pitchFamily="34" charset="-120"/>
              </a:rPr>
              <a:t>→</a:t>
            </a:r>
            <a:endParaRPr lang="en-US" sz="2400" dirty="0"/>
          </a:p>
        </p:txBody>
      </p:sp>
      <p:sp>
        <p:nvSpPr>
          <p:cNvPr id="18" name="Text 16"/>
          <p:cNvSpPr txBox="1"/>
          <p:nvPr/>
        </p:nvSpPr>
        <p:spPr>
          <a:xfrm>
            <a:off x="5084064" y="2560320"/>
            <a:ext cx="1920240" cy="320040"/>
          </a:xfrm>
          <a:prstGeom prst="rect">
            <a:avLst/>
          </a:prstGeom>
          <a:noFill/>
          <a:ln/>
        </p:spPr>
        <p:txBody>
          <a:bodyPr wrap="square" lIns="0" tIns="0" rIns="0" bIns="0" rtlCol="0" anchor="t"/>
          <a:lstStyle/>
          <a:p>
            <a:pPr algn="ctr" indent="0" marL="0">
              <a:buNone/>
            </a:pPr>
            <a:r>
              <a:rPr lang="en-US" sz="1500" b="1" dirty="0">
                <a:solidFill>
                  <a:srgbClr val="14314F"/>
                </a:solidFill>
                <a:latin typeface="Calibri" pitchFamily="34" charset="0"/>
                <a:ea typeface="Calibri" pitchFamily="34" charset="-122"/>
                <a:cs typeface="Calibri" pitchFamily="34" charset="-120"/>
              </a:rPr>
              <a:t>Fill the gaps</a:t>
            </a:r>
            <a:endParaRPr lang="en-US" sz="1500" dirty="0"/>
          </a:p>
        </p:txBody>
      </p:sp>
      <p:sp>
        <p:nvSpPr>
          <p:cNvPr id="19" name="Text 17"/>
          <p:cNvSpPr txBox="1"/>
          <p:nvPr/>
        </p:nvSpPr>
        <p:spPr>
          <a:xfrm>
            <a:off x="5084064" y="2880360"/>
            <a:ext cx="1920240" cy="548640"/>
          </a:xfrm>
          <a:prstGeom prst="rect">
            <a:avLst/>
          </a:prstGeom>
          <a:noFill/>
          <a:ln/>
        </p:spPr>
        <p:txBody>
          <a:bodyPr wrap="square" lIns="0" tIns="0" rIns="0" bIns="0" rtlCol="0" anchor="t"/>
          <a:lstStyle/>
          <a:p>
            <a:pPr algn="ctr" indent="0" marL="0">
              <a:buNone/>
            </a:pPr>
            <a:r>
              <a:rPr lang="en-US" sz="1250" dirty="0">
                <a:solidFill>
                  <a:srgbClr val="5B6B7A"/>
                </a:solidFill>
                <a:latin typeface="Calibri" pitchFamily="34" charset="0"/>
                <a:ea typeface="Calibri" pitchFamily="34" charset="-122"/>
                <a:cs typeface="Calibri" pitchFamily="34" charset="-120"/>
              </a:rPr>
              <a:t>Asks only for what is still missing</a:t>
            </a:r>
            <a:endParaRPr lang="en-US" sz="1250" dirty="0"/>
          </a:p>
        </p:txBody>
      </p:sp>
      <p:sp>
        <p:nvSpPr>
          <p:cNvPr id="20" name="Shape 18"/>
          <p:cNvSpPr/>
          <p:nvPr/>
        </p:nvSpPr>
        <p:spPr>
          <a:xfrm>
            <a:off x="7854696" y="1508760"/>
            <a:ext cx="914400" cy="914400"/>
          </a:xfrm>
          <a:prstGeom prst="ellipse">
            <a:avLst/>
          </a:prstGeom>
          <a:solidFill>
            <a:srgbClr val="C9A227"/>
          </a:solidFill>
          <a:ln w="12700">
            <a:solidFill>
              <a:srgbClr val="C9A227"/>
            </a:solidFill>
            <a:prstDash val="solid"/>
          </a:ln>
        </p:spPr>
      </p:sp>
      <p:sp>
        <p:nvSpPr>
          <p:cNvPr id="21" name="Text 19"/>
          <p:cNvSpPr txBox="1"/>
          <p:nvPr/>
        </p:nvSpPr>
        <p:spPr>
          <a:xfrm>
            <a:off x="7854696" y="150876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2" name="Text 20"/>
          <p:cNvSpPr txBox="1"/>
          <p:nvPr/>
        </p:nvSpPr>
        <p:spPr>
          <a:xfrm>
            <a:off x="8951976" y="1737360"/>
            <a:ext cx="548640" cy="457200"/>
          </a:xfrm>
          <a:prstGeom prst="rect">
            <a:avLst/>
          </a:prstGeom>
          <a:noFill/>
          <a:ln/>
        </p:spPr>
        <p:txBody>
          <a:bodyPr wrap="square" lIns="0" tIns="0" rIns="0" bIns="0" rtlCol="0" anchor="ctr"/>
          <a:lstStyle/>
          <a:p>
            <a:pPr algn="ctr" indent="0" marL="0">
              <a:buNone/>
            </a:pPr>
            <a:r>
              <a:rPr lang="en-US" sz="2400" dirty="0">
                <a:solidFill>
                  <a:srgbClr val="7E8D9B"/>
                </a:solidFill>
                <a:latin typeface="Calibri" pitchFamily="34" charset="0"/>
                <a:ea typeface="Calibri" pitchFamily="34" charset="-122"/>
                <a:cs typeface="Calibri" pitchFamily="34" charset="-120"/>
              </a:rPr>
              <a:t>→</a:t>
            </a:r>
            <a:endParaRPr lang="en-US" sz="2400" dirty="0"/>
          </a:p>
        </p:txBody>
      </p:sp>
      <p:sp>
        <p:nvSpPr>
          <p:cNvPr id="23" name="Text 21"/>
          <p:cNvSpPr txBox="1"/>
          <p:nvPr/>
        </p:nvSpPr>
        <p:spPr>
          <a:xfrm>
            <a:off x="7351776" y="2560320"/>
            <a:ext cx="1920240" cy="320040"/>
          </a:xfrm>
          <a:prstGeom prst="rect">
            <a:avLst/>
          </a:prstGeom>
          <a:noFill/>
          <a:ln/>
        </p:spPr>
        <p:txBody>
          <a:bodyPr wrap="square" lIns="0" tIns="0" rIns="0" bIns="0" rtlCol="0" anchor="t"/>
          <a:lstStyle/>
          <a:p>
            <a:pPr algn="ctr" indent="0" marL="0">
              <a:buNone/>
            </a:pPr>
            <a:r>
              <a:rPr lang="en-US" sz="1500" b="1" dirty="0">
                <a:solidFill>
                  <a:srgbClr val="14314F"/>
                </a:solidFill>
                <a:latin typeface="Calibri" pitchFamily="34" charset="0"/>
                <a:ea typeface="Calibri" pitchFamily="34" charset="-122"/>
                <a:cs typeface="Calibri" pitchFamily="34" charset="-120"/>
              </a:rPr>
              <a:t>Restate and wait</a:t>
            </a:r>
            <a:endParaRPr lang="en-US" sz="1500" dirty="0"/>
          </a:p>
        </p:txBody>
      </p:sp>
      <p:sp>
        <p:nvSpPr>
          <p:cNvPr id="24" name="Text 22"/>
          <p:cNvSpPr txBox="1"/>
          <p:nvPr/>
        </p:nvSpPr>
        <p:spPr>
          <a:xfrm>
            <a:off x="7351776" y="2880360"/>
            <a:ext cx="1920240" cy="548640"/>
          </a:xfrm>
          <a:prstGeom prst="rect">
            <a:avLst/>
          </a:prstGeom>
          <a:noFill/>
          <a:ln/>
        </p:spPr>
        <p:txBody>
          <a:bodyPr wrap="square" lIns="0" tIns="0" rIns="0" bIns="0" rtlCol="0" anchor="t"/>
          <a:lstStyle/>
          <a:p>
            <a:pPr algn="ctr" indent="0" marL="0">
              <a:buNone/>
            </a:pPr>
            <a:r>
              <a:rPr lang="en-US" sz="1250" dirty="0">
                <a:solidFill>
                  <a:srgbClr val="5B6B7A"/>
                </a:solidFill>
                <a:latin typeface="Calibri" pitchFamily="34" charset="0"/>
                <a:ea typeface="Calibri" pitchFamily="34" charset="-122"/>
                <a:cs typeface="Calibri" pitchFamily="34" charset="-120"/>
              </a:rPr>
              <a:t>One line, then a Confirm button</a:t>
            </a:r>
            <a:endParaRPr lang="en-US" sz="1250" dirty="0"/>
          </a:p>
        </p:txBody>
      </p:sp>
      <p:sp>
        <p:nvSpPr>
          <p:cNvPr id="25" name="Shape 23"/>
          <p:cNvSpPr/>
          <p:nvPr/>
        </p:nvSpPr>
        <p:spPr>
          <a:xfrm>
            <a:off x="10122408" y="1508760"/>
            <a:ext cx="914400" cy="914400"/>
          </a:xfrm>
          <a:prstGeom prst="ellipse">
            <a:avLst/>
          </a:prstGeom>
          <a:solidFill>
            <a:srgbClr val="2E7D5B"/>
          </a:solidFill>
          <a:ln w="12700">
            <a:solidFill>
              <a:srgbClr val="2E7D5B"/>
            </a:solidFill>
            <a:prstDash val="solid"/>
          </a:ln>
        </p:spPr>
      </p:sp>
      <p:sp>
        <p:nvSpPr>
          <p:cNvPr id="26" name="Text 24"/>
          <p:cNvSpPr txBox="1"/>
          <p:nvPr/>
        </p:nvSpPr>
        <p:spPr>
          <a:xfrm>
            <a:off x="10122408" y="150876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5"/>
          <p:cNvSpPr txBox="1"/>
          <p:nvPr/>
        </p:nvSpPr>
        <p:spPr>
          <a:xfrm>
            <a:off x="9619488" y="2560320"/>
            <a:ext cx="1920240" cy="320040"/>
          </a:xfrm>
          <a:prstGeom prst="rect">
            <a:avLst/>
          </a:prstGeom>
          <a:noFill/>
          <a:ln/>
        </p:spPr>
        <p:txBody>
          <a:bodyPr wrap="square" lIns="0" tIns="0" rIns="0" bIns="0" rtlCol="0" anchor="t"/>
          <a:lstStyle/>
          <a:p>
            <a:pPr algn="ctr" indent="0" marL="0">
              <a:buNone/>
            </a:pPr>
            <a:r>
              <a:rPr lang="en-US" sz="1500" b="1" dirty="0">
                <a:solidFill>
                  <a:srgbClr val="14314F"/>
                </a:solidFill>
                <a:latin typeface="Calibri" pitchFamily="34" charset="0"/>
                <a:ea typeface="Calibri" pitchFamily="34" charset="-122"/>
                <a:cs typeface="Calibri" pitchFamily="34" charset="-120"/>
              </a:rPr>
              <a:t>Act and report</a:t>
            </a:r>
            <a:endParaRPr lang="en-US" sz="1500" dirty="0"/>
          </a:p>
        </p:txBody>
      </p:sp>
      <p:sp>
        <p:nvSpPr>
          <p:cNvPr id="28" name="Text 26"/>
          <p:cNvSpPr txBox="1"/>
          <p:nvPr/>
        </p:nvSpPr>
        <p:spPr>
          <a:xfrm>
            <a:off x="9619488" y="2880360"/>
            <a:ext cx="1920240" cy="548640"/>
          </a:xfrm>
          <a:prstGeom prst="rect">
            <a:avLst/>
          </a:prstGeom>
          <a:noFill/>
          <a:ln/>
        </p:spPr>
        <p:txBody>
          <a:bodyPr wrap="square" lIns="0" tIns="0" rIns="0" bIns="0" rtlCol="0" anchor="t"/>
          <a:lstStyle/>
          <a:p>
            <a:pPr algn="ctr" indent="0" marL="0">
              <a:buNone/>
            </a:pPr>
            <a:r>
              <a:rPr lang="en-US" sz="1250" dirty="0">
                <a:solidFill>
                  <a:srgbClr val="5B6B7A"/>
                </a:solidFill>
                <a:latin typeface="Calibri" pitchFamily="34" charset="0"/>
                <a:ea typeface="Calibri" pitchFamily="34" charset="-122"/>
                <a:cs typeface="Calibri" pitchFamily="34" charset="-120"/>
              </a:rPr>
              <a:t>One sentence back, and an audit record</a:t>
            </a:r>
            <a:endParaRPr lang="en-US" sz="1250" dirty="0"/>
          </a:p>
        </p:txBody>
      </p:sp>
      <p:sp>
        <p:nvSpPr>
          <p:cNvPr id="29" name="Text 27"/>
          <p:cNvSpPr txBox="1"/>
          <p:nvPr/>
        </p:nvSpPr>
        <p:spPr>
          <a:xfrm>
            <a:off x="548640" y="3703320"/>
            <a:ext cx="7315200" cy="274320"/>
          </a:xfrm>
          <a:prstGeom prst="rect">
            <a:avLst/>
          </a:prstGeom>
          <a:noFill/>
          <a:ln/>
        </p:spPr>
        <p:txBody>
          <a:bodyPr wrap="square" lIns="0" tIns="0" rIns="0" bIns="0" rtlCol="0" anchor="t"/>
          <a:lstStyle/>
          <a:p>
            <a:pPr indent="0" marL="0">
              <a:buNone/>
            </a:pPr>
            <a:r>
              <a:rPr lang="en-US" sz="1100" b="1" spc="150" kern="0" dirty="0">
                <a:solidFill>
                  <a:srgbClr val="A5851F"/>
                </a:solidFill>
                <a:latin typeface="Calibri" pitchFamily="34" charset="0"/>
                <a:ea typeface="Calibri" pitchFamily="34" charset="-122"/>
                <a:cs typeface="Calibri" pitchFamily="34" charset="-120"/>
              </a:rPr>
              <a:t>WHEN IT ASKS INSTEAD OF GUESSING</a:t>
            </a:r>
            <a:endParaRPr lang="en-US" sz="1100" dirty="0"/>
          </a:p>
        </p:txBody>
      </p:sp>
      <p:sp>
        <p:nvSpPr>
          <p:cNvPr id="30" name="Shape 28"/>
          <p:cNvSpPr/>
          <p:nvPr/>
        </p:nvSpPr>
        <p:spPr>
          <a:xfrm>
            <a:off x="548640" y="4069080"/>
            <a:ext cx="2633472" cy="1783080"/>
          </a:xfrm>
          <a:prstGeom prst="roundRect">
            <a:avLst>
              <a:gd name="adj" fmla="val 5128"/>
            </a:avLst>
          </a:prstGeom>
          <a:solidFill>
            <a:srgbClr val="FDF8E8"/>
          </a:solidFill>
          <a:ln w="12700">
            <a:solidFill>
              <a:srgbClr val="E0D3A8"/>
            </a:solidFill>
            <a:prstDash val="solid"/>
          </a:ln>
        </p:spPr>
      </p:sp>
      <p:sp>
        <p:nvSpPr>
          <p:cNvPr id="31" name="Shape 29"/>
          <p:cNvSpPr/>
          <p:nvPr/>
        </p:nvSpPr>
        <p:spPr>
          <a:xfrm>
            <a:off x="749808" y="4270248"/>
            <a:ext cx="457200" cy="457200"/>
          </a:xfrm>
          <a:prstGeom prst="ellipse">
            <a:avLst/>
          </a:prstGeom>
          <a:solidFill>
            <a:srgbClr val="FFFFFF"/>
          </a:solidFill>
          <a:ln w="12700">
            <a:solidFill>
              <a:srgbClr val="E0D3A8"/>
            </a:solidFill>
            <a:prstDash val="solid"/>
          </a:ln>
        </p:spPr>
      </p:sp>
      <p:pic>
        <p:nvPicPr>
          <p:cNvPr id="32" name="Image 0" descr="preencoded.png">    </p:cNvPr>
          <p:cNvPicPr>
            <a:picLocks noChangeAspect="1"/>
          </p:cNvPicPr>
          <p:nvPr/>
        </p:nvPicPr>
        <p:blipFill>
          <a:blip r:embed="rId1"/>
          <a:stretch>
            <a:fillRect/>
          </a:stretch>
        </p:blipFill>
        <p:spPr>
          <a:xfrm>
            <a:off x="859536" y="4379976"/>
            <a:ext cx="237744" cy="237744"/>
          </a:xfrm>
          <a:prstGeom prst="rect">
            <a:avLst/>
          </a:prstGeom>
        </p:spPr>
      </p:pic>
      <p:sp>
        <p:nvSpPr>
          <p:cNvPr id="33" name="Text 30"/>
          <p:cNvSpPr txBox="1"/>
          <p:nvPr/>
        </p:nvSpPr>
        <p:spPr>
          <a:xfrm>
            <a:off x="749808" y="4873752"/>
            <a:ext cx="2231136" cy="292608"/>
          </a:xfrm>
          <a:prstGeom prst="rect">
            <a:avLst/>
          </a:prstGeom>
          <a:noFill/>
          <a:ln/>
        </p:spPr>
        <p:txBody>
          <a:bodyPr wrap="square" lIns="0" tIns="0" rIns="0" bIns="0" rtlCol="0" anchor="t"/>
          <a:lstStyle/>
          <a:p>
            <a:pPr indent="0" marL="0">
              <a:buNone/>
            </a:pPr>
            <a:r>
              <a:rPr lang="en-US" sz="1400" b="1" dirty="0">
                <a:solidFill>
                  <a:srgbClr val="14314F"/>
                </a:solidFill>
                <a:latin typeface="Calibri" pitchFamily="34" charset="0"/>
                <a:ea typeface="Calibri" pitchFamily="34" charset="-122"/>
                <a:cs typeface="Calibri" pitchFamily="34" charset="-120"/>
              </a:rPr>
              <a:t>Two clients share a name</a:t>
            </a:r>
            <a:endParaRPr lang="en-US" sz="1400" dirty="0"/>
          </a:p>
        </p:txBody>
      </p:sp>
      <p:sp>
        <p:nvSpPr>
          <p:cNvPr id="34" name="Text 31"/>
          <p:cNvSpPr txBox="1"/>
          <p:nvPr/>
        </p:nvSpPr>
        <p:spPr>
          <a:xfrm>
            <a:off x="749808" y="5202936"/>
            <a:ext cx="2231136" cy="777240"/>
          </a:xfrm>
          <a:prstGeom prst="rect">
            <a:avLst/>
          </a:prstGeom>
          <a:noFill/>
          <a:ln/>
        </p:spPr>
        <p:txBody>
          <a:bodyPr wrap="square" lIns="0" tIns="0" rIns="0" bIns="0" rtlCol="0" anchor="t"/>
          <a:lstStyle/>
          <a:p>
            <a:pPr indent="0" marL="0">
              <a:buNone/>
            </a:pPr>
            <a:r>
              <a:rPr lang="en-US" sz="1250" i="1" dirty="0">
                <a:solidFill>
                  <a:srgbClr val="3C4C5A"/>
                </a:solidFill>
                <a:latin typeface="Calibri" pitchFamily="34" charset="0"/>
                <a:ea typeface="Calibri" pitchFamily="34" charset="-122"/>
                <a:cs typeface="Calibri" pitchFamily="34" charset="-120"/>
              </a:rPr>
              <a:t>“Sarah Chen, account ...4409, or Sarah M. Chen, ...4410?”</a:t>
            </a:r>
            <a:endParaRPr lang="en-US" sz="1250" dirty="0"/>
          </a:p>
        </p:txBody>
      </p:sp>
      <p:sp>
        <p:nvSpPr>
          <p:cNvPr id="35" name="Shape 32"/>
          <p:cNvSpPr/>
          <p:nvPr/>
        </p:nvSpPr>
        <p:spPr>
          <a:xfrm>
            <a:off x="3346704" y="4069080"/>
            <a:ext cx="2633472" cy="1783080"/>
          </a:xfrm>
          <a:prstGeom prst="roundRect">
            <a:avLst>
              <a:gd name="adj" fmla="val 5128"/>
            </a:avLst>
          </a:prstGeom>
          <a:solidFill>
            <a:srgbClr val="FDF8E8"/>
          </a:solidFill>
          <a:ln w="12700">
            <a:solidFill>
              <a:srgbClr val="E0D3A8"/>
            </a:solidFill>
            <a:prstDash val="solid"/>
          </a:ln>
        </p:spPr>
      </p:sp>
      <p:sp>
        <p:nvSpPr>
          <p:cNvPr id="36" name="Shape 33"/>
          <p:cNvSpPr/>
          <p:nvPr/>
        </p:nvSpPr>
        <p:spPr>
          <a:xfrm>
            <a:off x="3547872" y="4270248"/>
            <a:ext cx="457200" cy="457200"/>
          </a:xfrm>
          <a:prstGeom prst="ellipse">
            <a:avLst/>
          </a:prstGeom>
          <a:solidFill>
            <a:srgbClr val="FFFFFF"/>
          </a:solidFill>
          <a:ln w="12700">
            <a:solidFill>
              <a:srgbClr val="E0D3A8"/>
            </a:solidFill>
            <a:prstDash val="solid"/>
          </a:ln>
        </p:spPr>
      </p:sp>
      <p:pic>
        <p:nvPicPr>
          <p:cNvPr id="37" name="Image 1" descr="preencoded.png">    </p:cNvPr>
          <p:cNvPicPr>
            <a:picLocks noChangeAspect="1"/>
          </p:cNvPicPr>
          <p:nvPr/>
        </p:nvPicPr>
        <p:blipFill>
          <a:blip r:embed="rId2"/>
          <a:stretch>
            <a:fillRect/>
          </a:stretch>
        </p:blipFill>
        <p:spPr>
          <a:xfrm>
            <a:off x="3657600" y="4379976"/>
            <a:ext cx="237744" cy="237744"/>
          </a:xfrm>
          <a:prstGeom prst="rect">
            <a:avLst/>
          </a:prstGeom>
        </p:spPr>
      </p:pic>
      <p:sp>
        <p:nvSpPr>
          <p:cNvPr id="38" name="Text 34"/>
          <p:cNvSpPr txBox="1"/>
          <p:nvPr/>
        </p:nvSpPr>
        <p:spPr>
          <a:xfrm>
            <a:off x="3547872" y="4873752"/>
            <a:ext cx="2231136" cy="292608"/>
          </a:xfrm>
          <a:prstGeom prst="rect">
            <a:avLst/>
          </a:prstGeom>
          <a:noFill/>
          <a:ln/>
        </p:spPr>
        <p:txBody>
          <a:bodyPr wrap="square" lIns="0" tIns="0" rIns="0" bIns="0" rtlCol="0" anchor="t"/>
          <a:lstStyle/>
          <a:p>
            <a:pPr indent="0" marL="0">
              <a:buNone/>
            </a:pPr>
            <a:r>
              <a:rPr lang="en-US" sz="1400" b="1" dirty="0">
                <a:solidFill>
                  <a:srgbClr val="14314F"/>
                </a:solidFill>
                <a:latin typeface="Calibri" pitchFamily="34" charset="0"/>
                <a:ea typeface="Calibri" pitchFamily="34" charset="-122"/>
                <a:cs typeface="Calibri" pitchFamily="34" charset="-120"/>
              </a:rPr>
              <a:t>The client has two cards</a:t>
            </a:r>
            <a:endParaRPr lang="en-US" sz="1400" dirty="0"/>
          </a:p>
        </p:txBody>
      </p:sp>
      <p:sp>
        <p:nvSpPr>
          <p:cNvPr id="39" name="Text 35"/>
          <p:cNvSpPr txBox="1"/>
          <p:nvPr/>
        </p:nvSpPr>
        <p:spPr>
          <a:xfrm>
            <a:off x="3547872" y="5202936"/>
            <a:ext cx="2231136" cy="777240"/>
          </a:xfrm>
          <a:prstGeom prst="rect">
            <a:avLst/>
          </a:prstGeom>
          <a:noFill/>
          <a:ln/>
        </p:spPr>
        <p:txBody>
          <a:bodyPr wrap="square" lIns="0" tIns="0" rIns="0" bIns="0" rtlCol="0" anchor="t"/>
          <a:lstStyle/>
          <a:p>
            <a:pPr indent="0" marL="0">
              <a:buNone/>
            </a:pPr>
            <a:r>
              <a:rPr lang="en-US" sz="1250" i="1" dirty="0">
                <a:solidFill>
                  <a:srgbClr val="3C4C5A"/>
                </a:solidFill>
                <a:latin typeface="Calibri" pitchFamily="34" charset="0"/>
                <a:ea typeface="Calibri" pitchFamily="34" charset="-122"/>
                <a:cs typeface="Calibri" pitchFamily="34" charset="-120"/>
              </a:rPr>
              <a:t>“The card ending 2201 or 2202?”</a:t>
            </a:r>
            <a:endParaRPr lang="en-US" sz="1250" dirty="0"/>
          </a:p>
        </p:txBody>
      </p:sp>
      <p:sp>
        <p:nvSpPr>
          <p:cNvPr id="40" name="Shape 36"/>
          <p:cNvSpPr/>
          <p:nvPr/>
        </p:nvSpPr>
        <p:spPr>
          <a:xfrm>
            <a:off x="6144768" y="4069080"/>
            <a:ext cx="2633472" cy="1783080"/>
          </a:xfrm>
          <a:prstGeom prst="roundRect">
            <a:avLst>
              <a:gd name="adj" fmla="val 5128"/>
            </a:avLst>
          </a:prstGeom>
          <a:solidFill>
            <a:srgbClr val="FDF8E8"/>
          </a:solidFill>
          <a:ln w="12700">
            <a:solidFill>
              <a:srgbClr val="E0D3A8"/>
            </a:solidFill>
            <a:prstDash val="solid"/>
          </a:ln>
        </p:spPr>
      </p:sp>
      <p:sp>
        <p:nvSpPr>
          <p:cNvPr id="41" name="Shape 37"/>
          <p:cNvSpPr/>
          <p:nvPr/>
        </p:nvSpPr>
        <p:spPr>
          <a:xfrm>
            <a:off x="6345936" y="4270248"/>
            <a:ext cx="457200" cy="457200"/>
          </a:xfrm>
          <a:prstGeom prst="ellipse">
            <a:avLst/>
          </a:prstGeom>
          <a:solidFill>
            <a:srgbClr val="FFFFFF"/>
          </a:solidFill>
          <a:ln w="12700">
            <a:solidFill>
              <a:srgbClr val="E0D3A8"/>
            </a:solidFill>
            <a:prstDash val="solid"/>
          </a:ln>
        </p:spPr>
      </p:sp>
      <p:pic>
        <p:nvPicPr>
          <p:cNvPr id="42" name="Image 2" descr="preencoded.png">    </p:cNvPr>
          <p:cNvPicPr>
            <a:picLocks noChangeAspect="1"/>
          </p:cNvPicPr>
          <p:nvPr/>
        </p:nvPicPr>
        <p:blipFill>
          <a:blip r:embed="rId3"/>
          <a:stretch>
            <a:fillRect/>
          </a:stretch>
        </p:blipFill>
        <p:spPr>
          <a:xfrm>
            <a:off x="6455664" y="4379976"/>
            <a:ext cx="237744" cy="237744"/>
          </a:xfrm>
          <a:prstGeom prst="rect">
            <a:avLst/>
          </a:prstGeom>
        </p:spPr>
      </p:pic>
      <p:sp>
        <p:nvSpPr>
          <p:cNvPr id="43" name="Text 38"/>
          <p:cNvSpPr txBox="1"/>
          <p:nvPr/>
        </p:nvSpPr>
        <p:spPr>
          <a:xfrm>
            <a:off x="6345936" y="4873752"/>
            <a:ext cx="2231136" cy="292608"/>
          </a:xfrm>
          <a:prstGeom prst="rect">
            <a:avLst/>
          </a:prstGeom>
          <a:noFill/>
          <a:ln/>
        </p:spPr>
        <p:txBody>
          <a:bodyPr wrap="square" lIns="0" tIns="0" rIns="0" bIns="0" rtlCol="0" anchor="t"/>
          <a:lstStyle/>
          <a:p>
            <a:pPr indent="0" marL="0">
              <a:buNone/>
            </a:pPr>
            <a:r>
              <a:rPr lang="en-US" sz="1400" b="1" dirty="0">
                <a:solidFill>
                  <a:srgbClr val="14314F"/>
                </a:solidFill>
                <a:latin typeface="Calibri" pitchFamily="34" charset="0"/>
                <a:ea typeface="Calibri" pitchFamily="34" charset="-122"/>
                <a:cs typeface="Calibri" pitchFamily="34" charset="-120"/>
              </a:rPr>
              <a:t>The wording is vague</a:t>
            </a:r>
            <a:endParaRPr lang="en-US" sz="1400" dirty="0"/>
          </a:p>
        </p:txBody>
      </p:sp>
      <p:sp>
        <p:nvSpPr>
          <p:cNvPr id="44" name="Text 39"/>
          <p:cNvSpPr txBox="1"/>
          <p:nvPr/>
        </p:nvSpPr>
        <p:spPr>
          <a:xfrm>
            <a:off x="6345936" y="5202936"/>
            <a:ext cx="2231136" cy="777240"/>
          </a:xfrm>
          <a:prstGeom prst="rect">
            <a:avLst/>
          </a:prstGeom>
          <a:noFill/>
          <a:ln/>
        </p:spPr>
        <p:txBody>
          <a:bodyPr wrap="square" lIns="0" tIns="0" rIns="0" bIns="0" rtlCol="0" anchor="t"/>
          <a:lstStyle/>
          <a:p>
            <a:pPr indent="0" marL="0">
              <a:buNone/>
            </a:pPr>
            <a:r>
              <a:rPr lang="en-US" sz="1250" i="1" dirty="0">
                <a:solidFill>
                  <a:srgbClr val="3C4C5A"/>
                </a:solidFill>
                <a:latin typeface="Calibri" pitchFamily="34" charset="0"/>
                <a:ea typeface="Calibri" pitchFamily="34" charset="-122"/>
                <a:cs typeface="Calibri" pitchFamily="34" charset="-120"/>
              </a:rPr>
              <a:t>“Cancel her card” → lock it, or close it for good?</a:t>
            </a:r>
            <a:endParaRPr lang="en-US" sz="1250" dirty="0"/>
          </a:p>
        </p:txBody>
      </p:sp>
      <p:sp>
        <p:nvSpPr>
          <p:cNvPr id="45" name="Shape 40"/>
          <p:cNvSpPr/>
          <p:nvPr/>
        </p:nvSpPr>
        <p:spPr>
          <a:xfrm>
            <a:off x="8942832" y="4069080"/>
            <a:ext cx="2633472" cy="1783080"/>
          </a:xfrm>
          <a:prstGeom prst="roundRect">
            <a:avLst>
              <a:gd name="adj" fmla="val 5128"/>
            </a:avLst>
          </a:prstGeom>
          <a:solidFill>
            <a:srgbClr val="FDF8E8"/>
          </a:solidFill>
          <a:ln w="12700">
            <a:solidFill>
              <a:srgbClr val="E0D3A8"/>
            </a:solidFill>
            <a:prstDash val="solid"/>
          </a:ln>
        </p:spPr>
      </p:sp>
      <p:sp>
        <p:nvSpPr>
          <p:cNvPr id="46" name="Shape 41"/>
          <p:cNvSpPr/>
          <p:nvPr/>
        </p:nvSpPr>
        <p:spPr>
          <a:xfrm>
            <a:off x="9144000" y="4270248"/>
            <a:ext cx="457200" cy="457200"/>
          </a:xfrm>
          <a:prstGeom prst="ellipse">
            <a:avLst/>
          </a:prstGeom>
          <a:solidFill>
            <a:srgbClr val="FFFFFF"/>
          </a:solidFill>
          <a:ln w="12700">
            <a:solidFill>
              <a:srgbClr val="E0D3A8"/>
            </a:solidFill>
            <a:prstDash val="solid"/>
          </a:ln>
        </p:spPr>
      </p:sp>
      <p:pic>
        <p:nvPicPr>
          <p:cNvPr id="47" name="Image 3" descr="preencoded.png">    </p:cNvPr>
          <p:cNvPicPr>
            <a:picLocks noChangeAspect="1"/>
          </p:cNvPicPr>
          <p:nvPr/>
        </p:nvPicPr>
        <p:blipFill>
          <a:blip r:embed="rId4"/>
          <a:stretch>
            <a:fillRect/>
          </a:stretch>
        </p:blipFill>
        <p:spPr>
          <a:xfrm>
            <a:off x="9253728" y="4379976"/>
            <a:ext cx="237744" cy="237744"/>
          </a:xfrm>
          <a:prstGeom prst="rect">
            <a:avLst/>
          </a:prstGeom>
        </p:spPr>
      </p:pic>
      <p:sp>
        <p:nvSpPr>
          <p:cNvPr id="48" name="Text 42"/>
          <p:cNvSpPr txBox="1"/>
          <p:nvPr/>
        </p:nvSpPr>
        <p:spPr>
          <a:xfrm>
            <a:off x="9144000" y="4873752"/>
            <a:ext cx="2231136" cy="292608"/>
          </a:xfrm>
          <a:prstGeom prst="rect">
            <a:avLst/>
          </a:prstGeom>
          <a:noFill/>
          <a:ln/>
        </p:spPr>
        <p:txBody>
          <a:bodyPr wrap="square" lIns="0" tIns="0" rIns="0" bIns="0" rtlCol="0" anchor="t"/>
          <a:lstStyle/>
          <a:p>
            <a:pPr indent="0" marL="0">
              <a:buNone/>
            </a:pPr>
            <a:r>
              <a:rPr lang="en-US" sz="1400" b="1" dirty="0">
                <a:solidFill>
                  <a:srgbClr val="14314F"/>
                </a:solidFill>
                <a:latin typeface="Calibri" pitchFamily="34" charset="0"/>
                <a:ea typeface="Calibri" pitchFamily="34" charset="-122"/>
                <a:cs typeface="Calibri" pitchFamily="34" charset="-120"/>
              </a:rPr>
              <a:t>A date or place is fuzzy</a:t>
            </a:r>
            <a:endParaRPr lang="en-US" sz="1400" dirty="0"/>
          </a:p>
        </p:txBody>
      </p:sp>
      <p:sp>
        <p:nvSpPr>
          <p:cNvPr id="49" name="Text 43"/>
          <p:cNvSpPr txBox="1"/>
          <p:nvPr/>
        </p:nvSpPr>
        <p:spPr>
          <a:xfrm>
            <a:off x="9144000" y="5202936"/>
            <a:ext cx="2231136" cy="777240"/>
          </a:xfrm>
          <a:prstGeom prst="rect">
            <a:avLst/>
          </a:prstGeom>
          <a:noFill/>
          <a:ln/>
        </p:spPr>
        <p:txBody>
          <a:bodyPr wrap="square" lIns="0" tIns="0" rIns="0" bIns="0" rtlCol="0" anchor="t"/>
          <a:lstStyle/>
          <a:p>
            <a:pPr indent="0" marL="0">
              <a:buNone/>
            </a:pPr>
            <a:r>
              <a:rPr lang="en-US" sz="1250" i="1" dirty="0">
                <a:solidFill>
                  <a:srgbClr val="3C4C5A"/>
                </a:solidFill>
                <a:latin typeface="Calibri" pitchFamily="34" charset="0"/>
                <a:ea typeface="Calibri" pitchFamily="34" charset="-122"/>
                <a:cs typeface="Calibri" pitchFamily="34" charset="-120"/>
              </a:rPr>
              <a:t>“Next month” → “1 to 15 November, correct?”</a:t>
            </a:r>
            <a:endParaRPr lang="en-US" sz="125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Lock card</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Freeze a card for now: the client misplaced it, or wants to pause spending.</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The advisor can click an option or just type “2”, “2202” or “the one ending 2202”. All three work, and anything unclear is asked again.</a:t>
            </a:r>
            <a:endParaRPr lang="en-US" sz="1100" dirty="0"/>
          </a:p>
        </p:txBody>
      </p:sp>
      <p:sp>
        <p:nvSpPr>
          <p:cNvPr id="5" name="Shape 3"/>
          <p:cNvSpPr/>
          <p:nvPr/>
        </p:nvSpPr>
        <p:spPr>
          <a:xfrm>
            <a:off x="10344912" y="420624"/>
            <a:ext cx="1295400" cy="365760"/>
          </a:xfrm>
          <a:prstGeom prst="roundRect">
            <a:avLst>
              <a:gd name="adj" fmla="val 50000"/>
            </a:avLst>
          </a:prstGeom>
          <a:solidFill>
            <a:srgbClr val="EEF4F2"/>
          </a:solidFill>
          <a:ln w="15875">
            <a:solidFill>
              <a:srgbClr val="2E7D5B"/>
            </a:solidFill>
            <a:prstDash val="solid"/>
          </a:ln>
        </p:spPr>
      </p:sp>
      <p:sp>
        <p:nvSpPr>
          <p:cNvPr id="6" name="Text 4"/>
          <p:cNvSpPr txBox="1"/>
          <p:nvPr/>
        </p:nvSpPr>
        <p:spPr>
          <a:xfrm>
            <a:off x="10344912" y="420624"/>
            <a:ext cx="1295400" cy="365760"/>
          </a:xfrm>
          <a:prstGeom prst="rect">
            <a:avLst/>
          </a:prstGeom>
          <a:noFill/>
          <a:ln/>
        </p:spPr>
        <p:txBody>
          <a:bodyPr wrap="square" lIns="0" tIns="0" rIns="0" bIns="0" rtlCol="0" anchor="ctr"/>
          <a:lstStyle/>
          <a:p>
            <a:pPr algn="ctr" indent="0" marL="0">
              <a:buNone/>
            </a:pPr>
            <a:r>
              <a:rPr lang="en-US" sz="1200" b="1" dirty="0">
                <a:solidFill>
                  <a:srgbClr val="2E7D5B"/>
                </a:solidFill>
                <a:latin typeface="Calibri" pitchFamily="34" charset="0"/>
                <a:ea typeface="Calibri" pitchFamily="34" charset="-122"/>
                <a:cs typeface="Calibri" pitchFamily="34" charset="-120"/>
              </a:rPr>
              <a:t>Reversible</a:t>
            </a:r>
            <a:endParaRPr lang="en-US" sz="1200" dirty="0"/>
          </a:p>
        </p:txBody>
      </p:sp>
      <p:sp>
        <p:nvSpPr>
          <p:cNvPr id="7" name="icon circle WHAT IT DOES"/>
          <p:cNvSpPr/>
          <p:nvPr/>
        </p:nvSpPr>
        <p:spPr>
          <a:xfrm>
            <a:off x="548640" y="1463040"/>
            <a:ext cx="310896" cy="310896"/>
          </a:xfrm>
          <a:prstGeom prst="ellipse">
            <a:avLst/>
          </a:prstGeom>
          <a:solidFill>
            <a:srgbClr val="14314F"/>
          </a:solidFill>
          <a:ln w="12700">
            <a:solidFill>
              <a:srgbClr val="14314F"/>
            </a:solidFill>
            <a:prstDash val="solid"/>
          </a:ln>
        </p:spPr>
      </p:sp>
      <p:pic>
        <p:nvPicPr>
          <p:cNvPr id="8" name="Image 0" descr="preencoded.png">    </p:cNvPr>
          <p:cNvPicPr>
            <a:picLocks noChangeAspect="1"/>
          </p:cNvPicPr>
          <p:nvPr/>
        </p:nvPicPr>
        <p:blipFill>
          <a:blip r:embed="rId1"/>
          <a:stretch>
            <a:fillRect/>
          </a:stretch>
        </p:blipFill>
        <p:spPr>
          <a:xfrm>
            <a:off x="621792" y="1536192"/>
            <a:ext cx="164592" cy="164592"/>
          </a:xfrm>
          <a:prstGeom prst="rect">
            <a:avLst/>
          </a:prstGeom>
        </p:spPr>
      </p:pic>
      <p:sp>
        <p:nvSpPr>
          <p:cNvPr id="9" name="Text 6"/>
          <p:cNvSpPr txBox="1"/>
          <p:nvPr/>
        </p:nvSpPr>
        <p:spPr>
          <a:xfrm>
            <a:off x="969264" y="1481328"/>
            <a:ext cx="4572000" cy="274320"/>
          </a:xfrm>
          <a:prstGeom prst="rect">
            <a:avLst/>
          </a:prstGeom>
          <a:noFill/>
          <a:ln/>
        </p:spPr>
        <p:txBody>
          <a:bodyPr wrap="square" lIns="0" tIns="0" rIns="0" bIns="0" rtlCol="0" anchor="ctr"/>
          <a:lstStyle/>
          <a:p>
            <a:pPr indent="0" marL="0">
              <a:buNone/>
            </a:pPr>
            <a:r>
              <a:rPr lang="en-US" sz="1100" b="1" spc="150" kern="0" dirty="0">
                <a:solidFill>
                  <a:srgbClr val="14314F"/>
                </a:solidFill>
                <a:latin typeface="Calibri" pitchFamily="34" charset="0"/>
                <a:ea typeface="Calibri" pitchFamily="34" charset="-122"/>
                <a:cs typeface="Calibri" pitchFamily="34" charset="-120"/>
              </a:rPr>
              <a:t>WHAT IT DOES</a:t>
            </a:r>
            <a:endParaRPr lang="en-US" sz="1100" dirty="0"/>
          </a:p>
        </p:txBody>
      </p:sp>
      <p:sp>
        <p:nvSpPr>
          <p:cNvPr id="10" name="Text 7"/>
          <p:cNvSpPr txBox="1"/>
          <p:nvPr/>
        </p:nvSpPr>
        <p:spPr>
          <a:xfrm>
            <a:off x="548640" y="1847088"/>
            <a:ext cx="5440680" cy="566928"/>
          </a:xfrm>
          <a:prstGeom prst="rect">
            <a:avLst/>
          </a:prstGeom>
          <a:noFill/>
          <a:ln/>
        </p:spPr>
        <p:txBody>
          <a:bodyPr wrap="square" lIns="0" tIns="0" rIns="0" bIns="0" rtlCol="0" anchor="t"/>
          <a:lstStyle/>
          <a:p>
            <a:pPr indent="0" marL="0">
              <a:buNone/>
            </a:pPr>
            <a:r>
              <a:rPr lang="en-US" sz="1700" dirty="0">
                <a:solidFill>
                  <a:srgbClr val="14314F"/>
                </a:solidFill>
                <a:latin typeface="Cambria" pitchFamily="34" charset="0"/>
                <a:ea typeface="Cambria" pitchFamily="34" charset="-122"/>
                <a:cs typeface="Cambria" pitchFamily="34" charset="-120"/>
              </a:rPr>
              <a:t>Temporarily blocks the card. One click on Unlock undoes it.</a:t>
            </a:r>
            <a:endParaRPr lang="en-US" sz="1700" dirty="0"/>
          </a:p>
        </p:txBody>
      </p:sp>
      <p:sp>
        <p:nvSpPr>
          <p:cNvPr id="11" name="icon circle THE ADVISOR MIGHT SAY"/>
          <p:cNvSpPr/>
          <p:nvPr/>
        </p:nvSpPr>
        <p:spPr>
          <a:xfrm>
            <a:off x="548640" y="2542032"/>
            <a:ext cx="310896" cy="310896"/>
          </a:xfrm>
          <a:prstGeom prst="ellipse">
            <a:avLst/>
          </a:prstGeom>
          <a:solidFill>
            <a:srgbClr val="A5851F"/>
          </a:solidFill>
          <a:ln w="12700">
            <a:solidFill>
              <a:srgbClr val="A5851F"/>
            </a:solidFill>
            <a:prstDash val="solid"/>
          </a:ln>
        </p:spPr>
      </p:sp>
      <p:pic>
        <p:nvPicPr>
          <p:cNvPr id="12" name="Image 1" descr="preencoded.png">    </p:cNvPr>
          <p:cNvPicPr>
            <a:picLocks noChangeAspect="1"/>
          </p:cNvPicPr>
          <p:nvPr/>
        </p:nvPicPr>
        <p:blipFill>
          <a:blip r:embed="rId2"/>
          <a:stretch>
            <a:fillRect/>
          </a:stretch>
        </p:blipFill>
        <p:spPr>
          <a:xfrm>
            <a:off x="621792" y="2615184"/>
            <a:ext cx="164592" cy="164592"/>
          </a:xfrm>
          <a:prstGeom prst="rect">
            <a:avLst/>
          </a:prstGeom>
        </p:spPr>
      </p:pic>
      <p:sp>
        <p:nvSpPr>
          <p:cNvPr id="13" name="Text 9"/>
          <p:cNvSpPr txBox="1"/>
          <p:nvPr/>
        </p:nvSpPr>
        <p:spPr>
          <a:xfrm>
            <a:off x="969264" y="2560320"/>
            <a:ext cx="4572000" cy="274320"/>
          </a:xfrm>
          <a:prstGeom prst="rect">
            <a:avLst/>
          </a:prstGeom>
          <a:noFill/>
          <a:ln/>
        </p:spPr>
        <p:txBody>
          <a:bodyPr wrap="square" lIns="0" tIns="0" rIns="0" bIns="0" rtlCol="0" anchor="ctr"/>
          <a:lstStyle/>
          <a:p>
            <a:pPr indent="0" marL="0">
              <a:buNone/>
            </a:pPr>
            <a:r>
              <a:rPr lang="en-US" sz="1100" b="1" spc="150" kern="0" dirty="0">
                <a:solidFill>
                  <a:srgbClr val="A5851F"/>
                </a:solidFill>
                <a:latin typeface="Calibri" pitchFamily="34" charset="0"/>
                <a:ea typeface="Calibri" pitchFamily="34" charset="-122"/>
                <a:cs typeface="Calibri" pitchFamily="34" charset="-120"/>
              </a:rPr>
              <a:t>THE ADVISOR MIGHT SAY</a:t>
            </a:r>
            <a:endParaRPr lang="en-US" sz="1100" dirty="0"/>
          </a:p>
        </p:txBody>
      </p:sp>
      <p:sp>
        <p:nvSpPr>
          <p:cNvPr id="14" name="Shape 10"/>
          <p:cNvSpPr/>
          <p:nvPr/>
        </p:nvSpPr>
        <p:spPr>
          <a:xfrm>
            <a:off x="548640" y="2926080"/>
            <a:ext cx="806196" cy="329184"/>
          </a:xfrm>
          <a:prstGeom prst="roundRect">
            <a:avLst>
              <a:gd name="adj" fmla="val 50000"/>
            </a:avLst>
          </a:prstGeom>
          <a:solidFill>
            <a:srgbClr val="FDF8E8"/>
          </a:solidFill>
          <a:ln w="12700">
            <a:solidFill>
              <a:srgbClr val="E0D3A8"/>
            </a:solidFill>
            <a:prstDash val="solid"/>
          </a:ln>
        </p:spPr>
      </p:sp>
      <p:sp>
        <p:nvSpPr>
          <p:cNvPr id="15" name="Text 11"/>
          <p:cNvSpPr txBox="1"/>
          <p:nvPr/>
        </p:nvSpPr>
        <p:spPr>
          <a:xfrm>
            <a:off x="548640" y="2926080"/>
            <a:ext cx="80619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“lock”</a:t>
            </a:r>
            <a:endParaRPr lang="en-US" sz="1250" dirty="0"/>
          </a:p>
        </p:txBody>
      </p:sp>
      <p:sp>
        <p:nvSpPr>
          <p:cNvPr id="16" name="Shape 12"/>
          <p:cNvSpPr/>
          <p:nvPr/>
        </p:nvSpPr>
        <p:spPr>
          <a:xfrm>
            <a:off x="1464564" y="2926080"/>
            <a:ext cx="971296" cy="329184"/>
          </a:xfrm>
          <a:prstGeom prst="roundRect">
            <a:avLst>
              <a:gd name="adj" fmla="val 50000"/>
            </a:avLst>
          </a:prstGeom>
          <a:solidFill>
            <a:srgbClr val="FDF8E8"/>
          </a:solidFill>
          <a:ln w="12700">
            <a:solidFill>
              <a:srgbClr val="E0D3A8"/>
            </a:solidFill>
            <a:prstDash val="solid"/>
          </a:ln>
        </p:spPr>
      </p:sp>
      <p:sp>
        <p:nvSpPr>
          <p:cNvPr id="17" name="Text 13"/>
          <p:cNvSpPr txBox="1"/>
          <p:nvPr/>
        </p:nvSpPr>
        <p:spPr>
          <a:xfrm>
            <a:off x="1464564" y="2926080"/>
            <a:ext cx="97129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“freeze”</a:t>
            </a:r>
            <a:endParaRPr lang="en-US" sz="1250" dirty="0"/>
          </a:p>
        </p:txBody>
      </p:sp>
      <p:sp>
        <p:nvSpPr>
          <p:cNvPr id="18" name="Shape 14"/>
          <p:cNvSpPr/>
          <p:nvPr/>
        </p:nvSpPr>
        <p:spPr>
          <a:xfrm>
            <a:off x="2545588" y="2926080"/>
            <a:ext cx="1631696" cy="329184"/>
          </a:xfrm>
          <a:prstGeom prst="roundRect">
            <a:avLst>
              <a:gd name="adj" fmla="val 50000"/>
            </a:avLst>
          </a:prstGeom>
          <a:solidFill>
            <a:srgbClr val="FDF8E8"/>
          </a:solidFill>
          <a:ln w="12700">
            <a:solidFill>
              <a:srgbClr val="E0D3A8"/>
            </a:solidFill>
            <a:prstDash val="solid"/>
          </a:ln>
        </p:spPr>
      </p:sp>
      <p:sp>
        <p:nvSpPr>
          <p:cNvPr id="19" name="Text 15"/>
          <p:cNvSpPr txBox="1"/>
          <p:nvPr/>
        </p:nvSpPr>
        <p:spPr>
          <a:xfrm>
            <a:off x="2545588" y="2926080"/>
            <a:ext cx="163169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“block the card”</a:t>
            </a:r>
            <a:endParaRPr lang="en-US" sz="1250" dirty="0"/>
          </a:p>
        </p:txBody>
      </p:sp>
      <p:sp>
        <p:nvSpPr>
          <p:cNvPr id="20" name="Shape 16"/>
          <p:cNvSpPr/>
          <p:nvPr/>
        </p:nvSpPr>
        <p:spPr>
          <a:xfrm>
            <a:off x="4287012" y="2926080"/>
            <a:ext cx="1053846" cy="329184"/>
          </a:xfrm>
          <a:prstGeom prst="roundRect">
            <a:avLst>
              <a:gd name="adj" fmla="val 50000"/>
            </a:avLst>
          </a:prstGeom>
          <a:solidFill>
            <a:srgbClr val="FDF8E8"/>
          </a:solidFill>
          <a:ln w="12700">
            <a:solidFill>
              <a:srgbClr val="E0D3A8"/>
            </a:solidFill>
            <a:prstDash val="solid"/>
          </a:ln>
        </p:spPr>
      </p:sp>
      <p:sp>
        <p:nvSpPr>
          <p:cNvPr id="21" name="Text 17"/>
          <p:cNvSpPr txBox="1"/>
          <p:nvPr/>
        </p:nvSpPr>
        <p:spPr>
          <a:xfrm>
            <a:off x="4287012" y="2926080"/>
            <a:ext cx="105384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“suspend”</a:t>
            </a:r>
            <a:endParaRPr lang="en-US" sz="1250" dirty="0"/>
          </a:p>
        </p:txBody>
      </p:sp>
      <p:sp>
        <p:nvSpPr>
          <p:cNvPr id="22" name="icon circle WHAT THE CHAT NEEDS BEFORE IT ACTS"/>
          <p:cNvSpPr/>
          <p:nvPr/>
        </p:nvSpPr>
        <p:spPr>
          <a:xfrm>
            <a:off x="548640" y="3474720"/>
            <a:ext cx="310896" cy="310896"/>
          </a:xfrm>
          <a:prstGeom prst="ellipse">
            <a:avLst/>
          </a:prstGeom>
          <a:solidFill>
            <a:srgbClr val="14314F"/>
          </a:solidFill>
          <a:ln w="12700">
            <a:solidFill>
              <a:srgbClr val="14314F"/>
            </a:solidFill>
            <a:prstDash val="solid"/>
          </a:ln>
        </p:spPr>
      </p:sp>
      <p:pic>
        <p:nvPicPr>
          <p:cNvPr id="23" name="Image 2" descr="preencoded.png">    </p:cNvPr>
          <p:cNvPicPr>
            <a:picLocks noChangeAspect="1"/>
          </p:cNvPicPr>
          <p:nvPr/>
        </p:nvPicPr>
        <p:blipFill>
          <a:blip r:embed="rId3"/>
          <a:stretch>
            <a:fillRect/>
          </a:stretch>
        </p:blipFill>
        <p:spPr>
          <a:xfrm>
            <a:off x="621792" y="3547872"/>
            <a:ext cx="164592" cy="164592"/>
          </a:xfrm>
          <a:prstGeom prst="rect">
            <a:avLst/>
          </a:prstGeom>
        </p:spPr>
      </p:pic>
      <p:sp>
        <p:nvSpPr>
          <p:cNvPr id="24" name="Text 19"/>
          <p:cNvSpPr txBox="1"/>
          <p:nvPr/>
        </p:nvSpPr>
        <p:spPr>
          <a:xfrm>
            <a:off x="969264" y="3493008"/>
            <a:ext cx="4572000" cy="274320"/>
          </a:xfrm>
          <a:prstGeom prst="rect">
            <a:avLst/>
          </a:prstGeom>
          <a:noFill/>
          <a:ln/>
        </p:spPr>
        <p:txBody>
          <a:bodyPr wrap="square" lIns="0" tIns="0" rIns="0" bIns="0" rtlCol="0" anchor="ctr"/>
          <a:lstStyle/>
          <a:p>
            <a:pPr indent="0" marL="0">
              <a:buNone/>
            </a:pPr>
            <a:r>
              <a:rPr lang="en-US" sz="1100" b="1" spc="150" kern="0" dirty="0">
                <a:solidFill>
                  <a:srgbClr val="14314F"/>
                </a:solidFill>
                <a:latin typeface="Calibri" pitchFamily="34" charset="0"/>
                <a:ea typeface="Calibri" pitchFamily="34" charset="-122"/>
                <a:cs typeface="Calibri" pitchFamily="34" charset="-120"/>
              </a:rPr>
              <a:t>WHAT THE CHAT NEEDS BEFORE IT ACTS</a:t>
            </a:r>
            <a:endParaRPr lang="en-US" sz="1100" dirty="0"/>
          </a:p>
        </p:txBody>
      </p:sp>
      <p:sp>
        <p:nvSpPr>
          <p:cNvPr id="25" name="Shape 20"/>
          <p:cNvSpPr/>
          <p:nvPr/>
        </p:nvSpPr>
        <p:spPr>
          <a:xfrm>
            <a:off x="548640" y="3858768"/>
            <a:ext cx="806196" cy="329184"/>
          </a:xfrm>
          <a:prstGeom prst="roundRect">
            <a:avLst>
              <a:gd name="adj" fmla="val 50000"/>
            </a:avLst>
          </a:prstGeom>
          <a:solidFill>
            <a:srgbClr val="FFFFFF"/>
          </a:solidFill>
          <a:ln w="12700">
            <a:solidFill>
              <a:srgbClr val="14314F"/>
            </a:solidFill>
            <a:prstDash val="solid"/>
          </a:ln>
        </p:spPr>
      </p:sp>
      <p:sp>
        <p:nvSpPr>
          <p:cNvPr id="26" name="Text 21"/>
          <p:cNvSpPr txBox="1"/>
          <p:nvPr/>
        </p:nvSpPr>
        <p:spPr>
          <a:xfrm>
            <a:off x="548640" y="3858768"/>
            <a:ext cx="8061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Client</a:t>
            </a:r>
            <a:endParaRPr lang="en-US" sz="1250" dirty="0"/>
          </a:p>
        </p:txBody>
      </p:sp>
      <p:sp>
        <p:nvSpPr>
          <p:cNvPr id="27" name="Shape 22"/>
          <p:cNvSpPr/>
          <p:nvPr/>
        </p:nvSpPr>
        <p:spPr>
          <a:xfrm>
            <a:off x="1464564" y="3858768"/>
            <a:ext cx="641096" cy="329184"/>
          </a:xfrm>
          <a:prstGeom prst="roundRect">
            <a:avLst>
              <a:gd name="adj" fmla="val 50000"/>
            </a:avLst>
          </a:prstGeom>
          <a:solidFill>
            <a:srgbClr val="FFFFFF"/>
          </a:solidFill>
          <a:ln w="12700">
            <a:solidFill>
              <a:srgbClr val="14314F"/>
            </a:solidFill>
            <a:prstDash val="solid"/>
          </a:ln>
        </p:spPr>
      </p:sp>
      <p:sp>
        <p:nvSpPr>
          <p:cNvPr id="28" name="Text 23"/>
          <p:cNvSpPr txBox="1"/>
          <p:nvPr/>
        </p:nvSpPr>
        <p:spPr>
          <a:xfrm>
            <a:off x="1464564" y="3858768"/>
            <a:ext cx="6410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Card</a:t>
            </a:r>
            <a:endParaRPr lang="en-US" sz="1250" dirty="0"/>
          </a:p>
        </p:txBody>
      </p:sp>
      <p:sp>
        <p:nvSpPr>
          <p:cNvPr id="29" name="Text 24"/>
          <p:cNvSpPr txBox="1"/>
          <p:nvPr/>
        </p:nvSpPr>
        <p:spPr>
          <a:xfrm>
            <a:off x="548640" y="4242816"/>
            <a:ext cx="5440680" cy="237744"/>
          </a:xfrm>
          <a:prstGeom prst="rect">
            <a:avLst/>
          </a:prstGeom>
          <a:noFill/>
          <a:ln/>
        </p:spPr>
        <p:txBody>
          <a:bodyPr wrap="square" lIns="0" tIns="0" rIns="0" bIns="0" rtlCol="0" anchor="t"/>
          <a:lstStyle/>
          <a:p>
            <a:pPr indent="0" marL="0">
              <a:buNone/>
            </a:pPr>
            <a:r>
              <a:rPr lang="en-US" sz="1100" i="1" dirty="0">
                <a:solidFill>
                  <a:srgbClr val="7E8D9B"/>
                </a:solidFill>
                <a:latin typeface="Calibri" pitchFamily="34" charset="0"/>
                <a:ea typeface="Calibri" pitchFamily="34" charset="-122"/>
                <a:cs typeface="Calibri" pitchFamily="34" charset="-120"/>
              </a:rPr>
              <a:t>Optional: a reason, stored on the audit record.</a:t>
            </a:r>
            <a:endParaRPr lang="en-US" sz="1100" dirty="0"/>
          </a:p>
        </p:txBody>
      </p:sp>
      <p:sp>
        <p:nvSpPr>
          <p:cNvPr id="30" name="Shape 25"/>
          <p:cNvSpPr/>
          <p:nvPr/>
        </p:nvSpPr>
        <p:spPr>
          <a:xfrm>
            <a:off x="548640" y="4590288"/>
            <a:ext cx="5440680" cy="1572768"/>
          </a:xfrm>
          <a:prstGeom prst="roundRect">
            <a:avLst>
              <a:gd name="adj" fmla="val 5814"/>
            </a:avLst>
          </a:prstGeom>
          <a:solidFill>
            <a:srgbClr val="EEF4F2"/>
          </a:solidFill>
          <a:ln w="12700">
            <a:solidFill>
              <a:srgbClr val="B9D3C6"/>
            </a:solidFill>
            <a:prstDash val="solid"/>
          </a:ln>
        </p:spPr>
      </p:sp>
      <p:sp>
        <p:nvSpPr>
          <p:cNvPr id="31" name="icon circle BUILT-IN SAFETY"/>
          <p:cNvSpPr/>
          <p:nvPr/>
        </p:nvSpPr>
        <p:spPr>
          <a:xfrm>
            <a:off x="731520" y="4736592"/>
            <a:ext cx="310896" cy="310896"/>
          </a:xfrm>
          <a:prstGeom prst="ellipse">
            <a:avLst/>
          </a:prstGeom>
          <a:solidFill>
            <a:srgbClr val="2E7D5B"/>
          </a:solidFill>
          <a:ln w="12700">
            <a:solidFill>
              <a:srgbClr val="2E7D5B"/>
            </a:solidFill>
            <a:prstDash val="solid"/>
          </a:ln>
        </p:spPr>
      </p:sp>
      <p:pic>
        <p:nvPicPr>
          <p:cNvPr id="32" name="Image 3" descr="preencoded.png">    </p:cNvPr>
          <p:cNvPicPr>
            <a:picLocks noChangeAspect="1"/>
          </p:cNvPicPr>
          <p:nvPr/>
        </p:nvPicPr>
        <p:blipFill>
          <a:blip r:embed="rId4"/>
          <a:stretch>
            <a:fillRect/>
          </a:stretch>
        </p:blipFill>
        <p:spPr>
          <a:xfrm>
            <a:off x="804672" y="4809744"/>
            <a:ext cx="164592" cy="164592"/>
          </a:xfrm>
          <a:prstGeom prst="rect">
            <a:avLst/>
          </a:prstGeom>
        </p:spPr>
      </p:pic>
      <p:sp>
        <p:nvSpPr>
          <p:cNvPr id="33" name="Text 27"/>
          <p:cNvSpPr txBox="1"/>
          <p:nvPr/>
        </p:nvSpPr>
        <p:spPr>
          <a:xfrm>
            <a:off x="1152144" y="4754880"/>
            <a:ext cx="4572000" cy="274320"/>
          </a:xfrm>
          <a:prstGeom prst="rect">
            <a:avLst/>
          </a:prstGeom>
          <a:noFill/>
          <a:ln/>
        </p:spPr>
        <p:txBody>
          <a:bodyPr wrap="square" lIns="0" tIns="0" rIns="0" bIns="0" rtlCol="0" anchor="ctr"/>
          <a:lstStyle/>
          <a:p>
            <a:pPr indent="0" marL="0">
              <a:buNone/>
            </a:pPr>
            <a:r>
              <a:rPr lang="en-US" sz="1100" b="1" spc="150" kern="0" dirty="0">
                <a:solidFill>
                  <a:srgbClr val="2E7D5B"/>
                </a:solidFill>
                <a:latin typeface="Calibri" pitchFamily="34" charset="0"/>
                <a:ea typeface="Calibri" pitchFamily="34" charset="-122"/>
                <a:cs typeface="Calibri" pitchFamily="34" charset="-120"/>
              </a:rPr>
              <a:t>BUILT-IN SAFETY</a:t>
            </a:r>
            <a:endParaRPr lang="en-US" sz="1100" dirty="0"/>
          </a:p>
        </p:txBody>
      </p:sp>
      <p:sp>
        <p:nvSpPr>
          <p:cNvPr id="34" name="Text 28"/>
          <p:cNvSpPr txBox="1"/>
          <p:nvPr/>
        </p:nvSpPr>
        <p:spPr>
          <a:xfrm>
            <a:off x="777240" y="5138928"/>
            <a:ext cx="5029200" cy="93268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Client has two cards? It lists both and asks. It never picks one.</a:t>
            </a:r>
            <a:endParaRPr lang="en-US" sz="1300" dirty="0"/>
          </a:p>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Mentions of a lost or stolen card? It suggests Report lost or stolen instead.</a:t>
            </a:r>
            <a:endParaRPr lang="en-US" sz="1300" dirty="0"/>
          </a:p>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Already locked? It says so and does nothing.</a:t>
            </a:r>
            <a:endParaRPr lang="en-US" sz="1300" dirty="0"/>
          </a:p>
        </p:txBody>
      </p:sp>
      <p:sp>
        <p:nvSpPr>
          <p:cNvPr id="35" name="NetX AI panel"/>
          <p:cNvSpPr/>
          <p:nvPr/>
        </p:nvSpPr>
        <p:spPr>
          <a:xfrm>
            <a:off x="6355080" y="1371600"/>
            <a:ext cx="5285232" cy="4846320"/>
          </a:xfrm>
          <a:prstGeom prst="roundRect">
            <a:avLst>
              <a:gd name="adj" fmla="val 1887"/>
            </a:avLst>
          </a:prstGeom>
          <a:solidFill>
            <a:srgbClr val="F5F8FC"/>
          </a:solidFill>
          <a:ln w="12700">
            <a:solidFill>
              <a:srgbClr val="D5DDE8"/>
            </a:solidFill>
            <a:prstDash val="solid"/>
          </a:ln>
        </p:spPr>
      </p:sp>
      <p:pic>
        <p:nvPicPr>
          <p:cNvPr id="36" name="Image 4" descr="preencoded.png">    </p:cNvPr>
          <p:cNvPicPr>
            <a:picLocks noChangeAspect="1"/>
          </p:cNvPicPr>
          <p:nvPr/>
        </p:nvPicPr>
        <p:blipFill>
          <a:blip r:embed="rId5"/>
          <a:stretch>
            <a:fillRect/>
          </a:stretch>
        </p:blipFill>
        <p:spPr>
          <a:xfrm>
            <a:off x="6556248" y="1508760"/>
            <a:ext cx="182880" cy="182880"/>
          </a:xfrm>
          <a:prstGeom prst="rect">
            <a:avLst/>
          </a:prstGeom>
        </p:spPr>
      </p:pic>
      <p:sp>
        <p:nvSpPr>
          <p:cNvPr id="37" name="Text 30"/>
          <p:cNvSpPr txBox="1"/>
          <p:nvPr/>
        </p:nvSpPr>
        <p:spPr>
          <a:xfrm>
            <a:off x="6793992" y="1472184"/>
            <a:ext cx="1828800" cy="256032"/>
          </a:xfrm>
          <a:prstGeom prst="rect">
            <a:avLst/>
          </a:prstGeom>
          <a:noFill/>
          <a:ln/>
        </p:spPr>
        <p:txBody>
          <a:bodyPr wrap="square" lIns="0" tIns="0" rIns="0" bIns="0" rtlCol="0" anchor="ctr"/>
          <a:lstStyle/>
          <a:p>
            <a:pPr indent="0" marL="0">
              <a:buNone/>
            </a:pPr>
            <a:r>
              <a:rPr lang="en-US" sz="1300" b="1" dirty="0">
                <a:solidFill>
                  <a:srgbClr val="1F2D4A"/>
                </a:solidFill>
                <a:latin typeface="Calibri" pitchFamily="34" charset="0"/>
                <a:ea typeface="Calibri" pitchFamily="34" charset="-122"/>
                <a:cs typeface="Calibri" pitchFamily="34" charset="-120"/>
              </a:rPr>
              <a:t>NetX AI</a:t>
            </a:r>
            <a:endParaRPr lang="en-US" sz="1300" dirty="0"/>
          </a:p>
        </p:txBody>
      </p:sp>
      <p:pic>
        <p:nvPicPr>
          <p:cNvPr id="38" name="Image 5" descr="preencoded.png">    </p:cNvPr>
          <p:cNvPicPr>
            <a:picLocks noChangeAspect="1"/>
          </p:cNvPicPr>
          <p:nvPr/>
        </p:nvPicPr>
        <p:blipFill>
          <a:blip r:embed="rId6"/>
          <a:stretch>
            <a:fillRect/>
          </a:stretch>
        </p:blipFill>
        <p:spPr>
          <a:xfrm>
            <a:off x="10927080" y="1517904"/>
            <a:ext cx="164592" cy="164592"/>
          </a:xfrm>
          <a:prstGeom prst="rect">
            <a:avLst/>
          </a:prstGeom>
        </p:spPr>
      </p:pic>
      <p:pic>
        <p:nvPicPr>
          <p:cNvPr id="39" name="Image 6" descr="preencoded.png">    </p:cNvPr>
          <p:cNvPicPr>
            <a:picLocks noChangeAspect="1"/>
          </p:cNvPicPr>
          <p:nvPr/>
        </p:nvPicPr>
        <p:blipFill>
          <a:blip r:embed="rId7"/>
          <a:stretch>
            <a:fillRect/>
          </a:stretch>
        </p:blipFill>
        <p:spPr>
          <a:xfrm>
            <a:off x="11228832" y="1517904"/>
            <a:ext cx="164592" cy="164592"/>
          </a:xfrm>
          <a:prstGeom prst="rect">
            <a:avLst/>
          </a:prstGeom>
        </p:spPr>
      </p:pic>
      <p:sp>
        <p:nvSpPr>
          <p:cNvPr id="40" name="Shape 31"/>
          <p:cNvSpPr/>
          <p:nvPr/>
        </p:nvSpPr>
        <p:spPr>
          <a:xfrm>
            <a:off x="11457432" y="3200400"/>
            <a:ext cx="237744" cy="868680"/>
          </a:xfrm>
          <a:prstGeom prst="roundRect">
            <a:avLst>
              <a:gd name="adj" fmla="val 19231"/>
            </a:avLst>
          </a:prstGeom>
          <a:solidFill>
            <a:srgbClr val="1F2D4A"/>
          </a:solidFill>
          <a:ln w="12700">
            <a:solidFill>
              <a:srgbClr val="1F2D4A"/>
            </a:solidFill>
            <a:prstDash val="solid"/>
          </a:ln>
        </p:spPr>
      </p:sp>
      <p:sp>
        <p:nvSpPr>
          <p:cNvPr id="41" name="Text 32"/>
          <p:cNvSpPr txBox="1"/>
          <p:nvPr/>
        </p:nvSpPr>
        <p:spPr>
          <a:xfrm rot="5400000">
            <a:off x="11132820" y="3529584"/>
            <a:ext cx="8686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Guide Me</a:t>
            </a:r>
            <a:endParaRPr lang="en-US" sz="900" dirty="0"/>
          </a:p>
        </p:txBody>
      </p:sp>
      <p:sp>
        <p:nvSpPr>
          <p:cNvPr id="42" name="Shape 33"/>
          <p:cNvSpPr/>
          <p:nvPr/>
        </p:nvSpPr>
        <p:spPr>
          <a:xfrm>
            <a:off x="6537960" y="5504688"/>
            <a:ext cx="4828032" cy="384048"/>
          </a:xfrm>
          <a:prstGeom prst="roundRect">
            <a:avLst>
              <a:gd name="adj" fmla="val 23810"/>
            </a:avLst>
          </a:prstGeom>
          <a:solidFill>
            <a:srgbClr val="FFFFFF"/>
          </a:solidFill>
          <a:ln w="12700">
            <a:solidFill>
              <a:srgbClr val="D5DDE8"/>
            </a:solidFill>
            <a:prstDash val="solid"/>
          </a:ln>
        </p:spPr>
      </p:sp>
      <p:pic>
        <p:nvPicPr>
          <p:cNvPr id="43" name="Image 7" descr="preencoded.png">    </p:cNvPr>
          <p:cNvPicPr>
            <a:picLocks noChangeAspect="1"/>
          </p:cNvPicPr>
          <p:nvPr/>
        </p:nvPicPr>
        <p:blipFill>
          <a:blip r:embed="rId8"/>
          <a:stretch>
            <a:fillRect/>
          </a:stretch>
        </p:blipFill>
        <p:spPr>
          <a:xfrm>
            <a:off x="6665976" y="5614416"/>
            <a:ext cx="164592" cy="164592"/>
          </a:xfrm>
          <a:prstGeom prst="rect">
            <a:avLst/>
          </a:prstGeom>
        </p:spPr>
      </p:pic>
      <p:sp>
        <p:nvSpPr>
          <p:cNvPr id="44" name="Text 34"/>
          <p:cNvSpPr txBox="1"/>
          <p:nvPr/>
        </p:nvSpPr>
        <p:spPr>
          <a:xfrm>
            <a:off x="6922008" y="5504688"/>
            <a:ext cx="2743200" cy="384048"/>
          </a:xfrm>
          <a:prstGeom prst="rect">
            <a:avLst/>
          </a:prstGeom>
          <a:noFill/>
          <a:ln/>
        </p:spPr>
        <p:txBody>
          <a:bodyPr wrap="square" lIns="0" tIns="0" rIns="0" bIns="0" rtlCol="0" anchor="ctr"/>
          <a:lstStyle/>
          <a:p>
            <a:pPr indent="0" marL="0">
              <a:buNone/>
            </a:pPr>
            <a:r>
              <a:rPr lang="en-US" sz="1100" dirty="0">
                <a:solidFill>
                  <a:srgbClr val="8A93A0"/>
                </a:solidFill>
                <a:latin typeface="Calibri" pitchFamily="34" charset="0"/>
                <a:ea typeface="Calibri" pitchFamily="34" charset="-122"/>
                <a:cs typeface="Calibri" pitchFamily="34" charset="-120"/>
              </a:rPr>
              <a:t>Ask NetX AI</a:t>
            </a:r>
            <a:endParaRPr lang="en-US" sz="1100" dirty="0"/>
          </a:p>
        </p:txBody>
      </p:sp>
      <p:pic>
        <p:nvPicPr>
          <p:cNvPr id="45" name="Image 8" descr="preencoded.png">    </p:cNvPr>
          <p:cNvPicPr>
            <a:picLocks noChangeAspect="1"/>
          </p:cNvPicPr>
          <p:nvPr/>
        </p:nvPicPr>
        <p:blipFill>
          <a:blip r:embed="rId9"/>
          <a:stretch>
            <a:fillRect/>
          </a:stretch>
        </p:blipFill>
        <p:spPr>
          <a:xfrm>
            <a:off x="10707624" y="5614416"/>
            <a:ext cx="164592" cy="164592"/>
          </a:xfrm>
          <a:prstGeom prst="rect">
            <a:avLst/>
          </a:prstGeom>
        </p:spPr>
      </p:pic>
      <p:sp>
        <p:nvSpPr>
          <p:cNvPr id="46" name="Shape 35"/>
          <p:cNvSpPr/>
          <p:nvPr/>
        </p:nvSpPr>
        <p:spPr>
          <a:xfrm>
            <a:off x="10981944" y="5559552"/>
            <a:ext cx="274320" cy="274320"/>
          </a:xfrm>
          <a:prstGeom prst="ellipse">
            <a:avLst/>
          </a:prstGeom>
          <a:solidFill>
            <a:srgbClr val="2F5D9A"/>
          </a:solidFill>
          <a:ln w="12700">
            <a:solidFill>
              <a:srgbClr val="2F5D9A"/>
            </a:solidFill>
            <a:prstDash val="solid"/>
          </a:ln>
        </p:spPr>
      </p:sp>
      <p:pic>
        <p:nvPicPr>
          <p:cNvPr id="47" name="Image 9" descr="preencoded.png">    </p:cNvPr>
          <p:cNvPicPr>
            <a:picLocks noChangeAspect="1"/>
          </p:cNvPicPr>
          <p:nvPr/>
        </p:nvPicPr>
        <p:blipFill>
          <a:blip r:embed="rId10"/>
          <a:stretch>
            <a:fillRect/>
          </a:stretch>
        </p:blipFill>
        <p:spPr>
          <a:xfrm>
            <a:off x="11045952" y="5623560"/>
            <a:ext cx="146304" cy="146304"/>
          </a:xfrm>
          <a:prstGeom prst="rect">
            <a:avLst/>
          </a:prstGeom>
        </p:spPr>
      </p:pic>
      <p:sp>
        <p:nvSpPr>
          <p:cNvPr id="48" name="Text 36"/>
          <p:cNvSpPr txBox="1"/>
          <p:nvPr/>
        </p:nvSpPr>
        <p:spPr>
          <a:xfrm>
            <a:off x="6537960" y="5943600"/>
            <a:ext cx="4828032" cy="219456"/>
          </a:xfrm>
          <a:prstGeom prst="rect">
            <a:avLst/>
          </a:prstGeom>
          <a:noFill/>
          <a:ln/>
        </p:spPr>
        <p:txBody>
          <a:bodyPr wrap="square" lIns="0" tIns="0" rIns="0" bIns="0" rtlCol="0" anchor="ctr"/>
          <a:lstStyle/>
          <a:p>
            <a:pPr algn="ctr" indent="0" marL="0">
              <a:buNone/>
            </a:pPr>
            <a:r>
              <a:rPr lang="en-US" sz="900" dirty="0">
                <a:solidFill>
                  <a:srgbClr val="8A93A0"/>
                </a:solidFill>
                <a:latin typeface="Calibri" pitchFamily="34" charset="0"/>
                <a:ea typeface="Calibri" pitchFamily="34" charset="-122"/>
                <a:cs typeface="Calibri" pitchFamily="34" charset="-120"/>
              </a:rPr>
              <a:t>Please note: AI can make mistakes. All data shown here is synthetic.</a:t>
            </a:r>
            <a:endParaRPr lang="en-US" sz="900" dirty="0"/>
          </a:p>
        </p:txBody>
      </p:sp>
      <p:sp>
        <p:nvSpPr>
          <p:cNvPr id="49" name="Shape 37"/>
          <p:cNvSpPr/>
          <p:nvPr/>
        </p:nvSpPr>
        <p:spPr>
          <a:xfrm>
            <a:off x="8814816" y="1920240"/>
            <a:ext cx="2487168" cy="350520"/>
          </a:xfrm>
          <a:prstGeom prst="roundRect">
            <a:avLst>
              <a:gd name="adj" fmla="val 44348"/>
            </a:avLst>
          </a:prstGeom>
          <a:solidFill>
            <a:srgbClr val="DCE6F4"/>
          </a:solidFill>
          <a:ln w="12700">
            <a:solidFill>
              <a:srgbClr val="DCE6F4"/>
            </a:solidFill>
            <a:prstDash val="solid"/>
          </a:ln>
        </p:spPr>
      </p:sp>
      <p:sp>
        <p:nvSpPr>
          <p:cNvPr id="50" name="Text 38"/>
          <p:cNvSpPr txBox="1"/>
          <p:nvPr/>
        </p:nvSpPr>
        <p:spPr>
          <a:xfrm>
            <a:off x="8979408" y="1920240"/>
            <a:ext cx="2157984" cy="350520"/>
          </a:xfrm>
          <a:prstGeom prst="rect">
            <a:avLst/>
          </a:prstGeom>
          <a:noFill/>
          <a:ln/>
        </p:spPr>
        <p:txBody>
          <a:bodyPr wrap="square" lIns="0" tIns="0" rIns="0" bIns="0" rtlCol="0" anchor="ctr"/>
          <a:lstStyle/>
          <a:p>
            <a:pPr indent="0" marL="0">
              <a:buNone/>
            </a:pPr>
            <a:r>
              <a:rPr lang="en-US" sz="1200" dirty="0">
                <a:solidFill>
                  <a:srgbClr val="2B2F36"/>
                </a:solidFill>
                <a:latin typeface="Calibri" pitchFamily="34" charset="0"/>
                <a:ea typeface="Calibri" pitchFamily="34" charset="-122"/>
                <a:cs typeface="Calibri" pitchFamily="34" charset="-120"/>
              </a:rPr>
              <a:t>Lock Robert Castellano’s card</a:t>
            </a:r>
            <a:endParaRPr lang="en-US" sz="1200" dirty="0"/>
          </a:p>
        </p:txBody>
      </p:sp>
      <p:sp>
        <p:nvSpPr>
          <p:cNvPr id="51" name="Shape 39"/>
          <p:cNvSpPr/>
          <p:nvPr/>
        </p:nvSpPr>
        <p:spPr>
          <a:xfrm>
            <a:off x="6583680" y="2362200"/>
            <a:ext cx="4435206" cy="826008"/>
          </a:xfrm>
          <a:prstGeom prst="roundRect">
            <a:avLst>
              <a:gd name="adj" fmla="val 8856"/>
            </a:avLst>
          </a:prstGeom>
          <a:solidFill>
            <a:srgbClr val="FFFFFF"/>
          </a:solidFill>
          <a:ln w="12700">
            <a:solidFill>
              <a:srgbClr val="D5DDE8"/>
            </a:solidFill>
            <a:prstDash val="solid"/>
          </a:ln>
        </p:spPr>
      </p:sp>
      <p:sp>
        <p:nvSpPr>
          <p:cNvPr id="52" name="Text 40"/>
          <p:cNvSpPr txBox="1"/>
          <p:nvPr/>
        </p:nvSpPr>
        <p:spPr>
          <a:xfrm>
            <a:off x="6720840" y="2471928"/>
            <a:ext cx="4160886" cy="185928"/>
          </a:xfrm>
          <a:prstGeom prst="rect">
            <a:avLst/>
          </a:prstGeom>
          <a:noFill/>
          <a:ln/>
        </p:spPr>
        <p:txBody>
          <a:bodyPr wrap="square" lIns="0" tIns="0" rIns="0" bIns="0" rtlCol="0" anchor="ctr"/>
          <a:lstStyle/>
          <a:p>
            <a:pPr indent="0" marL="0">
              <a:buNone/>
            </a:pPr>
            <a:r>
              <a:rPr lang="en-US" sz="1200" b="1" dirty="0">
                <a:solidFill>
                  <a:srgbClr val="1F2D4A"/>
                </a:solidFill>
                <a:latin typeface="Calibri" pitchFamily="34" charset="0"/>
                <a:ea typeface="Calibri" pitchFamily="34" charset="-122"/>
                <a:cs typeface="Calibri" pitchFamily="34" charset="-120"/>
              </a:rPr>
              <a:t>Which card? Robert has two.</a:t>
            </a:r>
            <a:endParaRPr lang="en-US" sz="1200" dirty="0"/>
          </a:p>
        </p:txBody>
      </p:sp>
      <p:sp>
        <p:nvSpPr>
          <p:cNvPr id="53" name="Shape 41"/>
          <p:cNvSpPr/>
          <p:nvPr/>
        </p:nvSpPr>
        <p:spPr>
          <a:xfrm>
            <a:off x="6720840" y="2749296"/>
            <a:ext cx="2025579" cy="310896"/>
          </a:xfrm>
          <a:prstGeom prst="roundRect">
            <a:avLst>
              <a:gd name="adj" fmla="val 17647"/>
            </a:avLst>
          </a:prstGeom>
          <a:solidFill>
            <a:srgbClr val="FFFFFF"/>
          </a:solidFill>
          <a:ln w="12700">
            <a:solidFill>
              <a:srgbClr val="D5DDE8"/>
            </a:solidFill>
            <a:prstDash val="solid"/>
          </a:ln>
        </p:spPr>
      </p:sp>
      <p:sp>
        <p:nvSpPr>
          <p:cNvPr id="54" name="Text 42"/>
          <p:cNvSpPr txBox="1"/>
          <p:nvPr/>
        </p:nvSpPr>
        <p:spPr>
          <a:xfrm>
            <a:off x="6720840" y="2749296"/>
            <a:ext cx="2025579" cy="310896"/>
          </a:xfrm>
          <a:prstGeom prst="rect">
            <a:avLst/>
          </a:prstGeom>
          <a:noFill/>
          <a:ln/>
        </p:spPr>
        <p:txBody>
          <a:bodyPr wrap="square" lIns="0" tIns="0" rIns="0" bIns="0" rtlCol="0" anchor="ctr"/>
          <a:lstStyle/>
          <a:p>
            <a:pPr algn="ctr" indent="0" marL="0">
              <a:buNone/>
            </a:pPr>
            <a:r>
              <a:rPr lang="en-US" sz="1150" dirty="0">
                <a:solidFill>
                  <a:srgbClr val="2F5D9A"/>
                </a:solidFill>
                <a:latin typeface="Calibri" pitchFamily="34" charset="0"/>
                <a:ea typeface="Calibri" pitchFamily="34" charset="-122"/>
                <a:cs typeface="Calibri" pitchFamily="34" charset="-120"/>
              </a:rPr>
              <a:t>…2201 (active)</a:t>
            </a:r>
            <a:endParaRPr lang="en-US" sz="1150" dirty="0"/>
          </a:p>
        </p:txBody>
      </p:sp>
      <p:sp>
        <p:nvSpPr>
          <p:cNvPr id="55" name="Shape 43"/>
          <p:cNvSpPr/>
          <p:nvPr/>
        </p:nvSpPr>
        <p:spPr>
          <a:xfrm>
            <a:off x="8856147" y="2749296"/>
            <a:ext cx="2025579" cy="310896"/>
          </a:xfrm>
          <a:prstGeom prst="roundRect">
            <a:avLst>
              <a:gd name="adj" fmla="val 17647"/>
            </a:avLst>
          </a:prstGeom>
          <a:solidFill>
            <a:srgbClr val="E8EFF9"/>
          </a:solidFill>
          <a:ln w="19050">
            <a:solidFill>
              <a:srgbClr val="2F5D9A"/>
            </a:solidFill>
            <a:prstDash val="solid"/>
          </a:ln>
        </p:spPr>
      </p:sp>
      <p:sp>
        <p:nvSpPr>
          <p:cNvPr id="56" name="Text 44"/>
          <p:cNvSpPr txBox="1"/>
          <p:nvPr/>
        </p:nvSpPr>
        <p:spPr>
          <a:xfrm>
            <a:off x="8856147" y="2749296"/>
            <a:ext cx="2025579" cy="310896"/>
          </a:xfrm>
          <a:prstGeom prst="rect">
            <a:avLst/>
          </a:prstGeom>
          <a:noFill/>
          <a:ln/>
        </p:spPr>
        <p:txBody>
          <a:bodyPr wrap="square" lIns="0" tIns="0" rIns="0" bIns="0" rtlCol="0" anchor="ctr"/>
          <a:lstStyle/>
          <a:p>
            <a:pPr algn="ctr" indent="0" marL="0">
              <a:buNone/>
            </a:pPr>
            <a:r>
              <a:rPr lang="en-US" sz="1150" b="1" dirty="0">
                <a:solidFill>
                  <a:srgbClr val="2F5D9A"/>
                </a:solidFill>
                <a:latin typeface="Calibri" pitchFamily="34" charset="0"/>
                <a:ea typeface="Calibri" pitchFamily="34" charset="-122"/>
                <a:cs typeface="Calibri" pitchFamily="34" charset="-120"/>
              </a:rPr>
              <a:t>…2202 (active)</a:t>
            </a:r>
            <a:endParaRPr lang="en-US" sz="1150" dirty="0"/>
          </a:p>
        </p:txBody>
      </p:sp>
      <p:sp>
        <p:nvSpPr>
          <p:cNvPr id="57" name="Shape 45"/>
          <p:cNvSpPr/>
          <p:nvPr/>
        </p:nvSpPr>
        <p:spPr>
          <a:xfrm>
            <a:off x="10479024" y="3279648"/>
            <a:ext cx="822960" cy="350520"/>
          </a:xfrm>
          <a:prstGeom prst="roundRect">
            <a:avLst>
              <a:gd name="adj" fmla="val 44348"/>
            </a:avLst>
          </a:prstGeom>
          <a:solidFill>
            <a:srgbClr val="DCE6F4"/>
          </a:solidFill>
          <a:ln w="12700">
            <a:solidFill>
              <a:srgbClr val="DCE6F4"/>
            </a:solidFill>
            <a:prstDash val="solid"/>
          </a:ln>
        </p:spPr>
      </p:sp>
      <p:sp>
        <p:nvSpPr>
          <p:cNvPr id="58" name="Text 46"/>
          <p:cNvSpPr txBox="1"/>
          <p:nvPr/>
        </p:nvSpPr>
        <p:spPr>
          <a:xfrm>
            <a:off x="10643616" y="3279648"/>
            <a:ext cx="493776" cy="350520"/>
          </a:xfrm>
          <a:prstGeom prst="rect">
            <a:avLst/>
          </a:prstGeom>
          <a:noFill/>
          <a:ln/>
        </p:spPr>
        <p:txBody>
          <a:bodyPr wrap="square" lIns="0" tIns="0" rIns="0" bIns="0" rtlCol="0" anchor="ctr"/>
          <a:lstStyle/>
          <a:p>
            <a:pPr indent="0" marL="0">
              <a:buNone/>
            </a:pPr>
            <a:r>
              <a:rPr lang="en-US" sz="1200" dirty="0">
                <a:solidFill>
                  <a:srgbClr val="2B2F36"/>
                </a:solidFill>
                <a:latin typeface="Calibri" pitchFamily="34" charset="0"/>
                <a:ea typeface="Calibri" pitchFamily="34" charset="-122"/>
                <a:cs typeface="Calibri" pitchFamily="34" charset="-120"/>
              </a:rPr>
              <a:t>2202</a:t>
            </a:r>
            <a:endParaRPr lang="en-US" sz="1200" dirty="0"/>
          </a:p>
        </p:txBody>
      </p:sp>
      <p:sp>
        <p:nvSpPr>
          <p:cNvPr id="59" name="Shape 47"/>
          <p:cNvSpPr/>
          <p:nvPr/>
        </p:nvSpPr>
        <p:spPr>
          <a:xfrm>
            <a:off x="6583680" y="3721608"/>
            <a:ext cx="4435206" cy="1039368"/>
          </a:xfrm>
          <a:prstGeom prst="roundRect">
            <a:avLst>
              <a:gd name="adj" fmla="val 7038"/>
            </a:avLst>
          </a:prstGeom>
          <a:solidFill>
            <a:srgbClr val="FFFFFF"/>
          </a:solidFill>
          <a:ln w="12700">
            <a:solidFill>
              <a:srgbClr val="D5DDE8"/>
            </a:solidFill>
            <a:prstDash val="solid"/>
          </a:ln>
        </p:spPr>
      </p:sp>
      <p:sp>
        <p:nvSpPr>
          <p:cNvPr id="60" name="Text 48"/>
          <p:cNvSpPr txBox="1"/>
          <p:nvPr/>
        </p:nvSpPr>
        <p:spPr>
          <a:xfrm>
            <a:off x="6720840" y="3831336"/>
            <a:ext cx="4160886" cy="408432"/>
          </a:xfrm>
          <a:prstGeom prst="rect">
            <a:avLst/>
          </a:prstGeom>
          <a:noFill/>
          <a:ln/>
        </p:spPr>
        <p:txBody>
          <a:bodyPr wrap="square" lIns="0" tIns="0" rIns="0" bIns="0" rtlCol="0" anchor="t"/>
          <a:lstStyle/>
          <a:p>
            <a:pPr indent="0" marL="0">
              <a:buNone/>
            </a:pPr>
            <a:r>
              <a:rPr lang="en-US" sz="1200" b="1" dirty="0">
                <a:solidFill>
                  <a:srgbClr val="1F2D4A"/>
                </a:solidFill>
                <a:latin typeface="Calibri" pitchFamily="34" charset="0"/>
                <a:ea typeface="Calibri" pitchFamily="34" charset="-122"/>
                <a:cs typeface="Calibri" pitchFamily="34" charset="-120"/>
              </a:rPr>
              <a:t>Lock the debit card ending 2202 for Robert Castellano (account ...1022)?</a:t>
            </a:r>
            <a:endParaRPr lang="en-US" sz="1200" dirty="0"/>
          </a:p>
        </p:txBody>
      </p:sp>
      <p:sp>
        <p:nvSpPr>
          <p:cNvPr id="61" name="Shape 49"/>
          <p:cNvSpPr/>
          <p:nvPr/>
        </p:nvSpPr>
        <p:spPr>
          <a:xfrm>
            <a:off x="6720840" y="4322064"/>
            <a:ext cx="876935" cy="310896"/>
          </a:xfrm>
          <a:prstGeom prst="roundRect">
            <a:avLst>
              <a:gd name="adj" fmla="val 50000"/>
            </a:avLst>
          </a:prstGeom>
          <a:solidFill>
            <a:srgbClr val="2F5D9A"/>
          </a:solidFill>
          <a:ln w="12700">
            <a:solidFill>
              <a:srgbClr val="2F5D9A"/>
            </a:solidFill>
            <a:prstDash val="solid"/>
          </a:ln>
        </p:spPr>
      </p:sp>
      <p:sp>
        <p:nvSpPr>
          <p:cNvPr id="62" name="Text 50"/>
          <p:cNvSpPr txBox="1"/>
          <p:nvPr/>
        </p:nvSpPr>
        <p:spPr>
          <a:xfrm>
            <a:off x="6720840" y="4322064"/>
            <a:ext cx="876935"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Confirm</a:t>
            </a:r>
            <a:endParaRPr lang="en-US" sz="1150" dirty="0"/>
          </a:p>
        </p:txBody>
      </p:sp>
      <p:sp>
        <p:nvSpPr>
          <p:cNvPr id="63" name="Shape 51"/>
          <p:cNvSpPr/>
          <p:nvPr/>
        </p:nvSpPr>
        <p:spPr>
          <a:xfrm>
            <a:off x="7707503" y="4322064"/>
            <a:ext cx="803910" cy="310896"/>
          </a:xfrm>
          <a:prstGeom prst="roundRect">
            <a:avLst>
              <a:gd name="adj" fmla="val 50000"/>
            </a:avLst>
          </a:prstGeom>
          <a:solidFill>
            <a:srgbClr val="FFFFFF"/>
          </a:solidFill>
          <a:ln w="12700">
            <a:solidFill>
              <a:srgbClr val="D5DDE8"/>
            </a:solidFill>
            <a:prstDash val="solid"/>
          </a:ln>
        </p:spPr>
      </p:sp>
      <p:sp>
        <p:nvSpPr>
          <p:cNvPr id="64" name="Text 52"/>
          <p:cNvSpPr txBox="1"/>
          <p:nvPr/>
        </p:nvSpPr>
        <p:spPr>
          <a:xfrm>
            <a:off x="7707503" y="4322064"/>
            <a:ext cx="803910" cy="310896"/>
          </a:xfrm>
          <a:prstGeom prst="rect">
            <a:avLst/>
          </a:prstGeom>
          <a:noFill/>
          <a:ln/>
        </p:spPr>
        <p:txBody>
          <a:bodyPr wrap="square" lIns="0" tIns="0" rIns="0" bIns="0" rtlCol="0" anchor="ctr"/>
          <a:lstStyle/>
          <a:p>
            <a:pPr algn="ctr" indent="0" marL="0">
              <a:buNone/>
            </a:pPr>
            <a:r>
              <a:rPr lang="en-US" sz="1150" dirty="0">
                <a:solidFill>
                  <a:srgbClr val="5B6B7A"/>
                </a:solidFill>
                <a:latin typeface="Calibri" pitchFamily="34" charset="0"/>
                <a:ea typeface="Calibri" pitchFamily="34" charset="-122"/>
                <a:cs typeface="Calibri" pitchFamily="34" charset="-120"/>
              </a:rPr>
              <a:t>Cancel</a:t>
            </a:r>
            <a:endParaRPr lang="en-US" sz="1150" dirty="0"/>
          </a:p>
        </p:txBody>
      </p:sp>
      <p:sp>
        <p:nvSpPr>
          <p:cNvPr id="65" name="Text 53"/>
          <p:cNvSpPr txBox="1"/>
          <p:nvPr/>
        </p:nvSpPr>
        <p:spPr>
          <a:xfrm>
            <a:off x="8666861" y="4322064"/>
            <a:ext cx="1645920" cy="310896"/>
          </a:xfrm>
          <a:prstGeom prst="rect">
            <a:avLst/>
          </a:prstGeom>
          <a:noFill/>
          <a:ln/>
        </p:spPr>
        <p:txBody>
          <a:bodyPr wrap="square" lIns="0" tIns="0" rIns="0" bIns="0" rtlCol="0" anchor="ctr"/>
          <a:lstStyle/>
          <a:p>
            <a:pPr indent="0" marL="0">
              <a:buNone/>
            </a:pPr>
            <a:r>
              <a:rPr lang="en-US" sz="1000" i="1" dirty="0">
                <a:solidFill>
                  <a:srgbClr val="8A93A0"/>
                </a:solidFill>
                <a:latin typeface="Calibri" pitchFamily="34" charset="0"/>
                <a:ea typeface="Calibri" pitchFamily="34" charset="-122"/>
                <a:cs typeface="Calibri" pitchFamily="34" charset="-120"/>
              </a:rPr>
              <a:t>nothing has run yet</a:t>
            </a:r>
            <a:endParaRPr lang="en-US" sz="1000" dirty="0"/>
          </a:p>
        </p:txBody>
      </p:sp>
      <p:pic>
        <p:nvPicPr>
          <p:cNvPr id="66" name="Image 10" descr="preencoded.png">    </p:cNvPr>
          <p:cNvPicPr>
            <a:picLocks noChangeAspect="1"/>
          </p:cNvPicPr>
          <p:nvPr/>
        </p:nvPicPr>
        <p:blipFill>
          <a:blip r:embed="rId11"/>
          <a:stretch>
            <a:fillRect/>
          </a:stretch>
        </p:blipFill>
        <p:spPr>
          <a:xfrm>
            <a:off x="6583680" y="4870704"/>
            <a:ext cx="182880" cy="182880"/>
          </a:xfrm>
          <a:prstGeom prst="rect">
            <a:avLst/>
          </a:prstGeom>
        </p:spPr>
      </p:pic>
      <p:sp>
        <p:nvSpPr>
          <p:cNvPr id="67" name="Text 54"/>
          <p:cNvSpPr txBox="1"/>
          <p:nvPr/>
        </p:nvSpPr>
        <p:spPr>
          <a:xfrm>
            <a:off x="6858000" y="4852416"/>
            <a:ext cx="4443984" cy="185928"/>
          </a:xfrm>
          <a:prstGeom prst="rect">
            <a:avLst/>
          </a:prstGeom>
          <a:noFill/>
          <a:ln/>
        </p:spPr>
        <p:txBody>
          <a:bodyPr wrap="square" lIns="0" tIns="0" rIns="0" bIns="0" rtlCol="0" anchor="ctr"/>
          <a:lstStyle/>
          <a:p>
            <a:pPr indent="0" marL="0">
              <a:buNone/>
            </a:pPr>
            <a:r>
              <a:rPr lang="en-US" sz="1200" b="1" dirty="0">
                <a:solidFill>
                  <a:srgbClr val="2E7D5B"/>
                </a:solidFill>
                <a:latin typeface="Calibri" pitchFamily="34" charset="0"/>
                <a:ea typeface="Calibri" pitchFamily="34" charset="-122"/>
                <a:cs typeface="Calibri" pitchFamily="34" charset="-120"/>
              </a:rPr>
              <a:t>Card ending 2202 is locked.</a:t>
            </a:r>
            <a:endParaRPr lang="en-US" sz="1200" dirty="0"/>
          </a:p>
        </p:txBody>
      </p:sp>
      <p:pic>
        <p:nvPicPr>
          <p:cNvPr id="68" name="Image 11" descr="preencoded.png">    </p:cNvPr>
          <p:cNvPicPr>
            <a:picLocks noChangeAspect="1"/>
          </p:cNvPicPr>
          <p:nvPr/>
        </p:nvPicPr>
        <p:blipFill>
          <a:blip r:embed="rId12"/>
          <a:stretch>
            <a:fillRect/>
          </a:stretch>
        </p:blipFill>
        <p:spPr>
          <a:xfrm>
            <a:off x="6583680" y="5111496"/>
            <a:ext cx="155448" cy="155448"/>
          </a:xfrm>
          <a:prstGeom prst="rect">
            <a:avLst/>
          </a:prstGeom>
        </p:spPr>
      </p:pic>
      <p:pic>
        <p:nvPicPr>
          <p:cNvPr id="69" name="Image 12" descr="preencoded.png">    </p:cNvPr>
          <p:cNvPicPr>
            <a:picLocks noChangeAspect="1"/>
          </p:cNvPicPr>
          <p:nvPr/>
        </p:nvPicPr>
        <p:blipFill>
          <a:blip r:embed="rId13"/>
          <a:stretch>
            <a:fillRect/>
          </a:stretch>
        </p:blipFill>
        <p:spPr>
          <a:xfrm>
            <a:off x="6876288" y="5111496"/>
            <a:ext cx="155448" cy="155448"/>
          </a:xfrm>
          <a:prstGeom prst="rect">
            <a:avLst/>
          </a:prstGeom>
        </p:spPr>
      </p:pic>
      <p:pic>
        <p:nvPicPr>
          <p:cNvPr id="70" name="Image 13" descr="preencoded.png">    </p:cNvPr>
          <p:cNvPicPr>
            <a:picLocks noChangeAspect="1"/>
          </p:cNvPicPr>
          <p:nvPr/>
        </p:nvPicPr>
        <p:blipFill>
          <a:blip r:embed="rId14"/>
          <a:stretch>
            <a:fillRect/>
          </a:stretch>
        </p:blipFill>
        <p:spPr>
          <a:xfrm>
            <a:off x="7168896" y="5111496"/>
            <a:ext cx="155448" cy="155448"/>
          </a:xfrm>
          <a:prstGeom prst="rect">
            <a:avLst/>
          </a:prstGeom>
        </p:spPr>
      </p:pic>
      <p:pic>
        <p:nvPicPr>
          <p:cNvPr id="71" name="Image 14" descr="preencoded.png">    </p:cNvPr>
          <p:cNvPicPr>
            <a:picLocks noChangeAspect="1"/>
          </p:cNvPicPr>
          <p:nvPr/>
        </p:nvPicPr>
        <p:blipFill>
          <a:blip r:embed="rId15"/>
          <a:stretch>
            <a:fillRect/>
          </a:stretch>
        </p:blipFill>
        <p:spPr>
          <a:xfrm>
            <a:off x="7461504" y="5111496"/>
            <a:ext cx="155448" cy="155448"/>
          </a:xfrm>
          <a:prstGeom prst="rect">
            <a:avLst/>
          </a:prstGeom>
        </p:spPr>
      </p:pic>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Unlock card</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Turn a locked card back on: the wallet turned up, or the pause is over.</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The list only shows clients this advisor may see. A third Sarah Chen exists in our test data but belongs to another advisor, so she never appears.</a:t>
            </a:r>
            <a:endParaRPr lang="en-US" sz="1100" dirty="0"/>
          </a:p>
        </p:txBody>
      </p:sp>
      <p:sp>
        <p:nvSpPr>
          <p:cNvPr id="5" name="Shape 3"/>
          <p:cNvSpPr/>
          <p:nvPr/>
        </p:nvSpPr>
        <p:spPr>
          <a:xfrm>
            <a:off x="10344912" y="420624"/>
            <a:ext cx="1295400" cy="365760"/>
          </a:xfrm>
          <a:prstGeom prst="roundRect">
            <a:avLst>
              <a:gd name="adj" fmla="val 50000"/>
            </a:avLst>
          </a:prstGeom>
          <a:solidFill>
            <a:srgbClr val="EEF4F2"/>
          </a:solidFill>
          <a:ln w="15875">
            <a:solidFill>
              <a:srgbClr val="2E7D5B"/>
            </a:solidFill>
            <a:prstDash val="solid"/>
          </a:ln>
        </p:spPr>
      </p:sp>
      <p:sp>
        <p:nvSpPr>
          <p:cNvPr id="6" name="Text 4"/>
          <p:cNvSpPr txBox="1"/>
          <p:nvPr/>
        </p:nvSpPr>
        <p:spPr>
          <a:xfrm>
            <a:off x="10344912" y="420624"/>
            <a:ext cx="1295400" cy="365760"/>
          </a:xfrm>
          <a:prstGeom prst="rect">
            <a:avLst/>
          </a:prstGeom>
          <a:noFill/>
          <a:ln/>
        </p:spPr>
        <p:txBody>
          <a:bodyPr wrap="square" lIns="0" tIns="0" rIns="0" bIns="0" rtlCol="0" anchor="ctr"/>
          <a:lstStyle/>
          <a:p>
            <a:pPr algn="ctr" indent="0" marL="0">
              <a:buNone/>
            </a:pPr>
            <a:r>
              <a:rPr lang="en-US" sz="1200" b="1" dirty="0">
                <a:solidFill>
                  <a:srgbClr val="2E7D5B"/>
                </a:solidFill>
                <a:latin typeface="Calibri" pitchFamily="34" charset="0"/>
                <a:ea typeface="Calibri" pitchFamily="34" charset="-122"/>
                <a:cs typeface="Calibri" pitchFamily="34" charset="-120"/>
              </a:rPr>
              <a:t>Reversible</a:t>
            </a:r>
            <a:endParaRPr lang="en-US" sz="1200" dirty="0"/>
          </a:p>
        </p:txBody>
      </p:sp>
      <p:sp>
        <p:nvSpPr>
          <p:cNvPr id="7" name="icon circle WHAT IT DOES"/>
          <p:cNvSpPr/>
          <p:nvPr/>
        </p:nvSpPr>
        <p:spPr>
          <a:xfrm>
            <a:off x="548640" y="1463040"/>
            <a:ext cx="310896" cy="310896"/>
          </a:xfrm>
          <a:prstGeom prst="ellipse">
            <a:avLst/>
          </a:prstGeom>
          <a:solidFill>
            <a:srgbClr val="14314F"/>
          </a:solidFill>
          <a:ln w="12700">
            <a:solidFill>
              <a:srgbClr val="14314F"/>
            </a:solidFill>
            <a:prstDash val="solid"/>
          </a:ln>
        </p:spPr>
      </p:sp>
      <p:pic>
        <p:nvPicPr>
          <p:cNvPr id="8" name="Image 0" descr="preencoded.png">    </p:cNvPr>
          <p:cNvPicPr>
            <a:picLocks noChangeAspect="1"/>
          </p:cNvPicPr>
          <p:nvPr/>
        </p:nvPicPr>
        <p:blipFill>
          <a:blip r:embed="rId1"/>
          <a:stretch>
            <a:fillRect/>
          </a:stretch>
        </p:blipFill>
        <p:spPr>
          <a:xfrm>
            <a:off x="621792" y="1536192"/>
            <a:ext cx="164592" cy="164592"/>
          </a:xfrm>
          <a:prstGeom prst="rect">
            <a:avLst/>
          </a:prstGeom>
        </p:spPr>
      </p:pic>
      <p:sp>
        <p:nvSpPr>
          <p:cNvPr id="9" name="Text 6"/>
          <p:cNvSpPr txBox="1"/>
          <p:nvPr/>
        </p:nvSpPr>
        <p:spPr>
          <a:xfrm>
            <a:off x="969264" y="1481328"/>
            <a:ext cx="4572000" cy="274320"/>
          </a:xfrm>
          <a:prstGeom prst="rect">
            <a:avLst/>
          </a:prstGeom>
          <a:noFill/>
          <a:ln/>
        </p:spPr>
        <p:txBody>
          <a:bodyPr wrap="square" lIns="0" tIns="0" rIns="0" bIns="0" rtlCol="0" anchor="ctr"/>
          <a:lstStyle/>
          <a:p>
            <a:pPr indent="0" marL="0">
              <a:buNone/>
            </a:pPr>
            <a:r>
              <a:rPr lang="en-US" sz="1100" b="1" spc="150" kern="0" dirty="0">
                <a:solidFill>
                  <a:srgbClr val="14314F"/>
                </a:solidFill>
                <a:latin typeface="Calibri" pitchFamily="34" charset="0"/>
                <a:ea typeface="Calibri" pitchFamily="34" charset="-122"/>
                <a:cs typeface="Calibri" pitchFamily="34" charset="-120"/>
              </a:rPr>
              <a:t>WHAT IT DOES</a:t>
            </a:r>
            <a:endParaRPr lang="en-US" sz="1100" dirty="0"/>
          </a:p>
        </p:txBody>
      </p:sp>
      <p:sp>
        <p:nvSpPr>
          <p:cNvPr id="10" name="Text 7"/>
          <p:cNvSpPr txBox="1"/>
          <p:nvPr/>
        </p:nvSpPr>
        <p:spPr>
          <a:xfrm>
            <a:off x="548640" y="1847088"/>
            <a:ext cx="5440680" cy="566928"/>
          </a:xfrm>
          <a:prstGeom prst="rect">
            <a:avLst/>
          </a:prstGeom>
          <a:noFill/>
          <a:ln/>
        </p:spPr>
        <p:txBody>
          <a:bodyPr wrap="square" lIns="0" tIns="0" rIns="0" bIns="0" rtlCol="0" anchor="t"/>
          <a:lstStyle/>
          <a:p>
            <a:pPr indent="0" marL="0">
              <a:buNone/>
            </a:pPr>
            <a:r>
              <a:rPr lang="en-US" sz="1700" dirty="0">
                <a:solidFill>
                  <a:srgbClr val="14314F"/>
                </a:solidFill>
                <a:latin typeface="Cambria" pitchFamily="34" charset="0"/>
                <a:ea typeface="Cambria" pitchFamily="34" charset="-122"/>
                <a:cs typeface="Cambria" pitchFamily="34" charset="-120"/>
              </a:rPr>
              <a:t>Removes a temporary lock, so the card works again.</a:t>
            </a:r>
            <a:endParaRPr lang="en-US" sz="1700" dirty="0"/>
          </a:p>
        </p:txBody>
      </p:sp>
      <p:sp>
        <p:nvSpPr>
          <p:cNvPr id="11" name="icon circle THE ADVISOR MIGHT SAY"/>
          <p:cNvSpPr/>
          <p:nvPr/>
        </p:nvSpPr>
        <p:spPr>
          <a:xfrm>
            <a:off x="548640" y="2542032"/>
            <a:ext cx="310896" cy="310896"/>
          </a:xfrm>
          <a:prstGeom prst="ellipse">
            <a:avLst/>
          </a:prstGeom>
          <a:solidFill>
            <a:srgbClr val="A5851F"/>
          </a:solidFill>
          <a:ln w="12700">
            <a:solidFill>
              <a:srgbClr val="A5851F"/>
            </a:solidFill>
            <a:prstDash val="solid"/>
          </a:ln>
        </p:spPr>
      </p:sp>
      <p:pic>
        <p:nvPicPr>
          <p:cNvPr id="12" name="Image 1" descr="preencoded.png">    </p:cNvPr>
          <p:cNvPicPr>
            <a:picLocks noChangeAspect="1"/>
          </p:cNvPicPr>
          <p:nvPr/>
        </p:nvPicPr>
        <p:blipFill>
          <a:blip r:embed="rId2"/>
          <a:stretch>
            <a:fillRect/>
          </a:stretch>
        </p:blipFill>
        <p:spPr>
          <a:xfrm>
            <a:off x="621792" y="2615184"/>
            <a:ext cx="164592" cy="164592"/>
          </a:xfrm>
          <a:prstGeom prst="rect">
            <a:avLst/>
          </a:prstGeom>
        </p:spPr>
      </p:pic>
      <p:sp>
        <p:nvSpPr>
          <p:cNvPr id="13" name="Text 9"/>
          <p:cNvSpPr txBox="1"/>
          <p:nvPr/>
        </p:nvSpPr>
        <p:spPr>
          <a:xfrm>
            <a:off x="969264" y="2560320"/>
            <a:ext cx="4572000" cy="274320"/>
          </a:xfrm>
          <a:prstGeom prst="rect">
            <a:avLst/>
          </a:prstGeom>
          <a:noFill/>
          <a:ln/>
        </p:spPr>
        <p:txBody>
          <a:bodyPr wrap="square" lIns="0" tIns="0" rIns="0" bIns="0" rtlCol="0" anchor="ctr"/>
          <a:lstStyle/>
          <a:p>
            <a:pPr indent="0" marL="0">
              <a:buNone/>
            </a:pPr>
            <a:r>
              <a:rPr lang="en-US" sz="1100" b="1" spc="150" kern="0" dirty="0">
                <a:solidFill>
                  <a:srgbClr val="A5851F"/>
                </a:solidFill>
                <a:latin typeface="Calibri" pitchFamily="34" charset="0"/>
                <a:ea typeface="Calibri" pitchFamily="34" charset="-122"/>
                <a:cs typeface="Calibri" pitchFamily="34" charset="-120"/>
              </a:rPr>
              <a:t>THE ADVISOR MIGHT SAY</a:t>
            </a:r>
            <a:endParaRPr lang="en-US" sz="1100" dirty="0"/>
          </a:p>
        </p:txBody>
      </p:sp>
      <p:sp>
        <p:nvSpPr>
          <p:cNvPr id="14" name="Shape 10"/>
          <p:cNvSpPr/>
          <p:nvPr/>
        </p:nvSpPr>
        <p:spPr>
          <a:xfrm>
            <a:off x="548640" y="2926080"/>
            <a:ext cx="971296" cy="329184"/>
          </a:xfrm>
          <a:prstGeom prst="roundRect">
            <a:avLst>
              <a:gd name="adj" fmla="val 50000"/>
            </a:avLst>
          </a:prstGeom>
          <a:solidFill>
            <a:srgbClr val="FDF8E8"/>
          </a:solidFill>
          <a:ln w="12700">
            <a:solidFill>
              <a:srgbClr val="E0D3A8"/>
            </a:solidFill>
            <a:prstDash val="solid"/>
          </a:ln>
        </p:spPr>
      </p:sp>
      <p:sp>
        <p:nvSpPr>
          <p:cNvPr id="15" name="Text 11"/>
          <p:cNvSpPr txBox="1"/>
          <p:nvPr/>
        </p:nvSpPr>
        <p:spPr>
          <a:xfrm>
            <a:off x="548640" y="2926080"/>
            <a:ext cx="97129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“unlock”</a:t>
            </a:r>
            <a:endParaRPr lang="en-US" sz="1250" dirty="0"/>
          </a:p>
        </p:txBody>
      </p:sp>
      <p:sp>
        <p:nvSpPr>
          <p:cNvPr id="16" name="Shape 12"/>
          <p:cNvSpPr/>
          <p:nvPr/>
        </p:nvSpPr>
        <p:spPr>
          <a:xfrm>
            <a:off x="1629664" y="2926080"/>
            <a:ext cx="1053846" cy="329184"/>
          </a:xfrm>
          <a:prstGeom prst="roundRect">
            <a:avLst>
              <a:gd name="adj" fmla="val 50000"/>
            </a:avLst>
          </a:prstGeom>
          <a:solidFill>
            <a:srgbClr val="FDF8E8"/>
          </a:solidFill>
          <a:ln w="12700">
            <a:solidFill>
              <a:srgbClr val="E0D3A8"/>
            </a:solidFill>
            <a:prstDash val="solid"/>
          </a:ln>
        </p:spPr>
      </p:sp>
      <p:sp>
        <p:nvSpPr>
          <p:cNvPr id="17" name="Text 13"/>
          <p:cNvSpPr txBox="1"/>
          <p:nvPr/>
        </p:nvSpPr>
        <p:spPr>
          <a:xfrm>
            <a:off x="1629664" y="2926080"/>
            <a:ext cx="105384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“unblock”</a:t>
            </a:r>
            <a:endParaRPr lang="en-US" sz="1250" dirty="0"/>
          </a:p>
        </p:txBody>
      </p:sp>
      <p:sp>
        <p:nvSpPr>
          <p:cNvPr id="18" name="Shape 14"/>
          <p:cNvSpPr/>
          <p:nvPr/>
        </p:nvSpPr>
        <p:spPr>
          <a:xfrm>
            <a:off x="2793238" y="2926080"/>
            <a:ext cx="1301496" cy="329184"/>
          </a:xfrm>
          <a:prstGeom prst="roundRect">
            <a:avLst>
              <a:gd name="adj" fmla="val 50000"/>
            </a:avLst>
          </a:prstGeom>
          <a:solidFill>
            <a:srgbClr val="FDF8E8"/>
          </a:solidFill>
          <a:ln w="12700">
            <a:solidFill>
              <a:srgbClr val="E0D3A8"/>
            </a:solidFill>
            <a:prstDash val="solid"/>
          </a:ln>
        </p:spPr>
      </p:sp>
      <p:sp>
        <p:nvSpPr>
          <p:cNvPr id="19" name="Text 15"/>
          <p:cNvSpPr txBox="1"/>
          <p:nvPr/>
        </p:nvSpPr>
        <p:spPr>
          <a:xfrm>
            <a:off x="2793238" y="2926080"/>
            <a:ext cx="130149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“reactivate”</a:t>
            </a:r>
            <a:endParaRPr lang="en-US" sz="1250" dirty="0"/>
          </a:p>
        </p:txBody>
      </p:sp>
      <p:sp>
        <p:nvSpPr>
          <p:cNvPr id="20" name="Shape 16"/>
          <p:cNvSpPr/>
          <p:nvPr/>
        </p:nvSpPr>
        <p:spPr>
          <a:xfrm>
            <a:off x="4204462" y="2926080"/>
            <a:ext cx="1714246" cy="329184"/>
          </a:xfrm>
          <a:prstGeom prst="roundRect">
            <a:avLst>
              <a:gd name="adj" fmla="val 50000"/>
            </a:avLst>
          </a:prstGeom>
          <a:solidFill>
            <a:srgbClr val="FDF8E8"/>
          </a:solidFill>
          <a:ln w="12700">
            <a:solidFill>
              <a:srgbClr val="E0D3A8"/>
            </a:solidFill>
            <a:prstDash val="solid"/>
          </a:ln>
        </p:spPr>
      </p:sp>
      <p:sp>
        <p:nvSpPr>
          <p:cNvPr id="21" name="Text 17"/>
          <p:cNvSpPr txBox="1"/>
          <p:nvPr/>
        </p:nvSpPr>
        <p:spPr>
          <a:xfrm>
            <a:off x="4204462" y="2926080"/>
            <a:ext cx="171424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“turn it back on”</a:t>
            </a:r>
            <a:endParaRPr lang="en-US" sz="1250" dirty="0"/>
          </a:p>
        </p:txBody>
      </p:sp>
      <p:sp>
        <p:nvSpPr>
          <p:cNvPr id="22" name="icon circle WHAT THE CHAT NEEDS BEFORE IT ACTS"/>
          <p:cNvSpPr/>
          <p:nvPr/>
        </p:nvSpPr>
        <p:spPr>
          <a:xfrm>
            <a:off x="548640" y="3474720"/>
            <a:ext cx="310896" cy="310896"/>
          </a:xfrm>
          <a:prstGeom prst="ellipse">
            <a:avLst/>
          </a:prstGeom>
          <a:solidFill>
            <a:srgbClr val="14314F"/>
          </a:solidFill>
          <a:ln w="12700">
            <a:solidFill>
              <a:srgbClr val="14314F"/>
            </a:solidFill>
            <a:prstDash val="solid"/>
          </a:ln>
        </p:spPr>
      </p:sp>
      <p:pic>
        <p:nvPicPr>
          <p:cNvPr id="23" name="Image 2" descr="preencoded.png">    </p:cNvPr>
          <p:cNvPicPr>
            <a:picLocks noChangeAspect="1"/>
          </p:cNvPicPr>
          <p:nvPr/>
        </p:nvPicPr>
        <p:blipFill>
          <a:blip r:embed="rId3"/>
          <a:stretch>
            <a:fillRect/>
          </a:stretch>
        </p:blipFill>
        <p:spPr>
          <a:xfrm>
            <a:off x="621792" y="3547872"/>
            <a:ext cx="164592" cy="164592"/>
          </a:xfrm>
          <a:prstGeom prst="rect">
            <a:avLst/>
          </a:prstGeom>
        </p:spPr>
      </p:pic>
      <p:sp>
        <p:nvSpPr>
          <p:cNvPr id="24" name="Text 19"/>
          <p:cNvSpPr txBox="1"/>
          <p:nvPr/>
        </p:nvSpPr>
        <p:spPr>
          <a:xfrm>
            <a:off x="969264" y="3493008"/>
            <a:ext cx="4572000" cy="274320"/>
          </a:xfrm>
          <a:prstGeom prst="rect">
            <a:avLst/>
          </a:prstGeom>
          <a:noFill/>
          <a:ln/>
        </p:spPr>
        <p:txBody>
          <a:bodyPr wrap="square" lIns="0" tIns="0" rIns="0" bIns="0" rtlCol="0" anchor="ctr"/>
          <a:lstStyle/>
          <a:p>
            <a:pPr indent="0" marL="0">
              <a:buNone/>
            </a:pPr>
            <a:r>
              <a:rPr lang="en-US" sz="1100" b="1" spc="150" kern="0" dirty="0">
                <a:solidFill>
                  <a:srgbClr val="14314F"/>
                </a:solidFill>
                <a:latin typeface="Calibri" pitchFamily="34" charset="0"/>
                <a:ea typeface="Calibri" pitchFamily="34" charset="-122"/>
                <a:cs typeface="Calibri" pitchFamily="34" charset="-120"/>
              </a:rPr>
              <a:t>WHAT THE CHAT NEEDS BEFORE IT ACTS</a:t>
            </a:r>
            <a:endParaRPr lang="en-US" sz="1100" dirty="0"/>
          </a:p>
        </p:txBody>
      </p:sp>
      <p:sp>
        <p:nvSpPr>
          <p:cNvPr id="25" name="Shape 20"/>
          <p:cNvSpPr/>
          <p:nvPr/>
        </p:nvSpPr>
        <p:spPr>
          <a:xfrm>
            <a:off x="548640" y="3858768"/>
            <a:ext cx="806196" cy="329184"/>
          </a:xfrm>
          <a:prstGeom prst="roundRect">
            <a:avLst>
              <a:gd name="adj" fmla="val 50000"/>
            </a:avLst>
          </a:prstGeom>
          <a:solidFill>
            <a:srgbClr val="FFFFFF"/>
          </a:solidFill>
          <a:ln w="12700">
            <a:solidFill>
              <a:srgbClr val="14314F"/>
            </a:solidFill>
            <a:prstDash val="solid"/>
          </a:ln>
        </p:spPr>
      </p:sp>
      <p:sp>
        <p:nvSpPr>
          <p:cNvPr id="26" name="Text 21"/>
          <p:cNvSpPr txBox="1"/>
          <p:nvPr/>
        </p:nvSpPr>
        <p:spPr>
          <a:xfrm>
            <a:off x="548640" y="3858768"/>
            <a:ext cx="8061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Client</a:t>
            </a:r>
            <a:endParaRPr lang="en-US" sz="1250" dirty="0"/>
          </a:p>
        </p:txBody>
      </p:sp>
      <p:sp>
        <p:nvSpPr>
          <p:cNvPr id="27" name="Shape 22"/>
          <p:cNvSpPr/>
          <p:nvPr/>
        </p:nvSpPr>
        <p:spPr>
          <a:xfrm>
            <a:off x="1464564" y="3858768"/>
            <a:ext cx="641096" cy="329184"/>
          </a:xfrm>
          <a:prstGeom prst="roundRect">
            <a:avLst>
              <a:gd name="adj" fmla="val 50000"/>
            </a:avLst>
          </a:prstGeom>
          <a:solidFill>
            <a:srgbClr val="FFFFFF"/>
          </a:solidFill>
          <a:ln w="12700">
            <a:solidFill>
              <a:srgbClr val="14314F"/>
            </a:solidFill>
            <a:prstDash val="solid"/>
          </a:ln>
        </p:spPr>
      </p:sp>
      <p:sp>
        <p:nvSpPr>
          <p:cNvPr id="28" name="Text 23"/>
          <p:cNvSpPr txBox="1"/>
          <p:nvPr/>
        </p:nvSpPr>
        <p:spPr>
          <a:xfrm>
            <a:off x="1464564" y="3858768"/>
            <a:ext cx="6410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Card</a:t>
            </a:r>
            <a:endParaRPr lang="en-US" sz="1250" dirty="0"/>
          </a:p>
        </p:txBody>
      </p:sp>
      <p:sp>
        <p:nvSpPr>
          <p:cNvPr id="29" name="Shape 24"/>
          <p:cNvSpPr/>
          <p:nvPr/>
        </p:nvSpPr>
        <p:spPr>
          <a:xfrm>
            <a:off x="548640" y="4590288"/>
            <a:ext cx="5440680" cy="1572768"/>
          </a:xfrm>
          <a:prstGeom prst="roundRect">
            <a:avLst>
              <a:gd name="adj" fmla="val 5814"/>
            </a:avLst>
          </a:prstGeom>
          <a:solidFill>
            <a:srgbClr val="EEF4F2"/>
          </a:solidFill>
          <a:ln w="12700">
            <a:solidFill>
              <a:srgbClr val="B9D3C6"/>
            </a:solidFill>
            <a:prstDash val="solid"/>
          </a:ln>
        </p:spPr>
      </p:sp>
      <p:sp>
        <p:nvSpPr>
          <p:cNvPr id="30" name="icon circle BUILT-IN SAFETY"/>
          <p:cNvSpPr/>
          <p:nvPr/>
        </p:nvSpPr>
        <p:spPr>
          <a:xfrm>
            <a:off x="731520" y="4736592"/>
            <a:ext cx="310896" cy="310896"/>
          </a:xfrm>
          <a:prstGeom prst="ellipse">
            <a:avLst/>
          </a:prstGeom>
          <a:solidFill>
            <a:srgbClr val="2E7D5B"/>
          </a:solidFill>
          <a:ln w="12700">
            <a:solidFill>
              <a:srgbClr val="2E7D5B"/>
            </a:solidFill>
            <a:prstDash val="solid"/>
          </a:ln>
        </p:spPr>
      </p:sp>
      <p:pic>
        <p:nvPicPr>
          <p:cNvPr id="31" name="Image 3" descr="preencoded.png">    </p:cNvPr>
          <p:cNvPicPr>
            <a:picLocks noChangeAspect="1"/>
          </p:cNvPicPr>
          <p:nvPr/>
        </p:nvPicPr>
        <p:blipFill>
          <a:blip r:embed="rId4"/>
          <a:stretch>
            <a:fillRect/>
          </a:stretch>
        </p:blipFill>
        <p:spPr>
          <a:xfrm>
            <a:off x="804672" y="4809744"/>
            <a:ext cx="164592" cy="164592"/>
          </a:xfrm>
          <a:prstGeom prst="rect">
            <a:avLst/>
          </a:prstGeom>
        </p:spPr>
      </p:pic>
      <p:sp>
        <p:nvSpPr>
          <p:cNvPr id="32" name="Text 26"/>
          <p:cNvSpPr txBox="1"/>
          <p:nvPr/>
        </p:nvSpPr>
        <p:spPr>
          <a:xfrm>
            <a:off x="1152144" y="4754880"/>
            <a:ext cx="4572000" cy="274320"/>
          </a:xfrm>
          <a:prstGeom prst="rect">
            <a:avLst/>
          </a:prstGeom>
          <a:noFill/>
          <a:ln/>
        </p:spPr>
        <p:txBody>
          <a:bodyPr wrap="square" lIns="0" tIns="0" rIns="0" bIns="0" rtlCol="0" anchor="ctr"/>
          <a:lstStyle/>
          <a:p>
            <a:pPr indent="0" marL="0">
              <a:buNone/>
            </a:pPr>
            <a:r>
              <a:rPr lang="en-US" sz="1100" b="1" spc="150" kern="0" dirty="0">
                <a:solidFill>
                  <a:srgbClr val="2E7D5B"/>
                </a:solidFill>
                <a:latin typeface="Calibri" pitchFamily="34" charset="0"/>
                <a:ea typeface="Calibri" pitchFamily="34" charset="-122"/>
                <a:cs typeface="Calibri" pitchFamily="34" charset="-120"/>
              </a:rPr>
              <a:t>BUILT-IN SAFETY</a:t>
            </a:r>
            <a:endParaRPr lang="en-US" sz="1100" dirty="0"/>
          </a:p>
        </p:txBody>
      </p:sp>
      <p:sp>
        <p:nvSpPr>
          <p:cNvPr id="33" name="Text 27"/>
          <p:cNvSpPr txBox="1"/>
          <p:nvPr/>
        </p:nvSpPr>
        <p:spPr>
          <a:xfrm>
            <a:off x="777240" y="5138928"/>
            <a:ext cx="5029200" cy="93268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Two clients with the same name? It lists both and asks.</a:t>
            </a:r>
            <a:endParaRPr lang="en-US" sz="1300" dirty="0"/>
          </a:p>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Card closed rather than locked? It says a replacement is needed.</a:t>
            </a:r>
            <a:endParaRPr lang="en-US" sz="1300" dirty="0"/>
          </a:p>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Card not locked? It says so and does nothing.</a:t>
            </a:r>
            <a:endParaRPr lang="en-US" sz="1300" dirty="0"/>
          </a:p>
        </p:txBody>
      </p:sp>
      <p:sp>
        <p:nvSpPr>
          <p:cNvPr id="34" name="NetX AI panel"/>
          <p:cNvSpPr/>
          <p:nvPr/>
        </p:nvSpPr>
        <p:spPr>
          <a:xfrm>
            <a:off x="6355080" y="1371600"/>
            <a:ext cx="5285232" cy="4846320"/>
          </a:xfrm>
          <a:prstGeom prst="roundRect">
            <a:avLst>
              <a:gd name="adj" fmla="val 1887"/>
            </a:avLst>
          </a:prstGeom>
          <a:solidFill>
            <a:srgbClr val="F5F8FC"/>
          </a:solidFill>
          <a:ln w="12700">
            <a:solidFill>
              <a:srgbClr val="D5DDE8"/>
            </a:solidFill>
            <a:prstDash val="solid"/>
          </a:ln>
        </p:spPr>
      </p:sp>
      <p:pic>
        <p:nvPicPr>
          <p:cNvPr id="35" name="Image 4" descr="preencoded.png">    </p:cNvPr>
          <p:cNvPicPr>
            <a:picLocks noChangeAspect="1"/>
          </p:cNvPicPr>
          <p:nvPr/>
        </p:nvPicPr>
        <p:blipFill>
          <a:blip r:embed="rId5"/>
          <a:stretch>
            <a:fillRect/>
          </a:stretch>
        </p:blipFill>
        <p:spPr>
          <a:xfrm>
            <a:off x="6556248" y="1508760"/>
            <a:ext cx="182880" cy="182880"/>
          </a:xfrm>
          <a:prstGeom prst="rect">
            <a:avLst/>
          </a:prstGeom>
        </p:spPr>
      </p:pic>
      <p:sp>
        <p:nvSpPr>
          <p:cNvPr id="36" name="Text 29"/>
          <p:cNvSpPr txBox="1"/>
          <p:nvPr/>
        </p:nvSpPr>
        <p:spPr>
          <a:xfrm>
            <a:off x="6793992" y="1472184"/>
            <a:ext cx="1828800" cy="256032"/>
          </a:xfrm>
          <a:prstGeom prst="rect">
            <a:avLst/>
          </a:prstGeom>
          <a:noFill/>
          <a:ln/>
        </p:spPr>
        <p:txBody>
          <a:bodyPr wrap="square" lIns="0" tIns="0" rIns="0" bIns="0" rtlCol="0" anchor="ctr"/>
          <a:lstStyle/>
          <a:p>
            <a:pPr indent="0" marL="0">
              <a:buNone/>
            </a:pPr>
            <a:r>
              <a:rPr lang="en-US" sz="1300" b="1" dirty="0">
                <a:solidFill>
                  <a:srgbClr val="1F2D4A"/>
                </a:solidFill>
                <a:latin typeface="Calibri" pitchFamily="34" charset="0"/>
                <a:ea typeface="Calibri" pitchFamily="34" charset="-122"/>
                <a:cs typeface="Calibri" pitchFamily="34" charset="-120"/>
              </a:rPr>
              <a:t>NetX AI</a:t>
            </a:r>
            <a:endParaRPr lang="en-US" sz="1300" dirty="0"/>
          </a:p>
        </p:txBody>
      </p:sp>
      <p:pic>
        <p:nvPicPr>
          <p:cNvPr id="37" name="Image 5" descr="preencoded.png">    </p:cNvPr>
          <p:cNvPicPr>
            <a:picLocks noChangeAspect="1"/>
          </p:cNvPicPr>
          <p:nvPr/>
        </p:nvPicPr>
        <p:blipFill>
          <a:blip r:embed="rId6"/>
          <a:stretch>
            <a:fillRect/>
          </a:stretch>
        </p:blipFill>
        <p:spPr>
          <a:xfrm>
            <a:off x="10927080" y="1517904"/>
            <a:ext cx="164592" cy="164592"/>
          </a:xfrm>
          <a:prstGeom prst="rect">
            <a:avLst/>
          </a:prstGeom>
        </p:spPr>
      </p:pic>
      <p:pic>
        <p:nvPicPr>
          <p:cNvPr id="38" name="Image 6" descr="preencoded.png">    </p:cNvPr>
          <p:cNvPicPr>
            <a:picLocks noChangeAspect="1"/>
          </p:cNvPicPr>
          <p:nvPr/>
        </p:nvPicPr>
        <p:blipFill>
          <a:blip r:embed="rId7"/>
          <a:stretch>
            <a:fillRect/>
          </a:stretch>
        </p:blipFill>
        <p:spPr>
          <a:xfrm>
            <a:off x="11228832" y="1517904"/>
            <a:ext cx="164592" cy="164592"/>
          </a:xfrm>
          <a:prstGeom prst="rect">
            <a:avLst/>
          </a:prstGeom>
        </p:spPr>
      </p:pic>
      <p:sp>
        <p:nvSpPr>
          <p:cNvPr id="39" name="Shape 30"/>
          <p:cNvSpPr/>
          <p:nvPr/>
        </p:nvSpPr>
        <p:spPr>
          <a:xfrm>
            <a:off x="11457432" y="3200400"/>
            <a:ext cx="237744" cy="868680"/>
          </a:xfrm>
          <a:prstGeom prst="roundRect">
            <a:avLst>
              <a:gd name="adj" fmla="val 19231"/>
            </a:avLst>
          </a:prstGeom>
          <a:solidFill>
            <a:srgbClr val="1F2D4A"/>
          </a:solidFill>
          <a:ln w="12700">
            <a:solidFill>
              <a:srgbClr val="1F2D4A"/>
            </a:solidFill>
            <a:prstDash val="solid"/>
          </a:ln>
        </p:spPr>
      </p:sp>
      <p:sp>
        <p:nvSpPr>
          <p:cNvPr id="40" name="Text 31"/>
          <p:cNvSpPr txBox="1"/>
          <p:nvPr/>
        </p:nvSpPr>
        <p:spPr>
          <a:xfrm rot="5400000">
            <a:off x="11132820" y="3529584"/>
            <a:ext cx="8686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Guide Me</a:t>
            </a:r>
            <a:endParaRPr lang="en-US" sz="900" dirty="0"/>
          </a:p>
        </p:txBody>
      </p:sp>
      <p:sp>
        <p:nvSpPr>
          <p:cNvPr id="41" name="Shape 32"/>
          <p:cNvSpPr/>
          <p:nvPr/>
        </p:nvSpPr>
        <p:spPr>
          <a:xfrm>
            <a:off x="6537960" y="5504688"/>
            <a:ext cx="4828032" cy="384048"/>
          </a:xfrm>
          <a:prstGeom prst="roundRect">
            <a:avLst>
              <a:gd name="adj" fmla="val 23810"/>
            </a:avLst>
          </a:prstGeom>
          <a:solidFill>
            <a:srgbClr val="FFFFFF"/>
          </a:solidFill>
          <a:ln w="12700">
            <a:solidFill>
              <a:srgbClr val="D5DDE8"/>
            </a:solidFill>
            <a:prstDash val="solid"/>
          </a:ln>
        </p:spPr>
      </p:sp>
      <p:pic>
        <p:nvPicPr>
          <p:cNvPr id="42" name="Image 7" descr="preencoded.png">    </p:cNvPr>
          <p:cNvPicPr>
            <a:picLocks noChangeAspect="1"/>
          </p:cNvPicPr>
          <p:nvPr/>
        </p:nvPicPr>
        <p:blipFill>
          <a:blip r:embed="rId8"/>
          <a:stretch>
            <a:fillRect/>
          </a:stretch>
        </p:blipFill>
        <p:spPr>
          <a:xfrm>
            <a:off x="6665976" y="5614416"/>
            <a:ext cx="164592" cy="164592"/>
          </a:xfrm>
          <a:prstGeom prst="rect">
            <a:avLst/>
          </a:prstGeom>
        </p:spPr>
      </p:pic>
      <p:sp>
        <p:nvSpPr>
          <p:cNvPr id="43" name="Text 33"/>
          <p:cNvSpPr txBox="1"/>
          <p:nvPr/>
        </p:nvSpPr>
        <p:spPr>
          <a:xfrm>
            <a:off x="6922008" y="5504688"/>
            <a:ext cx="2743200" cy="384048"/>
          </a:xfrm>
          <a:prstGeom prst="rect">
            <a:avLst/>
          </a:prstGeom>
          <a:noFill/>
          <a:ln/>
        </p:spPr>
        <p:txBody>
          <a:bodyPr wrap="square" lIns="0" tIns="0" rIns="0" bIns="0" rtlCol="0" anchor="ctr"/>
          <a:lstStyle/>
          <a:p>
            <a:pPr indent="0" marL="0">
              <a:buNone/>
            </a:pPr>
            <a:r>
              <a:rPr lang="en-US" sz="1100" dirty="0">
                <a:solidFill>
                  <a:srgbClr val="8A93A0"/>
                </a:solidFill>
                <a:latin typeface="Calibri" pitchFamily="34" charset="0"/>
                <a:ea typeface="Calibri" pitchFamily="34" charset="-122"/>
                <a:cs typeface="Calibri" pitchFamily="34" charset="-120"/>
              </a:rPr>
              <a:t>Ask NetX AI</a:t>
            </a:r>
            <a:endParaRPr lang="en-US" sz="1100" dirty="0"/>
          </a:p>
        </p:txBody>
      </p:sp>
      <p:pic>
        <p:nvPicPr>
          <p:cNvPr id="44" name="Image 8" descr="preencoded.png">    </p:cNvPr>
          <p:cNvPicPr>
            <a:picLocks noChangeAspect="1"/>
          </p:cNvPicPr>
          <p:nvPr/>
        </p:nvPicPr>
        <p:blipFill>
          <a:blip r:embed="rId9"/>
          <a:stretch>
            <a:fillRect/>
          </a:stretch>
        </p:blipFill>
        <p:spPr>
          <a:xfrm>
            <a:off x="10707624" y="5614416"/>
            <a:ext cx="164592" cy="164592"/>
          </a:xfrm>
          <a:prstGeom prst="rect">
            <a:avLst/>
          </a:prstGeom>
        </p:spPr>
      </p:pic>
      <p:sp>
        <p:nvSpPr>
          <p:cNvPr id="45" name="Shape 34"/>
          <p:cNvSpPr/>
          <p:nvPr/>
        </p:nvSpPr>
        <p:spPr>
          <a:xfrm>
            <a:off x="10981944" y="5559552"/>
            <a:ext cx="274320" cy="274320"/>
          </a:xfrm>
          <a:prstGeom prst="ellipse">
            <a:avLst/>
          </a:prstGeom>
          <a:solidFill>
            <a:srgbClr val="2F5D9A"/>
          </a:solidFill>
          <a:ln w="12700">
            <a:solidFill>
              <a:srgbClr val="2F5D9A"/>
            </a:solidFill>
            <a:prstDash val="solid"/>
          </a:ln>
        </p:spPr>
      </p:sp>
      <p:pic>
        <p:nvPicPr>
          <p:cNvPr id="46" name="Image 9" descr="preencoded.png">    </p:cNvPr>
          <p:cNvPicPr>
            <a:picLocks noChangeAspect="1"/>
          </p:cNvPicPr>
          <p:nvPr/>
        </p:nvPicPr>
        <p:blipFill>
          <a:blip r:embed="rId10"/>
          <a:stretch>
            <a:fillRect/>
          </a:stretch>
        </p:blipFill>
        <p:spPr>
          <a:xfrm>
            <a:off x="11045952" y="5623560"/>
            <a:ext cx="146304" cy="146304"/>
          </a:xfrm>
          <a:prstGeom prst="rect">
            <a:avLst/>
          </a:prstGeom>
        </p:spPr>
      </p:pic>
      <p:sp>
        <p:nvSpPr>
          <p:cNvPr id="47" name="Text 35"/>
          <p:cNvSpPr txBox="1"/>
          <p:nvPr/>
        </p:nvSpPr>
        <p:spPr>
          <a:xfrm>
            <a:off x="6537960" y="5943600"/>
            <a:ext cx="4828032" cy="219456"/>
          </a:xfrm>
          <a:prstGeom prst="rect">
            <a:avLst/>
          </a:prstGeom>
          <a:noFill/>
          <a:ln/>
        </p:spPr>
        <p:txBody>
          <a:bodyPr wrap="square" lIns="0" tIns="0" rIns="0" bIns="0" rtlCol="0" anchor="ctr"/>
          <a:lstStyle/>
          <a:p>
            <a:pPr algn="ctr" indent="0" marL="0">
              <a:buNone/>
            </a:pPr>
            <a:r>
              <a:rPr lang="en-US" sz="900" dirty="0">
                <a:solidFill>
                  <a:srgbClr val="8A93A0"/>
                </a:solidFill>
                <a:latin typeface="Calibri" pitchFamily="34" charset="0"/>
                <a:ea typeface="Calibri" pitchFamily="34" charset="-122"/>
                <a:cs typeface="Calibri" pitchFamily="34" charset="-120"/>
              </a:rPr>
              <a:t>Please note: AI can make mistakes. All data shown here is synthetic.</a:t>
            </a:r>
            <a:endParaRPr lang="en-US" sz="900" dirty="0"/>
          </a:p>
        </p:txBody>
      </p:sp>
      <p:sp>
        <p:nvSpPr>
          <p:cNvPr id="48" name="Shape 36"/>
          <p:cNvSpPr/>
          <p:nvPr/>
        </p:nvSpPr>
        <p:spPr>
          <a:xfrm>
            <a:off x="9180576" y="1920240"/>
            <a:ext cx="2121408" cy="350520"/>
          </a:xfrm>
          <a:prstGeom prst="roundRect">
            <a:avLst>
              <a:gd name="adj" fmla="val 44348"/>
            </a:avLst>
          </a:prstGeom>
          <a:solidFill>
            <a:srgbClr val="DCE6F4"/>
          </a:solidFill>
          <a:ln w="12700">
            <a:solidFill>
              <a:srgbClr val="DCE6F4"/>
            </a:solidFill>
            <a:prstDash val="solid"/>
          </a:ln>
        </p:spPr>
      </p:sp>
      <p:sp>
        <p:nvSpPr>
          <p:cNvPr id="49" name="Text 37"/>
          <p:cNvSpPr txBox="1"/>
          <p:nvPr/>
        </p:nvSpPr>
        <p:spPr>
          <a:xfrm>
            <a:off x="9345168" y="1920240"/>
            <a:ext cx="1792224" cy="350520"/>
          </a:xfrm>
          <a:prstGeom prst="rect">
            <a:avLst/>
          </a:prstGeom>
          <a:noFill/>
          <a:ln/>
        </p:spPr>
        <p:txBody>
          <a:bodyPr wrap="square" lIns="0" tIns="0" rIns="0" bIns="0" rtlCol="0" anchor="ctr"/>
          <a:lstStyle/>
          <a:p>
            <a:pPr indent="0" marL="0">
              <a:buNone/>
            </a:pPr>
            <a:r>
              <a:rPr lang="en-US" sz="1200" dirty="0">
                <a:solidFill>
                  <a:srgbClr val="2B2F36"/>
                </a:solidFill>
                <a:latin typeface="Calibri" pitchFamily="34" charset="0"/>
                <a:ea typeface="Calibri" pitchFamily="34" charset="-122"/>
                <a:cs typeface="Calibri" pitchFamily="34" charset="-120"/>
              </a:rPr>
              <a:t>Unlock Sarah Chen’s card</a:t>
            </a:r>
            <a:endParaRPr lang="en-US" sz="1200" dirty="0"/>
          </a:p>
        </p:txBody>
      </p:sp>
      <p:sp>
        <p:nvSpPr>
          <p:cNvPr id="50" name="Shape 38"/>
          <p:cNvSpPr/>
          <p:nvPr/>
        </p:nvSpPr>
        <p:spPr>
          <a:xfrm>
            <a:off x="6583680" y="2362200"/>
            <a:ext cx="4435206" cy="826008"/>
          </a:xfrm>
          <a:prstGeom prst="roundRect">
            <a:avLst>
              <a:gd name="adj" fmla="val 8856"/>
            </a:avLst>
          </a:prstGeom>
          <a:solidFill>
            <a:srgbClr val="FFFFFF"/>
          </a:solidFill>
          <a:ln w="12700">
            <a:solidFill>
              <a:srgbClr val="D5DDE8"/>
            </a:solidFill>
            <a:prstDash val="solid"/>
          </a:ln>
        </p:spPr>
      </p:sp>
      <p:sp>
        <p:nvSpPr>
          <p:cNvPr id="51" name="Text 39"/>
          <p:cNvSpPr txBox="1"/>
          <p:nvPr/>
        </p:nvSpPr>
        <p:spPr>
          <a:xfrm>
            <a:off x="6720840" y="2471928"/>
            <a:ext cx="4160886" cy="185928"/>
          </a:xfrm>
          <a:prstGeom prst="rect">
            <a:avLst/>
          </a:prstGeom>
          <a:noFill/>
          <a:ln/>
        </p:spPr>
        <p:txBody>
          <a:bodyPr wrap="square" lIns="0" tIns="0" rIns="0" bIns="0" rtlCol="0" anchor="ctr"/>
          <a:lstStyle/>
          <a:p>
            <a:pPr indent="0" marL="0">
              <a:buNone/>
            </a:pPr>
            <a:r>
              <a:rPr lang="en-US" sz="1200" b="1" dirty="0">
                <a:solidFill>
                  <a:srgbClr val="1F2D4A"/>
                </a:solidFill>
                <a:latin typeface="Calibri" pitchFamily="34" charset="0"/>
                <a:ea typeface="Calibri" pitchFamily="34" charset="-122"/>
                <a:cs typeface="Calibri" pitchFamily="34" charset="-120"/>
              </a:rPr>
              <a:t>Two clients match that name. Which one?</a:t>
            </a:r>
            <a:endParaRPr lang="en-US" sz="1200" dirty="0"/>
          </a:p>
        </p:txBody>
      </p:sp>
      <p:sp>
        <p:nvSpPr>
          <p:cNvPr id="52" name="Shape 40"/>
          <p:cNvSpPr/>
          <p:nvPr/>
        </p:nvSpPr>
        <p:spPr>
          <a:xfrm>
            <a:off x="6720840" y="2749296"/>
            <a:ext cx="2025579" cy="310896"/>
          </a:xfrm>
          <a:prstGeom prst="roundRect">
            <a:avLst>
              <a:gd name="adj" fmla="val 17647"/>
            </a:avLst>
          </a:prstGeom>
          <a:solidFill>
            <a:srgbClr val="E8EFF9"/>
          </a:solidFill>
          <a:ln w="19050">
            <a:solidFill>
              <a:srgbClr val="2F5D9A"/>
            </a:solidFill>
            <a:prstDash val="solid"/>
          </a:ln>
        </p:spPr>
      </p:sp>
      <p:sp>
        <p:nvSpPr>
          <p:cNvPr id="53" name="Text 41"/>
          <p:cNvSpPr txBox="1"/>
          <p:nvPr/>
        </p:nvSpPr>
        <p:spPr>
          <a:xfrm>
            <a:off x="6720840" y="2749296"/>
            <a:ext cx="2025579" cy="310896"/>
          </a:xfrm>
          <a:prstGeom prst="rect">
            <a:avLst/>
          </a:prstGeom>
          <a:noFill/>
          <a:ln/>
        </p:spPr>
        <p:txBody>
          <a:bodyPr wrap="square" lIns="0" tIns="0" rIns="0" bIns="0" rtlCol="0" anchor="ctr"/>
          <a:lstStyle/>
          <a:p>
            <a:pPr algn="ctr" indent="0" marL="0">
              <a:buNone/>
            </a:pPr>
            <a:r>
              <a:rPr lang="en-US" sz="1150" b="1" dirty="0">
                <a:solidFill>
                  <a:srgbClr val="2F5D9A"/>
                </a:solidFill>
                <a:latin typeface="Calibri" pitchFamily="34" charset="0"/>
                <a:ea typeface="Calibri" pitchFamily="34" charset="-122"/>
                <a:cs typeface="Calibri" pitchFamily="34" charset="-120"/>
              </a:rPr>
              <a:t>Sarah Chen …4409</a:t>
            </a:r>
            <a:endParaRPr lang="en-US" sz="1150" dirty="0"/>
          </a:p>
        </p:txBody>
      </p:sp>
      <p:sp>
        <p:nvSpPr>
          <p:cNvPr id="54" name="Shape 42"/>
          <p:cNvSpPr/>
          <p:nvPr/>
        </p:nvSpPr>
        <p:spPr>
          <a:xfrm>
            <a:off x="8856147" y="2749296"/>
            <a:ext cx="2025579" cy="310896"/>
          </a:xfrm>
          <a:prstGeom prst="roundRect">
            <a:avLst>
              <a:gd name="adj" fmla="val 17647"/>
            </a:avLst>
          </a:prstGeom>
          <a:solidFill>
            <a:srgbClr val="FFFFFF"/>
          </a:solidFill>
          <a:ln w="12700">
            <a:solidFill>
              <a:srgbClr val="D5DDE8"/>
            </a:solidFill>
            <a:prstDash val="solid"/>
          </a:ln>
        </p:spPr>
      </p:sp>
      <p:sp>
        <p:nvSpPr>
          <p:cNvPr id="55" name="Text 43"/>
          <p:cNvSpPr txBox="1"/>
          <p:nvPr/>
        </p:nvSpPr>
        <p:spPr>
          <a:xfrm>
            <a:off x="8856147" y="2749296"/>
            <a:ext cx="2025579" cy="310896"/>
          </a:xfrm>
          <a:prstGeom prst="rect">
            <a:avLst/>
          </a:prstGeom>
          <a:noFill/>
          <a:ln/>
        </p:spPr>
        <p:txBody>
          <a:bodyPr wrap="square" lIns="0" tIns="0" rIns="0" bIns="0" rtlCol="0" anchor="ctr"/>
          <a:lstStyle/>
          <a:p>
            <a:pPr algn="ctr" indent="0" marL="0">
              <a:buNone/>
            </a:pPr>
            <a:r>
              <a:rPr lang="en-US" sz="1150" dirty="0">
                <a:solidFill>
                  <a:srgbClr val="2F5D9A"/>
                </a:solidFill>
                <a:latin typeface="Calibri" pitchFamily="34" charset="0"/>
                <a:ea typeface="Calibri" pitchFamily="34" charset="-122"/>
                <a:cs typeface="Calibri" pitchFamily="34" charset="-120"/>
              </a:rPr>
              <a:t>Sarah M. Chen …4410</a:t>
            </a:r>
            <a:endParaRPr lang="en-US" sz="1150" dirty="0"/>
          </a:p>
        </p:txBody>
      </p:sp>
      <p:sp>
        <p:nvSpPr>
          <p:cNvPr id="56" name="Shape 44"/>
          <p:cNvSpPr/>
          <p:nvPr/>
        </p:nvSpPr>
        <p:spPr>
          <a:xfrm>
            <a:off x="10479024" y="3279648"/>
            <a:ext cx="822960" cy="350520"/>
          </a:xfrm>
          <a:prstGeom prst="roundRect">
            <a:avLst>
              <a:gd name="adj" fmla="val 44348"/>
            </a:avLst>
          </a:prstGeom>
          <a:solidFill>
            <a:srgbClr val="DCE6F4"/>
          </a:solidFill>
          <a:ln w="12700">
            <a:solidFill>
              <a:srgbClr val="DCE6F4"/>
            </a:solidFill>
            <a:prstDash val="solid"/>
          </a:ln>
        </p:spPr>
      </p:sp>
      <p:sp>
        <p:nvSpPr>
          <p:cNvPr id="57" name="Text 45"/>
          <p:cNvSpPr txBox="1"/>
          <p:nvPr/>
        </p:nvSpPr>
        <p:spPr>
          <a:xfrm>
            <a:off x="10643616" y="3279648"/>
            <a:ext cx="493776" cy="350520"/>
          </a:xfrm>
          <a:prstGeom prst="rect">
            <a:avLst/>
          </a:prstGeom>
          <a:noFill/>
          <a:ln/>
        </p:spPr>
        <p:txBody>
          <a:bodyPr wrap="square" lIns="0" tIns="0" rIns="0" bIns="0" rtlCol="0" anchor="ctr"/>
          <a:lstStyle/>
          <a:p>
            <a:pPr indent="0" marL="0">
              <a:buNone/>
            </a:pPr>
            <a:r>
              <a:rPr lang="en-US" sz="1200" dirty="0">
                <a:solidFill>
                  <a:srgbClr val="2B2F36"/>
                </a:solidFill>
                <a:latin typeface="Calibri" pitchFamily="34" charset="0"/>
                <a:ea typeface="Calibri" pitchFamily="34" charset="-122"/>
                <a:cs typeface="Calibri" pitchFamily="34" charset="-120"/>
              </a:rPr>
              <a:t>4409</a:t>
            </a:r>
            <a:endParaRPr lang="en-US" sz="1200" dirty="0"/>
          </a:p>
        </p:txBody>
      </p:sp>
      <p:sp>
        <p:nvSpPr>
          <p:cNvPr id="58" name="Shape 46"/>
          <p:cNvSpPr/>
          <p:nvPr/>
        </p:nvSpPr>
        <p:spPr>
          <a:xfrm>
            <a:off x="6583680" y="3721608"/>
            <a:ext cx="4435206" cy="1039368"/>
          </a:xfrm>
          <a:prstGeom prst="roundRect">
            <a:avLst>
              <a:gd name="adj" fmla="val 7038"/>
            </a:avLst>
          </a:prstGeom>
          <a:solidFill>
            <a:srgbClr val="FFFFFF"/>
          </a:solidFill>
          <a:ln w="12700">
            <a:solidFill>
              <a:srgbClr val="D5DDE8"/>
            </a:solidFill>
            <a:prstDash val="solid"/>
          </a:ln>
        </p:spPr>
      </p:sp>
      <p:sp>
        <p:nvSpPr>
          <p:cNvPr id="59" name="Text 47"/>
          <p:cNvSpPr txBox="1"/>
          <p:nvPr/>
        </p:nvSpPr>
        <p:spPr>
          <a:xfrm>
            <a:off x="6720840" y="3831336"/>
            <a:ext cx="4160886" cy="408432"/>
          </a:xfrm>
          <a:prstGeom prst="rect">
            <a:avLst/>
          </a:prstGeom>
          <a:noFill/>
          <a:ln/>
        </p:spPr>
        <p:txBody>
          <a:bodyPr wrap="square" lIns="0" tIns="0" rIns="0" bIns="0" rtlCol="0" anchor="t"/>
          <a:lstStyle/>
          <a:p>
            <a:pPr indent="0" marL="0">
              <a:buNone/>
            </a:pPr>
            <a:r>
              <a:rPr lang="en-US" sz="1200" b="1" dirty="0">
                <a:solidFill>
                  <a:srgbClr val="1F2D4A"/>
                </a:solidFill>
                <a:latin typeface="Calibri" pitchFamily="34" charset="0"/>
                <a:ea typeface="Calibri" pitchFamily="34" charset="-122"/>
                <a:cs typeface="Calibri" pitchFamily="34" charset="-120"/>
              </a:rPr>
              <a:t>Unlock the debit card ending 9902 for Sarah Chen (account ...4409)?</a:t>
            </a:r>
            <a:endParaRPr lang="en-US" sz="1200" dirty="0"/>
          </a:p>
        </p:txBody>
      </p:sp>
      <p:sp>
        <p:nvSpPr>
          <p:cNvPr id="60" name="Shape 48"/>
          <p:cNvSpPr/>
          <p:nvPr/>
        </p:nvSpPr>
        <p:spPr>
          <a:xfrm>
            <a:off x="6720840" y="4322064"/>
            <a:ext cx="876935" cy="310896"/>
          </a:xfrm>
          <a:prstGeom prst="roundRect">
            <a:avLst>
              <a:gd name="adj" fmla="val 50000"/>
            </a:avLst>
          </a:prstGeom>
          <a:solidFill>
            <a:srgbClr val="2F5D9A"/>
          </a:solidFill>
          <a:ln w="12700">
            <a:solidFill>
              <a:srgbClr val="2F5D9A"/>
            </a:solidFill>
            <a:prstDash val="solid"/>
          </a:ln>
        </p:spPr>
      </p:sp>
      <p:sp>
        <p:nvSpPr>
          <p:cNvPr id="61" name="Text 49"/>
          <p:cNvSpPr txBox="1"/>
          <p:nvPr/>
        </p:nvSpPr>
        <p:spPr>
          <a:xfrm>
            <a:off x="6720840" y="4322064"/>
            <a:ext cx="876935"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Confirm</a:t>
            </a:r>
            <a:endParaRPr lang="en-US" sz="1150" dirty="0"/>
          </a:p>
        </p:txBody>
      </p:sp>
      <p:sp>
        <p:nvSpPr>
          <p:cNvPr id="62" name="Shape 50"/>
          <p:cNvSpPr/>
          <p:nvPr/>
        </p:nvSpPr>
        <p:spPr>
          <a:xfrm>
            <a:off x="7707503" y="4322064"/>
            <a:ext cx="803910" cy="310896"/>
          </a:xfrm>
          <a:prstGeom prst="roundRect">
            <a:avLst>
              <a:gd name="adj" fmla="val 50000"/>
            </a:avLst>
          </a:prstGeom>
          <a:solidFill>
            <a:srgbClr val="FFFFFF"/>
          </a:solidFill>
          <a:ln w="12700">
            <a:solidFill>
              <a:srgbClr val="D5DDE8"/>
            </a:solidFill>
            <a:prstDash val="solid"/>
          </a:ln>
        </p:spPr>
      </p:sp>
      <p:sp>
        <p:nvSpPr>
          <p:cNvPr id="63" name="Text 51"/>
          <p:cNvSpPr txBox="1"/>
          <p:nvPr/>
        </p:nvSpPr>
        <p:spPr>
          <a:xfrm>
            <a:off x="7707503" y="4322064"/>
            <a:ext cx="803910" cy="310896"/>
          </a:xfrm>
          <a:prstGeom prst="rect">
            <a:avLst/>
          </a:prstGeom>
          <a:noFill/>
          <a:ln/>
        </p:spPr>
        <p:txBody>
          <a:bodyPr wrap="square" lIns="0" tIns="0" rIns="0" bIns="0" rtlCol="0" anchor="ctr"/>
          <a:lstStyle/>
          <a:p>
            <a:pPr algn="ctr" indent="0" marL="0">
              <a:buNone/>
            </a:pPr>
            <a:r>
              <a:rPr lang="en-US" sz="1150" dirty="0">
                <a:solidFill>
                  <a:srgbClr val="5B6B7A"/>
                </a:solidFill>
                <a:latin typeface="Calibri" pitchFamily="34" charset="0"/>
                <a:ea typeface="Calibri" pitchFamily="34" charset="-122"/>
                <a:cs typeface="Calibri" pitchFamily="34" charset="-120"/>
              </a:rPr>
              <a:t>Cancel</a:t>
            </a:r>
            <a:endParaRPr lang="en-US" sz="1150" dirty="0"/>
          </a:p>
        </p:txBody>
      </p:sp>
      <p:sp>
        <p:nvSpPr>
          <p:cNvPr id="64" name="Text 52"/>
          <p:cNvSpPr txBox="1"/>
          <p:nvPr/>
        </p:nvSpPr>
        <p:spPr>
          <a:xfrm>
            <a:off x="8666861" y="4322064"/>
            <a:ext cx="1645920" cy="310896"/>
          </a:xfrm>
          <a:prstGeom prst="rect">
            <a:avLst/>
          </a:prstGeom>
          <a:noFill/>
          <a:ln/>
        </p:spPr>
        <p:txBody>
          <a:bodyPr wrap="square" lIns="0" tIns="0" rIns="0" bIns="0" rtlCol="0" anchor="ctr"/>
          <a:lstStyle/>
          <a:p>
            <a:pPr indent="0" marL="0">
              <a:buNone/>
            </a:pPr>
            <a:r>
              <a:rPr lang="en-US" sz="1000" i="1" dirty="0">
                <a:solidFill>
                  <a:srgbClr val="8A93A0"/>
                </a:solidFill>
                <a:latin typeface="Calibri" pitchFamily="34" charset="0"/>
                <a:ea typeface="Calibri" pitchFamily="34" charset="-122"/>
                <a:cs typeface="Calibri" pitchFamily="34" charset="-120"/>
              </a:rPr>
              <a:t>nothing has run yet</a:t>
            </a:r>
            <a:endParaRPr lang="en-US" sz="1000" dirty="0"/>
          </a:p>
        </p:txBody>
      </p:sp>
      <p:pic>
        <p:nvPicPr>
          <p:cNvPr id="65" name="Image 10" descr="preencoded.png">    </p:cNvPr>
          <p:cNvPicPr>
            <a:picLocks noChangeAspect="1"/>
          </p:cNvPicPr>
          <p:nvPr/>
        </p:nvPicPr>
        <p:blipFill>
          <a:blip r:embed="rId11"/>
          <a:stretch>
            <a:fillRect/>
          </a:stretch>
        </p:blipFill>
        <p:spPr>
          <a:xfrm>
            <a:off x="6583680" y="4870704"/>
            <a:ext cx="182880" cy="182880"/>
          </a:xfrm>
          <a:prstGeom prst="rect">
            <a:avLst/>
          </a:prstGeom>
        </p:spPr>
      </p:pic>
      <p:sp>
        <p:nvSpPr>
          <p:cNvPr id="66" name="Text 53"/>
          <p:cNvSpPr txBox="1"/>
          <p:nvPr/>
        </p:nvSpPr>
        <p:spPr>
          <a:xfrm>
            <a:off x="6858000" y="4852416"/>
            <a:ext cx="4443984" cy="185928"/>
          </a:xfrm>
          <a:prstGeom prst="rect">
            <a:avLst/>
          </a:prstGeom>
          <a:noFill/>
          <a:ln/>
        </p:spPr>
        <p:txBody>
          <a:bodyPr wrap="square" lIns="0" tIns="0" rIns="0" bIns="0" rtlCol="0" anchor="ctr"/>
          <a:lstStyle/>
          <a:p>
            <a:pPr indent="0" marL="0">
              <a:buNone/>
            </a:pPr>
            <a:r>
              <a:rPr lang="en-US" sz="1200" b="1" dirty="0">
                <a:solidFill>
                  <a:srgbClr val="2E7D5B"/>
                </a:solidFill>
                <a:latin typeface="Calibri" pitchFamily="34" charset="0"/>
                <a:ea typeface="Calibri" pitchFamily="34" charset="-122"/>
                <a:cs typeface="Calibri" pitchFamily="34" charset="-120"/>
              </a:rPr>
              <a:t>Card ending 9902 is unlocked.</a:t>
            </a:r>
            <a:endParaRPr lang="en-US" sz="1200" dirty="0"/>
          </a:p>
        </p:txBody>
      </p:sp>
      <p:pic>
        <p:nvPicPr>
          <p:cNvPr id="67" name="Image 11" descr="preencoded.png">    </p:cNvPr>
          <p:cNvPicPr>
            <a:picLocks noChangeAspect="1"/>
          </p:cNvPicPr>
          <p:nvPr/>
        </p:nvPicPr>
        <p:blipFill>
          <a:blip r:embed="rId12"/>
          <a:stretch>
            <a:fillRect/>
          </a:stretch>
        </p:blipFill>
        <p:spPr>
          <a:xfrm>
            <a:off x="6583680" y="5111496"/>
            <a:ext cx="155448" cy="155448"/>
          </a:xfrm>
          <a:prstGeom prst="rect">
            <a:avLst/>
          </a:prstGeom>
        </p:spPr>
      </p:pic>
      <p:pic>
        <p:nvPicPr>
          <p:cNvPr id="68" name="Image 12" descr="preencoded.png">    </p:cNvPr>
          <p:cNvPicPr>
            <a:picLocks noChangeAspect="1"/>
          </p:cNvPicPr>
          <p:nvPr/>
        </p:nvPicPr>
        <p:blipFill>
          <a:blip r:embed="rId13"/>
          <a:stretch>
            <a:fillRect/>
          </a:stretch>
        </p:blipFill>
        <p:spPr>
          <a:xfrm>
            <a:off x="6876288" y="5111496"/>
            <a:ext cx="155448" cy="155448"/>
          </a:xfrm>
          <a:prstGeom prst="rect">
            <a:avLst/>
          </a:prstGeom>
        </p:spPr>
      </p:pic>
      <p:pic>
        <p:nvPicPr>
          <p:cNvPr id="69" name="Image 13" descr="preencoded.png">    </p:cNvPr>
          <p:cNvPicPr>
            <a:picLocks noChangeAspect="1"/>
          </p:cNvPicPr>
          <p:nvPr/>
        </p:nvPicPr>
        <p:blipFill>
          <a:blip r:embed="rId14"/>
          <a:stretch>
            <a:fillRect/>
          </a:stretch>
        </p:blipFill>
        <p:spPr>
          <a:xfrm>
            <a:off x="7168896" y="5111496"/>
            <a:ext cx="155448" cy="155448"/>
          </a:xfrm>
          <a:prstGeom prst="rect">
            <a:avLst/>
          </a:prstGeom>
        </p:spPr>
      </p:pic>
      <p:pic>
        <p:nvPicPr>
          <p:cNvPr id="70" name="Image 14" descr="preencoded.png">    </p:cNvPr>
          <p:cNvPicPr>
            <a:picLocks noChangeAspect="1"/>
          </p:cNvPicPr>
          <p:nvPr/>
        </p:nvPicPr>
        <p:blipFill>
          <a:blip r:embed="rId15"/>
          <a:stretch>
            <a:fillRect/>
          </a:stretch>
        </p:blipFill>
        <p:spPr>
          <a:xfrm>
            <a:off x="7461504" y="5111496"/>
            <a:ext cx="155448" cy="155448"/>
          </a:xfrm>
          <a:prstGeom prst="rect">
            <a:avLst/>
          </a:prstGeom>
        </p:spPr>
      </p:pic>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Replace card</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Damaged, worn out or expiring: cancel this card and mail a new one.</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“Cracked” clearly means damaged, so the chat does not ask. If the advisor only said “send her a new card”, it would ask why.</a:t>
            </a:r>
            <a:endParaRPr lang="en-US" sz="1100" dirty="0"/>
          </a:p>
        </p:txBody>
      </p:sp>
      <p:sp>
        <p:nvSpPr>
          <p:cNvPr id="5" name="Shape 3"/>
          <p:cNvSpPr/>
          <p:nvPr/>
        </p:nvSpPr>
        <p:spPr>
          <a:xfrm>
            <a:off x="9758172" y="420624"/>
            <a:ext cx="1882140" cy="365760"/>
          </a:xfrm>
          <a:prstGeom prst="roundRect">
            <a:avLst>
              <a:gd name="adj" fmla="val 50000"/>
            </a:avLst>
          </a:prstGeom>
          <a:solidFill>
            <a:srgbClr val="FDF8E8"/>
          </a:solidFill>
          <a:ln w="15875">
            <a:solidFill>
              <a:srgbClr val="A5851F"/>
            </a:solidFill>
            <a:prstDash val="solid"/>
          </a:ln>
        </p:spPr>
      </p:sp>
      <p:sp>
        <p:nvSpPr>
          <p:cNvPr id="6" name="Text 4"/>
          <p:cNvSpPr txBox="1"/>
          <p:nvPr/>
        </p:nvSpPr>
        <p:spPr>
          <a:xfrm>
            <a:off x="9758172" y="420624"/>
            <a:ext cx="1882140" cy="365760"/>
          </a:xfrm>
          <a:prstGeom prst="rect">
            <a:avLst/>
          </a:prstGeom>
          <a:noFill/>
          <a:ln/>
        </p:spPr>
        <p:txBody>
          <a:bodyPr wrap="square" lIns="0" tIns="0" rIns="0" bIns="0" rtlCol="0" anchor="ctr"/>
          <a:lstStyle/>
          <a:p>
            <a:pPr algn="ctr" indent="0" marL="0">
              <a:buNone/>
            </a:pPr>
            <a:r>
              <a:rPr lang="en-US" sz="1200" b="1" dirty="0">
                <a:solidFill>
                  <a:srgbClr val="A5851F"/>
                </a:solidFill>
                <a:latin typeface="Calibri" pitchFamily="34" charset="0"/>
                <a:ea typeface="Calibri" pitchFamily="34" charset="-122"/>
                <a:cs typeface="Calibri" pitchFamily="34" charset="-120"/>
              </a:rPr>
              <a:t>Issues a new card</a:t>
            </a:r>
            <a:endParaRPr lang="en-US" sz="1200" dirty="0"/>
          </a:p>
        </p:txBody>
      </p:sp>
      <p:sp>
        <p:nvSpPr>
          <p:cNvPr id="7" name="icon circle WHAT IT DOES"/>
          <p:cNvSpPr/>
          <p:nvPr/>
        </p:nvSpPr>
        <p:spPr>
          <a:xfrm>
            <a:off x="548640" y="1463040"/>
            <a:ext cx="310896" cy="310896"/>
          </a:xfrm>
          <a:prstGeom prst="ellipse">
            <a:avLst/>
          </a:prstGeom>
          <a:solidFill>
            <a:srgbClr val="14314F"/>
          </a:solidFill>
          <a:ln w="12700">
            <a:solidFill>
              <a:srgbClr val="14314F"/>
            </a:solidFill>
            <a:prstDash val="solid"/>
          </a:ln>
        </p:spPr>
      </p:sp>
      <p:pic>
        <p:nvPicPr>
          <p:cNvPr id="8" name="Image 0" descr="preencoded.png">    </p:cNvPr>
          <p:cNvPicPr>
            <a:picLocks noChangeAspect="1"/>
          </p:cNvPicPr>
          <p:nvPr/>
        </p:nvPicPr>
        <p:blipFill>
          <a:blip r:embed="rId1"/>
          <a:stretch>
            <a:fillRect/>
          </a:stretch>
        </p:blipFill>
        <p:spPr>
          <a:xfrm>
            <a:off x="621792" y="1536192"/>
            <a:ext cx="164592" cy="164592"/>
          </a:xfrm>
          <a:prstGeom prst="rect">
            <a:avLst/>
          </a:prstGeom>
        </p:spPr>
      </p:pic>
      <p:sp>
        <p:nvSpPr>
          <p:cNvPr id="9" name="Text 6"/>
          <p:cNvSpPr txBox="1"/>
          <p:nvPr/>
        </p:nvSpPr>
        <p:spPr>
          <a:xfrm>
            <a:off x="969264" y="1481328"/>
            <a:ext cx="4572000" cy="274320"/>
          </a:xfrm>
          <a:prstGeom prst="rect">
            <a:avLst/>
          </a:prstGeom>
          <a:noFill/>
          <a:ln/>
        </p:spPr>
        <p:txBody>
          <a:bodyPr wrap="square" lIns="0" tIns="0" rIns="0" bIns="0" rtlCol="0" anchor="ctr"/>
          <a:lstStyle/>
          <a:p>
            <a:pPr indent="0" marL="0">
              <a:buNone/>
            </a:pPr>
            <a:r>
              <a:rPr lang="en-US" sz="1100" b="1" spc="150" kern="0" dirty="0">
                <a:solidFill>
                  <a:srgbClr val="14314F"/>
                </a:solidFill>
                <a:latin typeface="Calibri" pitchFamily="34" charset="0"/>
                <a:ea typeface="Calibri" pitchFamily="34" charset="-122"/>
                <a:cs typeface="Calibri" pitchFamily="34" charset="-120"/>
              </a:rPr>
              <a:t>WHAT IT DOES</a:t>
            </a:r>
            <a:endParaRPr lang="en-US" sz="1100" dirty="0"/>
          </a:p>
        </p:txBody>
      </p:sp>
      <p:sp>
        <p:nvSpPr>
          <p:cNvPr id="10" name="Text 7"/>
          <p:cNvSpPr txBox="1"/>
          <p:nvPr/>
        </p:nvSpPr>
        <p:spPr>
          <a:xfrm>
            <a:off x="548640" y="1847088"/>
            <a:ext cx="5440680" cy="566928"/>
          </a:xfrm>
          <a:prstGeom prst="rect">
            <a:avLst/>
          </a:prstGeom>
          <a:noFill/>
          <a:ln/>
        </p:spPr>
        <p:txBody>
          <a:bodyPr wrap="square" lIns="0" tIns="0" rIns="0" bIns="0" rtlCol="0" anchor="t"/>
          <a:lstStyle/>
          <a:p>
            <a:pPr indent="0" marL="0">
              <a:buNone/>
            </a:pPr>
            <a:r>
              <a:rPr lang="en-US" sz="1700" dirty="0">
                <a:solidFill>
                  <a:srgbClr val="14314F"/>
                </a:solidFill>
                <a:latin typeface="Cambria" pitchFamily="34" charset="0"/>
                <a:ea typeface="Cambria" pitchFamily="34" charset="-122"/>
                <a:cs typeface="Cambria" pitchFamily="34" charset="-120"/>
              </a:rPr>
              <a:t>Cancels the current card and sends a replacement to an address the advisor confirms.</a:t>
            </a:r>
            <a:endParaRPr lang="en-US" sz="1700" dirty="0"/>
          </a:p>
        </p:txBody>
      </p:sp>
      <p:sp>
        <p:nvSpPr>
          <p:cNvPr id="11" name="icon circle THE ADVISOR MIGHT SAY"/>
          <p:cNvSpPr/>
          <p:nvPr/>
        </p:nvSpPr>
        <p:spPr>
          <a:xfrm>
            <a:off x="548640" y="2542032"/>
            <a:ext cx="310896" cy="310896"/>
          </a:xfrm>
          <a:prstGeom prst="ellipse">
            <a:avLst/>
          </a:prstGeom>
          <a:solidFill>
            <a:srgbClr val="A5851F"/>
          </a:solidFill>
          <a:ln w="12700">
            <a:solidFill>
              <a:srgbClr val="A5851F"/>
            </a:solidFill>
            <a:prstDash val="solid"/>
          </a:ln>
        </p:spPr>
      </p:sp>
      <p:pic>
        <p:nvPicPr>
          <p:cNvPr id="12" name="Image 1" descr="preencoded.png">    </p:cNvPr>
          <p:cNvPicPr>
            <a:picLocks noChangeAspect="1"/>
          </p:cNvPicPr>
          <p:nvPr/>
        </p:nvPicPr>
        <p:blipFill>
          <a:blip r:embed="rId2"/>
          <a:stretch>
            <a:fillRect/>
          </a:stretch>
        </p:blipFill>
        <p:spPr>
          <a:xfrm>
            <a:off x="621792" y="2615184"/>
            <a:ext cx="164592" cy="164592"/>
          </a:xfrm>
          <a:prstGeom prst="rect">
            <a:avLst/>
          </a:prstGeom>
        </p:spPr>
      </p:pic>
      <p:sp>
        <p:nvSpPr>
          <p:cNvPr id="13" name="Text 9"/>
          <p:cNvSpPr txBox="1"/>
          <p:nvPr/>
        </p:nvSpPr>
        <p:spPr>
          <a:xfrm>
            <a:off x="969264" y="2560320"/>
            <a:ext cx="4572000" cy="274320"/>
          </a:xfrm>
          <a:prstGeom prst="rect">
            <a:avLst/>
          </a:prstGeom>
          <a:noFill/>
          <a:ln/>
        </p:spPr>
        <p:txBody>
          <a:bodyPr wrap="square" lIns="0" tIns="0" rIns="0" bIns="0" rtlCol="0" anchor="ctr"/>
          <a:lstStyle/>
          <a:p>
            <a:pPr indent="0" marL="0">
              <a:buNone/>
            </a:pPr>
            <a:r>
              <a:rPr lang="en-US" sz="1100" b="1" spc="150" kern="0" dirty="0">
                <a:solidFill>
                  <a:srgbClr val="A5851F"/>
                </a:solidFill>
                <a:latin typeface="Calibri" pitchFamily="34" charset="0"/>
                <a:ea typeface="Calibri" pitchFamily="34" charset="-122"/>
                <a:cs typeface="Calibri" pitchFamily="34" charset="-120"/>
              </a:rPr>
              <a:t>THE ADVISOR MIGHT SAY</a:t>
            </a:r>
            <a:endParaRPr lang="en-US" sz="1100" dirty="0"/>
          </a:p>
        </p:txBody>
      </p:sp>
      <p:sp>
        <p:nvSpPr>
          <p:cNvPr id="14" name="Shape 10"/>
          <p:cNvSpPr/>
          <p:nvPr/>
        </p:nvSpPr>
        <p:spPr>
          <a:xfrm>
            <a:off x="548640" y="2926080"/>
            <a:ext cx="1136396" cy="329184"/>
          </a:xfrm>
          <a:prstGeom prst="roundRect">
            <a:avLst>
              <a:gd name="adj" fmla="val 50000"/>
            </a:avLst>
          </a:prstGeom>
          <a:solidFill>
            <a:srgbClr val="FDF8E8"/>
          </a:solidFill>
          <a:ln w="12700">
            <a:solidFill>
              <a:srgbClr val="E0D3A8"/>
            </a:solidFill>
            <a:prstDash val="solid"/>
          </a:ln>
        </p:spPr>
      </p:sp>
      <p:sp>
        <p:nvSpPr>
          <p:cNvPr id="15" name="Text 11"/>
          <p:cNvSpPr txBox="1"/>
          <p:nvPr/>
        </p:nvSpPr>
        <p:spPr>
          <a:xfrm>
            <a:off x="548640" y="2926080"/>
            <a:ext cx="113639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“new card”</a:t>
            </a:r>
            <a:endParaRPr lang="en-US" sz="1250" dirty="0"/>
          </a:p>
        </p:txBody>
      </p:sp>
      <p:sp>
        <p:nvSpPr>
          <p:cNvPr id="16" name="Shape 12"/>
          <p:cNvSpPr/>
          <p:nvPr/>
        </p:nvSpPr>
        <p:spPr>
          <a:xfrm>
            <a:off x="1794764" y="2926080"/>
            <a:ext cx="1053846" cy="329184"/>
          </a:xfrm>
          <a:prstGeom prst="roundRect">
            <a:avLst>
              <a:gd name="adj" fmla="val 50000"/>
            </a:avLst>
          </a:prstGeom>
          <a:solidFill>
            <a:srgbClr val="FDF8E8"/>
          </a:solidFill>
          <a:ln w="12700">
            <a:solidFill>
              <a:srgbClr val="E0D3A8"/>
            </a:solidFill>
            <a:prstDash val="solid"/>
          </a:ln>
        </p:spPr>
      </p:sp>
      <p:sp>
        <p:nvSpPr>
          <p:cNvPr id="17" name="Text 13"/>
          <p:cNvSpPr txBox="1"/>
          <p:nvPr/>
        </p:nvSpPr>
        <p:spPr>
          <a:xfrm>
            <a:off x="1794764" y="2926080"/>
            <a:ext cx="105384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“reissue”</a:t>
            </a:r>
            <a:endParaRPr lang="en-US" sz="1250" dirty="0"/>
          </a:p>
        </p:txBody>
      </p:sp>
      <p:sp>
        <p:nvSpPr>
          <p:cNvPr id="18" name="Shape 14"/>
          <p:cNvSpPr/>
          <p:nvPr/>
        </p:nvSpPr>
        <p:spPr>
          <a:xfrm>
            <a:off x="2958338" y="2926080"/>
            <a:ext cx="1053846" cy="329184"/>
          </a:xfrm>
          <a:prstGeom prst="roundRect">
            <a:avLst>
              <a:gd name="adj" fmla="val 50000"/>
            </a:avLst>
          </a:prstGeom>
          <a:solidFill>
            <a:srgbClr val="FDF8E8"/>
          </a:solidFill>
          <a:ln w="12700">
            <a:solidFill>
              <a:srgbClr val="E0D3A8"/>
            </a:solidFill>
            <a:prstDash val="solid"/>
          </a:ln>
        </p:spPr>
      </p:sp>
      <p:sp>
        <p:nvSpPr>
          <p:cNvPr id="19" name="Text 15"/>
          <p:cNvSpPr txBox="1"/>
          <p:nvPr/>
        </p:nvSpPr>
        <p:spPr>
          <a:xfrm>
            <a:off x="2958338" y="2926080"/>
            <a:ext cx="105384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“damaged”</a:t>
            </a:r>
            <a:endParaRPr lang="en-US" sz="1250" dirty="0"/>
          </a:p>
        </p:txBody>
      </p:sp>
      <p:sp>
        <p:nvSpPr>
          <p:cNvPr id="20" name="Shape 16"/>
          <p:cNvSpPr/>
          <p:nvPr/>
        </p:nvSpPr>
        <p:spPr>
          <a:xfrm>
            <a:off x="4121912" y="2926080"/>
            <a:ext cx="1053846" cy="329184"/>
          </a:xfrm>
          <a:prstGeom prst="roundRect">
            <a:avLst>
              <a:gd name="adj" fmla="val 50000"/>
            </a:avLst>
          </a:prstGeom>
          <a:solidFill>
            <a:srgbClr val="FDF8E8"/>
          </a:solidFill>
          <a:ln w="12700">
            <a:solidFill>
              <a:srgbClr val="E0D3A8"/>
            </a:solidFill>
            <a:prstDash val="solid"/>
          </a:ln>
        </p:spPr>
      </p:sp>
      <p:sp>
        <p:nvSpPr>
          <p:cNvPr id="21" name="Text 17"/>
          <p:cNvSpPr txBox="1"/>
          <p:nvPr/>
        </p:nvSpPr>
        <p:spPr>
          <a:xfrm>
            <a:off x="4121912" y="2926080"/>
            <a:ext cx="105384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“cracked”</a:t>
            </a:r>
            <a:endParaRPr lang="en-US" sz="1250" dirty="0"/>
          </a:p>
        </p:txBody>
      </p:sp>
      <p:sp>
        <p:nvSpPr>
          <p:cNvPr id="22" name="icon circle WHAT THE CHAT NEEDS BEFORE IT ACTS"/>
          <p:cNvSpPr/>
          <p:nvPr/>
        </p:nvSpPr>
        <p:spPr>
          <a:xfrm>
            <a:off x="548640" y="3474720"/>
            <a:ext cx="310896" cy="310896"/>
          </a:xfrm>
          <a:prstGeom prst="ellipse">
            <a:avLst/>
          </a:prstGeom>
          <a:solidFill>
            <a:srgbClr val="14314F"/>
          </a:solidFill>
          <a:ln w="12700">
            <a:solidFill>
              <a:srgbClr val="14314F"/>
            </a:solidFill>
            <a:prstDash val="solid"/>
          </a:ln>
        </p:spPr>
      </p:sp>
      <p:pic>
        <p:nvPicPr>
          <p:cNvPr id="23" name="Image 2" descr="preencoded.png">    </p:cNvPr>
          <p:cNvPicPr>
            <a:picLocks noChangeAspect="1"/>
          </p:cNvPicPr>
          <p:nvPr/>
        </p:nvPicPr>
        <p:blipFill>
          <a:blip r:embed="rId3"/>
          <a:stretch>
            <a:fillRect/>
          </a:stretch>
        </p:blipFill>
        <p:spPr>
          <a:xfrm>
            <a:off x="621792" y="3547872"/>
            <a:ext cx="164592" cy="164592"/>
          </a:xfrm>
          <a:prstGeom prst="rect">
            <a:avLst/>
          </a:prstGeom>
        </p:spPr>
      </p:pic>
      <p:sp>
        <p:nvSpPr>
          <p:cNvPr id="24" name="Text 19"/>
          <p:cNvSpPr txBox="1"/>
          <p:nvPr/>
        </p:nvSpPr>
        <p:spPr>
          <a:xfrm>
            <a:off x="969264" y="3493008"/>
            <a:ext cx="4572000" cy="274320"/>
          </a:xfrm>
          <a:prstGeom prst="rect">
            <a:avLst/>
          </a:prstGeom>
          <a:noFill/>
          <a:ln/>
        </p:spPr>
        <p:txBody>
          <a:bodyPr wrap="square" lIns="0" tIns="0" rIns="0" bIns="0" rtlCol="0" anchor="ctr"/>
          <a:lstStyle/>
          <a:p>
            <a:pPr indent="0" marL="0">
              <a:buNone/>
            </a:pPr>
            <a:r>
              <a:rPr lang="en-US" sz="1100" b="1" spc="150" kern="0" dirty="0">
                <a:solidFill>
                  <a:srgbClr val="14314F"/>
                </a:solidFill>
                <a:latin typeface="Calibri" pitchFamily="34" charset="0"/>
                <a:ea typeface="Calibri" pitchFamily="34" charset="-122"/>
                <a:cs typeface="Calibri" pitchFamily="34" charset="-120"/>
              </a:rPr>
              <a:t>WHAT THE CHAT NEEDS BEFORE IT ACTS</a:t>
            </a:r>
            <a:endParaRPr lang="en-US" sz="1100" dirty="0"/>
          </a:p>
        </p:txBody>
      </p:sp>
      <p:sp>
        <p:nvSpPr>
          <p:cNvPr id="25" name="Shape 20"/>
          <p:cNvSpPr/>
          <p:nvPr/>
        </p:nvSpPr>
        <p:spPr>
          <a:xfrm>
            <a:off x="548640" y="3858768"/>
            <a:ext cx="806196" cy="329184"/>
          </a:xfrm>
          <a:prstGeom prst="roundRect">
            <a:avLst>
              <a:gd name="adj" fmla="val 50000"/>
            </a:avLst>
          </a:prstGeom>
          <a:solidFill>
            <a:srgbClr val="FFFFFF"/>
          </a:solidFill>
          <a:ln w="12700">
            <a:solidFill>
              <a:srgbClr val="14314F"/>
            </a:solidFill>
            <a:prstDash val="solid"/>
          </a:ln>
        </p:spPr>
      </p:sp>
      <p:sp>
        <p:nvSpPr>
          <p:cNvPr id="26" name="Text 21"/>
          <p:cNvSpPr txBox="1"/>
          <p:nvPr/>
        </p:nvSpPr>
        <p:spPr>
          <a:xfrm>
            <a:off x="548640" y="3858768"/>
            <a:ext cx="8061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Client</a:t>
            </a:r>
            <a:endParaRPr lang="en-US" sz="1250" dirty="0"/>
          </a:p>
        </p:txBody>
      </p:sp>
      <p:sp>
        <p:nvSpPr>
          <p:cNvPr id="27" name="Shape 22"/>
          <p:cNvSpPr/>
          <p:nvPr/>
        </p:nvSpPr>
        <p:spPr>
          <a:xfrm>
            <a:off x="1464564" y="3858768"/>
            <a:ext cx="641096" cy="329184"/>
          </a:xfrm>
          <a:prstGeom prst="roundRect">
            <a:avLst>
              <a:gd name="adj" fmla="val 50000"/>
            </a:avLst>
          </a:prstGeom>
          <a:solidFill>
            <a:srgbClr val="FFFFFF"/>
          </a:solidFill>
          <a:ln w="12700">
            <a:solidFill>
              <a:srgbClr val="14314F"/>
            </a:solidFill>
            <a:prstDash val="solid"/>
          </a:ln>
        </p:spPr>
      </p:sp>
      <p:sp>
        <p:nvSpPr>
          <p:cNvPr id="28" name="Text 23"/>
          <p:cNvSpPr txBox="1"/>
          <p:nvPr/>
        </p:nvSpPr>
        <p:spPr>
          <a:xfrm>
            <a:off x="1464564" y="3858768"/>
            <a:ext cx="6410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Card</a:t>
            </a:r>
            <a:endParaRPr lang="en-US" sz="1250" dirty="0"/>
          </a:p>
        </p:txBody>
      </p:sp>
      <p:sp>
        <p:nvSpPr>
          <p:cNvPr id="29" name="Shape 24"/>
          <p:cNvSpPr/>
          <p:nvPr/>
        </p:nvSpPr>
        <p:spPr>
          <a:xfrm>
            <a:off x="2215388" y="3858768"/>
            <a:ext cx="806196" cy="329184"/>
          </a:xfrm>
          <a:prstGeom prst="roundRect">
            <a:avLst>
              <a:gd name="adj" fmla="val 50000"/>
            </a:avLst>
          </a:prstGeom>
          <a:solidFill>
            <a:srgbClr val="FFFFFF"/>
          </a:solidFill>
          <a:ln w="12700">
            <a:solidFill>
              <a:srgbClr val="14314F"/>
            </a:solidFill>
            <a:prstDash val="solid"/>
          </a:ln>
        </p:spPr>
      </p:sp>
      <p:sp>
        <p:nvSpPr>
          <p:cNvPr id="30" name="Text 25"/>
          <p:cNvSpPr txBox="1"/>
          <p:nvPr/>
        </p:nvSpPr>
        <p:spPr>
          <a:xfrm>
            <a:off x="2215388" y="3858768"/>
            <a:ext cx="8061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Reason</a:t>
            </a:r>
            <a:endParaRPr lang="en-US" sz="1250" dirty="0"/>
          </a:p>
        </p:txBody>
      </p:sp>
      <p:sp>
        <p:nvSpPr>
          <p:cNvPr id="31" name="Shape 26"/>
          <p:cNvSpPr/>
          <p:nvPr/>
        </p:nvSpPr>
        <p:spPr>
          <a:xfrm>
            <a:off x="3131312" y="3858768"/>
            <a:ext cx="1631696" cy="329184"/>
          </a:xfrm>
          <a:prstGeom prst="roundRect">
            <a:avLst>
              <a:gd name="adj" fmla="val 50000"/>
            </a:avLst>
          </a:prstGeom>
          <a:solidFill>
            <a:srgbClr val="FFFFFF"/>
          </a:solidFill>
          <a:ln w="12700">
            <a:solidFill>
              <a:srgbClr val="14314F"/>
            </a:solidFill>
            <a:prstDash val="solid"/>
          </a:ln>
        </p:spPr>
      </p:sp>
      <p:sp>
        <p:nvSpPr>
          <p:cNvPr id="32" name="Text 27"/>
          <p:cNvSpPr txBox="1"/>
          <p:nvPr/>
        </p:nvSpPr>
        <p:spPr>
          <a:xfrm>
            <a:off x="3131312" y="3858768"/>
            <a:ext cx="16316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Delivery address</a:t>
            </a:r>
            <a:endParaRPr lang="en-US" sz="1250" dirty="0"/>
          </a:p>
        </p:txBody>
      </p:sp>
      <p:sp>
        <p:nvSpPr>
          <p:cNvPr id="33" name="Text 28"/>
          <p:cNvSpPr txBox="1"/>
          <p:nvPr/>
        </p:nvSpPr>
        <p:spPr>
          <a:xfrm>
            <a:off x="548640" y="4242816"/>
            <a:ext cx="5440680" cy="237744"/>
          </a:xfrm>
          <a:prstGeom prst="rect">
            <a:avLst/>
          </a:prstGeom>
          <a:noFill/>
          <a:ln/>
        </p:spPr>
        <p:txBody>
          <a:bodyPr wrap="square" lIns="0" tIns="0" rIns="0" bIns="0" rtlCol="0" anchor="t"/>
          <a:lstStyle/>
          <a:p>
            <a:pPr indent="0" marL="0">
              <a:buNone/>
            </a:pPr>
            <a:r>
              <a:rPr lang="en-US" sz="1100" i="1" dirty="0">
                <a:solidFill>
                  <a:srgbClr val="7E8D9B"/>
                </a:solidFill>
                <a:latin typeface="Calibri" pitchFamily="34" charset="0"/>
                <a:ea typeface="Calibri" pitchFamily="34" charset="-122"/>
                <a:cs typeface="Calibri" pitchFamily="34" charset="-120"/>
              </a:rPr>
              <a:t>Reason is one of: damaged, lost, stolen, expiring, other.</a:t>
            </a:r>
            <a:endParaRPr lang="en-US" sz="1100" dirty="0"/>
          </a:p>
        </p:txBody>
      </p:sp>
      <p:sp>
        <p:nvSpPr>
          <p:cNvPr id="34" name="Shape 29"/>
          <p:cNvSpPr/>
          <p:nvPr/>
        </p:nvSpPr>
        <p:spPr>
          <a:xfrm>
            <a:off x="548640" y="4590288"/>
            <a:ext cx="5440680" cy="1572768"/>
          </a:xfrm>
          <a:prstGeom prst="roundRect">
            <a:avLst>
              <a:gd name="adj" fmla="val 5814"/>
            </a:avLst>
          </a:prstGeom>
          <a:solidFill>
            <a:srgbClr val="EEF4F2"/>
          </a:solidFill>
          <a:ln w="12700">
            <a:solidFill>
              <a:srgbClr val="B9D3C6"/>
            </a:solidFill>
            <a:prstDash val="solid"/>
          </a:ln>
        </p:spPr>
      </p:sp>
      <p:sp>
        <p:nvSpPr>
          <p:cNvPr id="35" name="icon circle BUILT-IN SAFETY"/>
          <p:cNvSpPr/>
          <p:nvPr/>
        </p:nvSpPr>
        <p:spPr>
          <a:xfrm>
            <a:off x="731520" y="4736592"/>
            <a:ext cx="310896" cy="310896"/>
          </a:xfrm>
          <a:prstGeom prst="ellipse">
            <a:avLst/>
          </a:prstGeom>
          <a:solidFill>
            <a:srgbClr val="2E7D5B"/>
          </a:solidFill>
          <a:ln w="12700">
            <a:solidFill>
              <a:srgbClr val="2E7D5B"/>
            </a:solidFill>
            <a:prstDash val="solid"/>
          </a:ln>
        </p:spPr>
      </p:sp>
      <p:pic>
        <p:nvPicPr>
          <p:cNvPr id="36" name="Image 3" descr="preencoded.png">    </p:cNvPr>
          <p:cNvPicPr>
            <a:picLocks noChangeAspect="1"/>
          </p:cNvPicPr>
          <p:nvPr/>
        </p:nvPicPr>
        <p:blipFill>
          <a:blip r:embed="rId4"/>
          <a:stretch>
            <a:fillRect/>
          </a:stretch>
        </p:blipFill>
        <p:spPr>
          <a:xfrm>
            <a:off x="804672" y="4809744"/>
            <a:ext cx="164592" cy="164592"/>
          </a:xfrm>
          <a:prstGeom prst="rect">
            <a:avLst/>
          </a:prstGeom>
        </p:spPr>
      </p:pic>
      <p:sp>
        <p:nvSpPr>
          <p:cNvPr id="37" name="Text 31"/>
          <p:cNvSpPr txBox="1"/>
          <p:nvPr/>
        </p:nvSpPr>
        <p:spPr>
          <a:xfrm>
            <a:off x="1152144" y="4754880"/>
            <a:ext cx="4572000" cy="274320"/>
          </a:xfrm>
          <a:prstGeom prst="rect">
            <a:avLst/>
          </a:prstGeom>
          <a:noFill/>
          <a:ln/>
        </p:spPr>
        <p:txBody>
          <a:bodyPr wrap="square" lIns="0" tIns="0" rIns="0" bIns="0" rtlCol="0" anchor="ctr"/>
          <a:lstStyle/>
          <a:p>
            <a:pPr indent="0" marL="0">
              <a:buNone/>
            </a:pPr>
            <a:r>
              <a:rPr lang="en-US" sz="1100" b="1" spc="150" kern="0" dirty="0">
                <a:solidFill>
                  <a:srgbClr val="2E7D5B"/>
                </a:solidFill>
                <a:latin typeface="Calibri" pitchFamily="34" charset="0"/>
                <a:ea typeface="Calibri" pitchFamily="34" charset="-122"/>
                <a:cs typeface="Calibri" pitchFamily="34" charset="-120"/>
              </a:rPr>
              <a:t>BUILT-IN SAFETY</a:t>
            </a:r>
            <a:endParaRPr lang="en-US" sz="1100" dirty="0"/>
          </a:p>
        </p:txBody>
      </p:sp>
      <p:sp>
        <p:nvSpPr>
          <p:cNvPr id="38" name="Text 32"/>
          <p:cNvSpPr txBox="1"/>
          <p:nvPr/>
        </p:nvSpPr>
        <p:spPr>
          <a:xfrm>
            <a:off x="777240" y="5138928"/>
            <a:ext cx="5029200" cy="93268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It never guesses the reason. If the advisor did not say, it asks.</a:t>
            </a:r>
            <a:endParaRPr lang="en-US" sz="1300" dirty="0"/>
          </a:p>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It shows the address on file and asks before mailing anything.</a:t>
            </a:r>
            <a:endParaRPr lang="en-US" sz="1300" dirty="0"/>
          </a:p>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Lost or stolen? It offers Report lost or stolen first.</a:t>
            </a:r>
            <a:endParaRPr lang="en-US" sz="1300" dirty="0"/>
          </a:p>
        </p:txBody>
      </p:sp>
      <p:sp>
        <p:nvSpPr>
          <p:cNvPr id="39" name="NetX AI panel"/>
          <p:cNvSpPr/>
          <p:nvPr/>
        </p:nvSpPr>
        <p:spPr>
          <a:xfrm>
            <a:off x="6355080" y="1371600"/>
            <a:ext cx="5285232" cy="4846320"/>
          </a:xfrm>
          <a:prstGeom prst="roundRect">
            <a:avLst>
              <a:gd name="adj" fmla="val 1887"/>
            </a:avLst>
          </a:prstGeom>
          <a:solidFill>
            <a:srgbClr val="F5F8FC"/>
          </a:solidFill>
          <a:ln w="12700">
            <a:solidFill>
              <a:srgbClr val="D5DDE8"/>
            </a:solidFill>
            <a:prstDash val="solid"/>
          </a:ln>
        </p:spPr>
      </p:sp>
      <p:pic>
        <p:nvPicPr>
          <p:cNvPr id="40" name="Image 4" descr="preencoded.png">    </p:cNvPr>
          <p:cNvPicPr>
            <a:picLocks noChangeAspect="1"/>
          </p:cNvPicPr>
          <p:nvPr/>
        </p:nvPicPr>
        <p:blipFill>
          <a:blip r:embed="rId5"/>
          <a:stretch>
            <a:fillRect/>
          </a:stretch>
        </p:blipFill>
        <p:spPr>
          <a:xfrm>
            <a:off x="6556248" y="1508760"/>
            <a:ext cx="182880" cy="182880"/>
          </a:xfrm>
          <a:prstGeom prst="rect">
            <a:avLst/>
          </a:prstGeom>
        </p:spPr>
      </p:pic>
      <p:sp>
        <p:nvSpPr>
          <p:cNvPr id="41" name="Text 34"/>
          <p:cNvSpPr txBox="1"/>
          <p:nvPr/>
        </p:nvSpPr>
        <p:spPr>
          <a:xfrm>
            <a:off x="6793992" y="1472184"/>
            <a:ext cx="1828800" cy="256032"/>
          </a:xfrm>
          <a:prstGeom prst="rect">
            <a:avLst/>
          </a:prstGeom>
          <a:noFill/>
          <a:ln/>
        </p:spPr>
        <p:txBody>
          <a:bodyPr wrap="square" lIns="0" tIns="0" rIns="0" bIns="0" rtlCol="0" anchor="ctr"/>
          <a:lstStyle/>
          <a:p>
            <a:pPr indent="0" marL="0">
              <a:buNone/>
            </a:pPr>
            <a:r>
              <a:rPr lang="en-US" sz="1300" b="1" dirty="0">
                <a:solidFill>
                  <a:srgbClr val="1F2D4A"/>
                </a:solidFill>
                <a:latin typeface="Calibri" pitchFamily="34" charset="0"/>
                <a:ea typeface="Calibri" pitchFamily="34" charset="-122"/>
                <a:cs typeface="Calibri" pitchFamily="34" charset="-120"/>
              </a:rPr>
              <a:t>NetX AI</a:t>
            </a:r>
            <a:endParaRPr lang="en-US" sz="1300" dirty="0"/>
          </a:p>
        </p:txBody>
      </p:sp>
      <p:pic>
        <p:nvPicPr>
          <p:cNvPr id="42" name="Image 5" descr="preencoded.png">    </p:cNvPr>
          <p:cNvPicPr>
            <a:picLocks noChangeAspect="1"/>
          </p:cNvPicPr>
          <p:nvPr/>
        </p:nvPicPr>
        <p:blipFill>
          <a:blip r:embed="rId6"/>
          <a:stretch>
            <a:fillRect/>
          </a:stretch>
        </p:blipFill>
        <p:spPr>
          <a:xfrm>
            <a:off x="10927080" y="1517904"/>
            <a:ext cx="164592" cy="164592"/>
          </a:xfrm>
          <a:prstGeom prst="rect">
            <a:avLst/>
          </a:prstGeom>
        </p:spPr>
      </p:pic>
      <p:pic>
        <p:nvPicPr>
          <p:cNvPr id="43" name="Image 6" descr="preencoded.png">    </p:cNvPr>
          <p:cNvPicPr>
            <a:picLocks noChangeAspect="1"/>
          </p:cNvPicPr>
          <p:nvPr/>
        </p:nvPicPr>
        <p:blipFill>
          <a:blip r:embed="rId7"/>
          <a:stretch>
            <a:fillRect/>
          </a:stretch>
        </p:blipFill>
        <p:spPr>
          <a:xfrm>
            <a:off x="11228832" y="1517904"/>
            <a:ext cx="164592" cy="164592"/>
          </a:xfrm>
          <a:prstGeom prst="rect">
            <a:avLst/>
          </a:prstGeom>
        </p:spPr>
      </p:pic>
      <p:sp>
        <p:nvSpPr>
          <p:cNvPr id="44" name="Shape 35"/>
          <p:cNvSpPr/>
          <p:nvPr/>
        </p:nvSpPr>
        <p:spPr>
          <a:xfrm>
            <a:off x="11457432" y="3200400"/>
            <a:ext cx="237744" cy="868680"/>
          </a:xfrm>
          <a:prstGeom prst="roundRect">
            <a:avLst>
              <a:gd name="adj" fmla="val 19231"/>
            </a:avLst>
          </a:prstGeom>
          <a:solidFill>
            <a:srgbClr val="1F2D4A"/>
          </a:solidFill>
          <a:ln w="12700">
            <a:solidFill>
              <a:srgbClr val="1F2D4A"/>
            </a:solidFill>
            <a:prstDash val="solid"/>
          </a:ln>
        </p:spPr>
      </p:sp>
      <p:sp>
        <p:nvSpPr>
          <p:cNvPr id="45" name="Text 36"/>
          <p:cNvSpPr txBox="1"/>
          <p:nvPr/>
        </p:nvSpPr>
        <p:spPr>
          <a:xfrm rot="5400000">
            <a:off x="11132820" y="3529584"/>
            <a:ext cx="8686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Guide Me</a:t>
            </a:r>
            <a:endParaRPr lang="en-US" sz="900" dirty="0"/>
          </a:p>
        </p:txBody>
      </p:sp>
      <p:sp>
        <p:nvSpPr>
          <p:cNvPr id="46" name="Shape 37"/>
          <p:cNvSpPr/>
          <p:nvPr/>
        </p:nvSpPr>
        <p:spPr>
          <a:xfrm>
            <a:off x="6537960" y="5504688"/>
            <a:ext cx="4828032" cy="384048"/>
          </a:xfrm>
          <a:prstGeom prst="roundRect">
            <a:avLst>
              <a:gd name="adj" fmla="val 23810"/>
            </a:avLst>
          </a:prstGeom>
          <a:solidFill>
            <a:srgbClr val="FFFFFF"/>
          </a:solidFill>
          <a:ln w="12700">
            <a:solidFill>
              <a:srgbClr val="D5DDE8"/>
            </a:solidFill>
            <a:prstDash val="solid"/>
          </a:ln>
        </p:spPr>
      </p:sp>
      <p:pic>
        <p:nvPicPr>
          <p:cNvPr id="47" name="Image 7" descr="preencoded.png">    </p:cNvPr>
          <p:cNvPicPr>
            <a:picLocks noChangeAspect="1"/>
          </p:cNvPicPr>
          <p:nvPr/>
        </p:nvPicPr>
        <p:blipFill>
          <a:blip r:embed="rId8"/>
          <a:stretch>
            <a:fillRect/>
          </a:stretch>
        </p:blipFill>
        <p:spPr>
          <a:xfrm>
            <a:off x="6665976" y="5614416"/>
            <a:ext cx="164592" cy="164592"/>
          </a:xfrm>
          <a:prstGeom prst="rect">
            <a:avLst/>
          </a:prstGeom>
        </p:spPr>
      </p:pic>
      <p:sp>
        <p:nvSpPr>
          <p:cNvPr id="48" name="Text 38"/>
          <p:cNvSpPr txBox="1"/>
          <p:nvPr/>
        </p:nvSpPr>
        <p:spPr>
          <a:xfrm>
            <a:off x="6922008" y="5504688"/>
            <a:ext cx="2743200" cy="384048"/>
          </a:xfrm>
          <a:prstGeom prst="rect">
            <a:avLst/>
          </a:prstGeom>
          <a:noFill/>
          <a:ln/>
        </p:spPr>
        <p:txBody>
          <a:bodyPr wrap="square" lIns="0" tIns="0" rIns="0" bIns="0" rtlCol="0" anchor="ctr"/>
          <a:lstStyle/>
          <a:p>
            <a:pPr indent="0" marL="0">
              <a:buNone/>
            </a:pPr>
            <a:r>
              <a:rPr lang="en-US" sz="1100" dirty="0">
                <a:solidFill>
                  <a:srgbClr val="8A93A0"/>
                </a:solidFill>
                <a:latin typeface="Calibri" pitchFamily="34" charset="0"/>
                <a:ea typeface="Calibri" pitchFamily="34" charset="-122"/>
                <a:cs typeface="Calibri" pitchFamily="34" charset="-120"/>
              </a:rPr>
              <a:t>Ask NetX AI</a:t>
            </a:r>
            <a:endParaRPr lang="en-US" sz="1100" dirty="0"/>
          </a:p>
        </p:txBody>
      </p:sp>
      <p:pic>
        <p:nvPicPr>
          <p:cNvPr id="49" name="Image 8" descr="preencoded.png">    </p:cNvPr>
          <p:cNvPicPr>
            <a:picLocks noChangeAspect="1"/>
          </p:cNvPicPr>
          <p:nvPr/>
        </p:nvPicPr>
        <p:blipFill>
          <a:blip r:embed="rId9"/>
          <a:stretch>
            <a:fillRect/>
          </a:stretch>
        </p:blipFill>
        <p:spPr>
          <a:xfrm>
            <a:off x="10707624" y="5614416"/>
            <a:ext cx="164592" cy="164592"/>
          </a:xfrm>
          <a:prstGeom prst="rect">
            <a:avLst/>
          </a:prstGeom>
        </p:spPr>
      </p:pic>
      <p:sp>
        <p:nvSpPr>
          <p:cNvPr id="50" name="Shape 39"/>
          <p:cNvSpPr/>
          <p:nvPr/>
        </p:nvSpPr>
        <p:spPr>
          <a:xfrm>
            <a:off x="10981944" y="5559552"/>
            <a:ext cx="274320" cy="274320"/>
          </a:xfrm>
          <a:prstGeom prst="ellipse">
            <a:avLst/>
          </a:prstGeom>
          <a:solidFill>
            <a:srgbClr val="2F5D9A"/>
          </a:solidFill>
          <a:ln w="12700">
            <a:solidFill>
              <a:srgbClr val="2F5D9A"/>
            </a:solidFill>
            <a:prstDash val="solid"/>
          </a:ln>
        </p:spPr>
      </p:sp>
      <p:pic>
        <p:nvPicPr>
          <p:cNvPr id="51" name="Image 9" descr="preencoded.png">    </p:cNvPr>
          <p:cNvPicPr>
            <a:picLocks noChangeAspect="1"/>
          </p:cNvPicPr>
          <p:nvPr/>
        </p:nvPicPr>
        <p:blipFill>
          <a:blip r:embed="rId10"/>
          <a:stretch>
            <a:fillRect/>
          </a:stretch>
        </p:blipFill>
        <p:spPr>
          <a:xfrm>
            <a:off x="11045952" y="5623560"/>
            <a:ext cx="146304" cy="146304"/>
          </a:xfrm>
          <a:prstGeom prst="rect">
            <a:avLst/>
          </a:prstGeom>
        </p:spPr>
      </p:pic>
      <p:sp>
        <p:nvSpPr>
          <p:cNvPr id="52" name="Text 40"/>
          <p:cNvSpPr txBox="1"/>
          <p:nvPr/>
        </p:nvSpPr>
        <p:spPr>
          <a:xfrm>
            <a:off x="6537960" y="5943600"/>
            <a:ext cx="4828032" cy="219456"/>
          </a:xfrm>
          <a:prstGeom prst="rect">
            <a:avLst/>
          </a:prstGeom>
          <a:noFill/>
          <a:ln/>
        </p:spPr>
        <p:txBody>
          <a:bodyPr wrap="square" lIns="0" tIns="0" rIns="0" bIns="0" rtlCol="0" anchor="ctr"/>
          <a:lstStyle/>
          <a:p>
            <a:pPr algn="ctr" indent="0" marL="0">
              <a:buNone/>
            </a:pPr>
            <a:r>
              <a:rPr lang="en-US" sz="900" dirty="0">
                <a:solidFill>
                  <a:srgbClr val="8A93A0"/>
                </a:solidFill>
                <a:latin typeface="Calibri" pitchFamily="34" charset="0"/>
                <a:ea typeface="Calibri" pitchFamily="34" charset="-122"/>
                <a:cs typeface="Calibri" pitchFamily="34" charset="-120"/>
              </a:rPr>
              <a:t>Please note: AI can make mistakes. All data shown here is synthetic.</a:t>
            </a:r>
            <a:endParaRPr lang="en-US" sz="900" dirty="0"/>
          </a:p>
        </p:txBody>
      </p:sp>
      <p:sp>
        <p:nvSpPr>
          <p:cNvPr id="53" name="Shape 41"/>
          <p:cNvSpPr/>
          <p:nvPr/>
        </p:nvSpPr>
        <p:spPr>
          <a:xfrm>
            <a:off x="7527341" y="1920240"/>
            <a:ext cx="3774643" cy="536448"/>
          </a:xfrm>
          <a:prstGeom prst="roundRect">
            <a:avLst>
              <a:gd name="adj" fmla="val 28977"/>
            </a:avLst>
          </a:prstGeom>
          <a:solidFill>
            <a:srgbClr val="DCE6F4"/>
          </a:solidFill>
          <a:ln w="12700">
            <a:solidFill>
              <a:srgbClr val="DCE6F4"/>
            </a:solidFill>
            <a:prstDash val="solid"/>
          </a:ln>
        </p:spPr>
      </p:sp>
      <p:sp>
        <p:nvSpPr>
          <p:cNvPr id="54" name="Text 42"/>
          <p:cNvSpPr txBox="1"/>
          <p:nvPr/>
        </p:nvSpPr>
        <p:spPr>
          <a:xfrm>
            <a:off x="7691933" y="1920240"/>
            <a:ext cx="3445459" cy="536448"/>
          </a:xfrm>
          <a:prstGeom prst="rect">
            <a:avLst/>
          </a:prstGeom>
          <a:noFill/>
          <a:ln/>
        </p:spPr>
        <p:txBody>
          <a:bodyPr wrap="square" lIns="0" tIns="0" rIns="0" bIns="0" rtlCol="0" anchor="ctr"/>
          <a:lstStyle/>
          <a:p>
            <a:pPr indent="0" marL="0">
              <a:buNone/>
            </a:pPr>
            <a:r>
              <a:rPr lang="en-US" sz="1200" dirty="0">
                <a:solidFill>
                  <a:srgbClr val="2B2F36"/>
                </a:solidFill>
                <a:latin typeface="Calibri" pitchFamily="34" charset="0"/>
                <a:ea typeface="Calibri" pitchFamily="34" charset="-122"/>
                <a:cs typeface="Calibri" pitchFamily="34" charset="-120"/>
              </a:rPr>
              <a:t>Jane Miller’s card is cracked, send her a new one</a:t>
            </a:r>
            <a:endParaRPr lang="en-US" sz="1200" dirty="0"/>
          </a:p>
        </p:txBody>
      </p:sp>
      <p:sp>
        <p:nvSpPr>
          <p:cNvPr id="55" name="Text 43"/>
          <p:cNvSpPr txBox="1"/>
          <p:nvPr/>
        </p:nvSpPr>
        <p:spPr>
          <a:xfrm>
            <a:off x="6583680" y="2548128"/>
            <a:ext cx="4718304" cy="185928"/>
          </a:xfrm>
          <a:prstGeom prst="rect">
            <a:avLst/>
          </a:prstGeom>
          <a:noFill/>
          <a:ln/>
        </p:spPr>
        <p:txBody>
          <a:bodyPr wrap="square" lIns="0" tIns="0" rIns="0" bIns="0" rtlCol="0" anchor="t"/>
          <a:lstStyle/>
          <a:p>
            <a:pPr indent="0" marL="0">
              <a:buNone/>
            </a:pPr>
            <a:r>
              <a:rPr lang="en-US" sz="1200" dirty="0">
                <a:solidFill>
                  <a:srgbClr val="2B2F36"/>
                </a:solidFill>
                <a:latin typeface="Calibri" pitchFamily="34" charset="0"/>
                <a:ea typeface="Calibri" pitchFamily="34" charset="-122"/>
                <a:cs typeface="Calibri" pitchFamily="34" charset="-120"/>
              </a:rPr>
              <a:t>Send it to 14 Hudson St, New York, NY 10013, the address on file?</a:t>
            </a:r>
            <a:endParaRPr lang="en-US" sz="1200" dirty="0"/>
          </a:p>
        </p:txBody>
      </p:sp>
      <p:sp>
        <p:nvSpPr>
          <p:cNvPr id="56" name="Shape 44"/>
          <p:cNvSpPr/>
          <p:nvPr/>
        </p:nvSpPr>
        <p:spPr>
          <a:xfrm>
            <a:off x="10479024" y="2898648"/>
            <a:ext cx="822960" cy="350520"/>
          </a:xfrm>
          <a:prstGeom prst="roundRect">
            <a:avLst>
              <a:gd name="adj" fmla="val 44348"/>
            </a:avLst>
          </a:prstGeom>
          <a:solidFill>
            <a:srgbClr val="DCE6F4"/>
          </a:solidFill>
          <a:ln w="12700">
            <a:solidFill>
              <a:srgbClr val="DCE6F4"/>
            </a:solidFill>
            <a:prstDash val="solid"/>
          </a:ln>
        </p:spPr>
      </p:sp>
      <p:sp>
        <p:nvSpPr>
          <p:cNvPr id="57" name="Text 45"/>
          <p:cNvSpPr txBox="1"/>
          <p:nvPr/>
        </p:nvSpPr>
        <p:spPr>
          <a:xfrm>
            <a:off x="10643616" y="2898648"/>
            <a:ext cx="493776" cy="350520"/>
          </a:xfrm>
          <a:prstGeom prst="rect">
            <a:avLst/>
          </a:prstGeom>
          <a:noFill/>
          <a:ln/>
        </p:spPr>
        <p:txBody>
          <a:bodyPr wrap="square" lIns="0" tIns="0" rIns="0" bIns="0" rtlCol="0" anchor="ctr"/>
          <a:lstStyle/>
          <a:p>
            <a:pPr indent="0" marL="0">
              <a:buNone/>
            </a:pPr>
            <a:r>
              <a:rPr lang="en-US" sz="1200" dirty="0">
                <a:solidFill>
                  <a:srgbClr val="2B2F36"/>
                </a:solidFill>
                <a:latin typeface="Calibri" pitchFamily="34" charset="0"/>
                <a:ea typeface="Calibri" pitchFamily="34" charset="-122"/>
                <a:cs typeface="Calibri" pitchFamily="34" charset="-120"/>
              </a:rPr>
              <a:t>Yes</a:t>
            </a:r>
            <a:endParaRPr lang="en-US" sz="1200" dirty="0"/>
          </a:p>
        </p:txBody>
      </p:sp>
      <p:sp>
        <p:nvSpPr>
          <p:cNvPr id="58" name="Shape 46"/>
          <p:cNvSpPr/>
          <p:nvPr/>
        </p:nvSpPr>
        <p:spPr>
          <a:xfrm>
            <a:off x="6583680" y="3340608"/>
            <a:ext cx="4435206" cy="1039368"/>
          </a:xfrm>
          <a:prstGeom prst="roundRect">
            <a:avLst>
              <a:gd name="adj" fmla="val 7038"/>
            </a:avLst>
          </a:prstGeom>
          <a:solidFill>
            <a:srgbClr val="FFFFFF"/>
          </a:solidFill>
          <a:ln w="12700">
            <a:solidFill>
              <a:srgbClr val="D5DDE8"/>
            </a:solidFill>
            <a:prstDash val="solid"/>
          </a:ln>
        </p:spPr>
      </p:sp>
      <p:sp>
        <p:nvSpPr>
          <p:cNvPr id="59" name="Text 47"/>
          <p:cNvSpPr txBox="1"/>
          <p:nvPr/>
        </p:nvSpPr>
        <p:spPr>
          <a:xfrm>
            <a:off x="6720840" y="3450336"/>
            <a:ext cx="4160886" cy="408432"/>
          </a:xfrm>
          <a:prstGeom prst="rect">
            <a:avLst/>
          </a:prstGeom>
          <a:noFill/>
          <a:ln/>
        </p:spPr>
        <p:txBody>
          <a:bodyPr wrap="square" lIns="0" tIns="0" rIns="0" bIns="0" rtlCol="0" anchor="t"/>
          <a:lstStyle/>
          <a:p>
            <a:pPr indent="0" marL="0">
              <a:buNone/>
            </a:pPr>
            <a:r>
              <a:rPr lang="en-US" sz="1200" b="1" dirty="0">
                <a:solidFill>
                  <a:srgbClr val="1F2D4A"/>
                </a:solidFill>
                <a:latin typeface="Calibri" pitchFamily="34" charset="0"/>
                <a:ea typeface="Calibri" pitchFamily="34" charset="-122"/>
                <a:cs typeface="Calibri" pitchFamily="34" charset="-120"/>
              </a:rPr>
              <a:t>Replace the card ending 4417 for Jane Miller. Reason: damaged. Deliver to 14 Hudson St.</a:t>
            </a:r>
            <a:endParaRPr lang="en-US" sz="1200" dirty="0"/>
          </a:p>
        </p:txBody>
      </p:sp>
      <p:sp>
        <p:nvSpPr>
          <p:cNvPr id="60" name="Shape 48"/>
          <p:cNvSpPr/>
          <p:nvPr/>
        </p:nvSpPr>
        <p:spPr>
          <a:xfrm>
            <a:off x="6720840" y="3941064"/>
            <a:ext cx="876935" cy="310896"/>
          </a:xfrm>
          <a:prstGeom prst="roundRect">
            <a:avLst>
              <a:gd name="adj" fmla="val 50000"/>
            </a:avLst>
          </a:prstGeom>
          <a:solidFill>
            <a:srgbClr val="2F5D9A"/>
          </a:solidFill>
          <a:ln w="12700">
            <a:solidFill>
              <a:srgbClr val="2F5D9A"/>
            </a:solidFill>
            <a:prstDash val="solid"/>
          </a:ln>
        </p:spPr>
      </p:sp>
      <p:sp>
        <p:nvSpPr>
          <p:cNvPr id="61" name="Text 49"/>
          <p:cNvSpPr txBox="1"/>
          <p:nvPr/>
        </p:nvSpPr>
        <p:spPr>
          <a:xfrm>
            <a:off x="6720840" y="3941064"/>
            <a:ext cx="876935"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Confirm</a:t>
            </a:r>
            <a:endParaRPr lang="en-US" sz="1150" dirty="0"/>
          </a:p>
        </p:txBody>
      </p:sp>
      <p:sp>
        <p:nvSpPr>
          <p:cNvPr id="62" name="Shape 50"/>
          <p:cNvSpPr/>
          <p:nvPr/>
        </p:nvSpPr>
        <p:spPr>
          <a:xfrm>
            <a:off x="7707503" y="3941064"/>
            <a:ext cx="803910" cy="310896"/>
          </a:xfrm>
          <a:prstGeom prst="roundRect">
            <a:avLst>
              <a:gd name="adj" fmla="val 50000"/>
            </a:avLst>
          </a:prstGeom>
          <a:solidFill>
            <a:srgbClr val="FFFFFF"/>
          </a:solidFill>
          <a:ln w="12700">
            <a:solidFill>
              <a:srgbClr val="D5DDE8"/>
            </a:solidFill>
            <a:prstDash val="solid"/>
          </a:ln>
        </p:spPr>
      </p:sp>
      <p:sp>
        <p:nvSpPr>
          <p:cNvPr id="63" name="Text 51"/>
          <p:cNvSpPr txBox="1"/>
          <p:nvPr/>
        </p:nvSpPr>
        <p:spPr>
          <a:xfrm>
            <a:off x="7707503" y="3941064"/>
            <a:ext cx="803910" cy="310896"/>
          </a:xfrm>
          <a:prstGeom prst="rect">
            <a:avLst/>
          </a:prstGeom>
          <a:noFill/>
          <a:ln/>
        </p:spPr>
        <p:txBody>
          <a:bodyPr wrap="square" lIns="0" tIns="0" rIns="0" bIns="0" rtlCol="0" anchor="ctr"/>
          <a:lstStyle/>
          <a:p>
            <a:pPr algn="ctr" indent="0" marL="0">
              <a:buNone/>
            </a:pPr>
            <a:r>
              <a:rPr lang="en-US" sz="1150" dirty="0">
                <a:solidFill>
                  <a:srgbClr val="5B6B7A"/>
                </a:solidFill>
                <a:latin typeface="Calibri" pitchFamily="34" charset="0"/>
                <a:ea typeface="Calibri" pitchFamily="34" charset="-122"/>
                <a:cs typeface="Calibri" pitchFamily="34" charset="-120"/>
              </a:rPr>
              <a:t>Cancel</a:t>
            </a:r>
            <a:endParaRPr lang="en-US" sz="1150" dirty="0"/>
          </a:p>
        </p:txBody>
      </p:sp>
      <p:sp>
        <p:nvSpPr>
          <p:cNvPr id="64" name="Text 52"/>
          <p:cNvSpPr txBox="1"/>
          <p:nvPr/>
        </p:nvSpPr>
        <p:spPr>
          <a:xfrm>
            <a:off x="8666861" y="3941064"/>
            <a:ext cx="1645920" cy="310896"/>
          </a:xfrm>
          <a:prstGeom prst="rect">
            <a:avLst/>
          </a:prstGeom>
          <a:noFill/>
          <a:ln/>
        </p:spPr>
        <p:txBody>
          <a:bodyPr wrap="square" lIns="0" tIns="0" rIns="0" bIns="0" rtlCol="0" anchor="ctr"/>
          <a:lstStyle/>
          <a:p>
            <a:pPr indent="0" marL="0">
              <a:buNone/>
            </a:pPr>
            <a:r>
              <a:rPr lang="en-US" sz="1000" i="1" dirty="0">
                <a:solidFill>
                  <a:srgbClr val="8A93A0"/>
                </a:solidFill>
                <a:latin typeface="Calibri" pitchFamily="34" charset="0"/>
                <a:ea typeface="Calibri" pitchFamily="34" charset="-122"/>
                <a:cs typeface="Calibri" pitchFamily="34" charset="-120"/>
              </a:rPr>
              <a:t>nothing has run yet</a:t>
            </a:r>
            <a:endParaRPr lang="en-US" sz="1000" dirty="0"/>
          </a:p>
        </p:txBody>
      </p:sp>
      <p:pic>
        <p:nvPicPr>
          <p:cNvPr id="65" name="Image 10" descr="preencoded.png">    </p:cNvPr>
          <p:cNvPicPr>
            <a:picLocks noChangeAspect="1"/>
          </p:cNvPicPr>
          <p:nvPr/>
        </p:nvPicPr>
        <p:blipFill>
          <a:blip r:embed="rId11"/>
          <a:stretch>
            <a:fillRect/>
          </a:stretch>
        </p:blipFill>
        <p:spPr>
          <a:xfrm>
            <a:off x="6583680" y="4489704"/>
            <a:ext cx="182880" cy="182880"/>
          </a:xfrm>
          <a:prstGeom prst="rect">
            <a:avLst/>
          </a:prstGeom>
        </p:spPr>
      </p:pic>
      <p:sp>
        <p:nvSpPr>
          <p:cNvPr id="66" name="Text 53"/>
          <p:cNvSpPr txBox="1"/>
          <p:nvPr/>
        </p:nvSpPr>
        <p:spPr>
          <a:xfrm>
            <a:off x="6858000" y="4471416"/>
            <a:ext cx="4443984" cy="185928"/>
          </a:xfrm>
          <a:prstGeom prst="rect">
            <a:avLst/>
          </a:prstGeom>
          <a:noFill/>
          <a:ln/>
        </p:spPr>
        <p:txBody>
          <a:bodyPr wrap="square" lIns="0" tIns="0" rIns="0" bIns="0" rtlCol="0" anchor="ctr"/>
          <a:lstStyle/>
          <a:p>
            <a:pPr indent="0" marL="0">
              <a:buNone/>
            </a:pPr>
            <a:r>
              <a:rPr lang="en-US" sz="1200" b="1" dirty="0">
                <a:solidFill>
                  <a:srgbClr val="2E7D5B"/>
                </a:solidFill>
                <a:latin typeface="Calibri" pitchFamily="34" charset="0"/>
                <a:ea typeface="Calibri" pitchFamily="34" charset="-122"/>
                <a:cs typeface="Calibri" pitchFamily="34" charset="-120"/>
              </a:rPr>
              <a:t>Replacement ordered. The card ending 4417 is cancelled.</a:t>
            </a:r>
            <a:endParaRPr lang="en-US" sz="1200" dirty="0"/>
          </a:p>
        </p:txBody>
      </p:sp>
      <p:pic>
        <p:nvPicPr>
          <p:cNvPr id="67" name="Image 11" descr="preencoded.png">    </p:cNvPr>
          <p:cNvPicPr>
            <a:picLocks noChangeAspect="1"/>
          </p:cNvPicPr>
          <p:nvPr/>
        </p:nvPicPr>
        <p:blipFill>
          <a:blip r:embed="rId12"/>
          <a:stretch>
            <a:fillRect/>
          </a:stretch>
        </p:blipFill>
        <p:spPr>
          <a:xfrm>
            <a:off x="6583680" y="4730496"/>
            <a:ext cx="155448" cy="155448"/>
          </a:xfrm>
          <a:prstGeom prst="rect">
            <a:avLst/>
          </a:prstGeom>
        </p:spPr>
      </p:pic>
      <p:pic>
        <p:nvPicPr>
          <p:cNvPr id="68" name="Image 12" descr="preencoded.png">    </p:cNvPr>
          <p:cNvPicPr>
            <a:picLocks noChangeAspect="1"/>
          </p:cNvPicPr>
          <p:nvPr/>
        </p:nvPicPr>
        <p:blipFill>
          <a:blip r:embed="rId13"/>
          <a:stretch>
            <a:fillRect/>
          </a:stretch>
        </p:blipFill>
        <p:spPr>
          <a:xfrm>
            <a:off x="6876288" y="4730496"/>
            <a:ext cx="155448" cy="155448"/>
          </a:xfrm>
          <a:prstGeom prst="rect">
            <a:avLst/>
          </a:prstGeom>
        </p:spPr>
      </p:pic>
      <p:pic>
        <p:nvPicPr>
          <p:cNvPr id="69" name="Image 13" descr="preencoded.png">    </p:cNvPr>
          <p:cNvPicPr>
            <a:picLocks noChangeAspect="1"/>
          </p:cNvPicPr>
          <p:nvPr/>
        </p:nvPicPr>
        <p:blipFill>
          <a:blip r:embed="rId14"/>
          <a:stretch>
            <a:fillRect/>
          </a:stretch>
        </p:blipFill>
        <p:spPr>
          <a:xfrm>
            <a:off x="7168896" y="4730496"/>
            <a:ext cx="155448" cy="155448"/>
          </a:xfrm>
          <a:prstGeom prst="rect">
            <a:avLst/>
          </a:prstGeom>
        </p:spPr>
      </p:pic>
      <p:pic>
        <p:nvPicPr>
          <p:cNvPr id="70" name="Image 14" descr="preencoded.png">    </p:cNvPr>
          <p:cNvPicPr>
            <a:picLocks noChangeAspect="1"/>
          </p:cNvPicPr>
          <p:nvPr/>
        </p:nvPicPr>
        <p:blipFill>
          <a:blip r:embed="rId15"/>
          <a:stretch>
            <a:fillRect/>
          </a:stretch>
        </p:blipFill>
        <p:spPr>
          <a:xfrm>
            <a:off x="7461504" y="4730496"/>
            <a:ext cx="155448" cy="155448"/>
          </a:xfrm>
          <a:prstGeom prst="rect">
            <a:avLst/>
          </a:prstGeom>
        </p:spPr>
      </p:pic>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Close card permanently</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The client is done with this card for good.</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This is the one action that cannot be reversed, so it gets the strictest wording and the red button.</a:t>
            </a:r>
            <a:endParaRPr lang="en-US" sz="1100" dirty="0"/>
          </a:p>
        </p:txBody>
      </p:sp>
      <p:sp>
        <p:nvSpPr>
          <p:cNvPr id="5" name="Shape 3"/>
          <p:cNvSpPr/>
          <p:nvPr/>
        </p:nvSpPr>
        <p:spPr>
          <a:xfrm>
            <a:off x="9841992" y="420624"/>
            <a:ext cx="1798320" cy="365760"/>
          </a:xfrm>
          <a:prstGeom prst="roundRect">
            <a:avLst>
              <a:gd name="adj" fmla="val 50000"/>
            </a:avLst>
          </a:prstGeom>
          <a:solidFill>
            <a:srgbClr val="FBEFEF"/>
          </a:solidFill>
          <a:ln w="15875">
            <a:solidFill>
              <a:srgbClr val="B03030"/>
            </a:solidFill>
            <a:prstDash val="solid"/>
          </a:ln>
        </p:spPr>
      </p:sp>
      <p:sp>
        <p:nvSpPr>
          <p:cNvPr id="6" name="Text 4"/>
          <p:cNvSpPr txBox="1"/>
          <p:nvPr/>
        </p:nvSpPr>
        <p:spPr>
          <a:xfrm>
            <a:off x="9841992" y="420624"/>
            <a:ext cx="1798320" cy="365760"/>
          </a:xfrm>
          <a:prstGeom prst="rect">
            <a:avLst/>
          </a:prstGeom>
          <a:noFill/>
          <a:ln/>
        </p:spPr>
        <p:txBody>
          <a:bodyPr wrap="square" lIns="0" tIns="0" rIns="0" bIns="0" rtlCol="0" anchor="ctr"/>
          <a:lstStyle/>
          <a:p>
            <a:pPr algn="ctr" indent="0" marL="0">
              <a:buNone/>
            </a:pPr>
            <a:r>
              <a:rPr lang="en-US" sz="1200" b="1" dirty="0">
                <a:solidFill>
                  <a:srgbClr val="B03030"/>
                </a:solidFill>
                <a:latin typeface="Calibri" pitchFamily="34" charset="0"/>
                <a:ea typeface="Calibri" pitchFamily="34" charset="-122"/>
                <a:cs typeface="Calibri" pitchFamily="34" charset="-120"/>
              </a:rPr>
              <a:t>Cannot be undone</a:t>
            </a:r>
            <a:endParaRPr lang="en-US" sz="1200" dirty="0"/>
          </a:p>
        </p:txBody>
      </p:sp>
      <p:sp>
        <p:nvSpPr>
          <p:cNvPr id="7" name="icon circle WHAT IT DOES"/>
          <p:cNvSpPr/>
          <p:nvPr/>
        </p:nvSpPr>
        <p:spPr>
          <a:xfrm>
            <a:off x="548640" y="1463040"/>
            <a:ext cx="310896" cy="310896"/>
          </a:xfrm>
          <a:prstGeom prst="ellipse">
            <a:avLst/>
          </a:prstGeom>
          <a:solidFill>
            <a:srgbClr val="14314F"/>
          </a:solidFill>
          <a:ln w="12700">
            <a:solidFill>
              <a:srgbClr val="14314F"/>
            </a:solidFill>
            <a:prstDash val="solid"/>
          </a:ln>
        </p:spPr>
      </p:sp>
      <p:pic>
        <p:nvPicPr>
          <p:cNvPr id="8" name="Image 0" descr="preencoded.png">    </p:cNvPr>
          <p:cNvPicPr>
            <a:picLocks noChangeAspect="1"/>
          </p:cNvPicPr>
          <p:nvPr/>
        </p:nvPicPr>
        <p:blipFill>
          <a:blip r:embed="rId1"/>
          <a:stretch>
            <a:fillRect/>
          </a:stretch>
        </p:blipFill>
        <p:spPr>
          <a:xfrm>
            <a:off x="621792" y="1536192"/>
            <a:ext cx="164592" cy="164592"/>
          </a:xfrm>
          <a:prstGeom prst="rect">
            <a:avLst/>
          </a:prstGeom>
        </p:spPr>
      </p:pic>
      <p:sp>
        <p:nvSpPr>
          <p:cNvPr id="9" name="Text 6"/>
          <p:cNvSpPr txBox="1"/>
          <p:nvPr/>
        </p:nvSpPr>
        <p:spPr>
          <a:xfrm>
            <a:off x="969264" y="1481328"/>
            <a:ext cx="4572000" cy="274320"/>
          </a:xfrm>
          <a:prstGeom prst="rect">
            <a:avLst/>
          </a:prstGeom>
          <a:noFill/>
          <a:ln/>
        </p:spPr>
        <p:txBody>
          <a:bodyPr wrap="square" lIns="0" tIns="0" rIns="0" bIns="0" rtlCol="0" anchor="ctr"/>
          <a:lstStyle/>
          <a:p>
            <a:pPr indent="0" marL="0">
              <a:buNone/>
            </a:pPr>
            <a:r>
              <a:rPr lang="en-US" sz="1100" b="1" spc="150" kern="0" dirty="0">
                <a:solidFill>
                  <a:srgbClr val="14314F"/>
                </a:solidFill>
                <a:latin typeface="Calibri" pitchFamily="34" charset="0"/>
                <a:ea typeface="Calibri" pitchFamily="34" charset="-122"/>
                <a:cs typeface="Calibri" pitchFamily="34" charset="-120"/>
              </a:rPr>
              <a:t>WHAT IT DOES</a:t>
            </a:r>
            <a:endParaRPr lang="en-US" sz="1100" dirty="0"/>
          </a:p>
        </p:txBody>
      </p:sp>
      <p:sp>
        <p:nvSpPr>
          <p:cNvPr id="10" name="Text 7"/>
          <p:cNvSpPr txBox="1"/>
          <p:nvPr/>
        </p:nvSpPr>
        <p:spPr>
          <a:xfrm>
            <a:off x="548640" y="1847088"/>
            <a:ext cx="5440680" cy="566928"/>
          </a:xfrm>
          <a:prstGeom prst="rect">
            <a:avLst/>
          </a:prstGeom>
          <a:noFill/>
          <a:ln/>
        </p:spPr>
        <p:txBody>
          <a:bodyPr wrap="square" lIns="0" tIns="0" rIns="0" bIns="0" rtlCol="0" anchor="t"/>
          <a:lstStyle/>
          <a:p>
            <a:pPr indent="0" marL="0">
              <a:buNone/>
            </a:pPr>
            <a:r>
              <a:rPr lang="en-US" sz="1700" dirty="0">
                <a:solidFill>
                  <a:srgbClr val="14314F"/>
                </a:solidFill>
                <a:latin typeface="Cambria" pitchFamily="34" charset="0"/>
                <a:ea typeface="Cambria" pitchFamily="34" charset="-122"/>
                <a:cs typeface="Cambria" pitchFamily="34" charset="-120"/>
              </a:rPr>
              <a:t>Shuts the card permanently. It cannot be reopened; only a new card can replace it.</a:t>
            </a:r>
            <a:endParaRPr lang="en-US" sz="1700" dirty="0"/>
          </a:p>
        </p:txBody>
      </p:sp>
      <p:sp>
        <p:nvSpPr>
          <p:cNvPr id="11" name="icon circle THE ADVISOR MIGHT SAY"/>
          <p:cNvSpPr/>
          <p:nvPr/>
        </p:nvSpPr>
        <p:spPr>
          <a:xfrm>
            <a:off x="548640" y="2542032"/>
            <a:ext cx="310896" cy="310896"/>
          </a:xfrm>
          <a:prstGeom prst="ellipse">
            <a:avLst/>
          </a:prstGeom>
          <a:solidFill>
            <a:srgbClr val="A5851F"/>
          </a:solidFill>
          <a:ln w="12700">
            <a:solidFill>
              <a:srgbClr val="A5851F"/>
            </a:solidFill>
            <a:prstDash val="solid"/>
          </a:ln>
        </p:spPr>
      </p:sp>
      <p:pic>
        <p:nvPicPr>
          <p:cNvPr id="12" name="Image 1" descr="preencoded.png">    </p:cNvPr>
          <p:cNvPicPr>
            <a:picLocks noChangeAspect="1"/>
          </p:cNvPicPr>
          <p:nvPr/>
        </p:nvPicPr>
        <p:blipFill>
          <a:blip r:embed="rId2"/>
          <a:stretch>
            <a:fillRect/>
          </a:stretch>
        </p:blipFill>
        <p:spPr>
          <a:xfrm>
            <a:off x="621792" y="2615184"/>
            <a:ext cx="164592" cy="164592"/>
          </a:xfrm>
          <a:prstGeom prst="rect">
            <a:avLst/>
          </a:prstGeom>
        </p:spPr>
      </p:pic>
      <p:sp>
        <p:nvSpPr>
          <p:cNvPr id="13" name="Text 9"/>
          <p:cNvSpPr txBox="1"/>
          <p:nvPr/>
        </p:nvSpPr>
        <p:spPr>
          <a:xfrm>
            <a:off x="969264" y="2560320"/>
            <a:ext cx="4572000" cy="274320"/>
          </a:xfrm>
          <a:prstGeom prst="rect">
            <a:avLst/>
          </a:prstGeom>
          <a:noFill/>
          <a:ln/>
        </p:spPr>
        <p:txBody>
          <a:bodyPr wrap="square" lIns="0" tIns="0" rIns="0" bIns="0" rtlCol="0" anchor="ctr"/>
          <a:lstStyle/>
          <a:p>
            <a:pPr indent="0" marL="0">
              <a:buNone/>
            </a:pPr>
            <a:r>
              <a:rPr lang="en-US" sz="1100" b="1" spc="150" kern="0" dirty="0">
                <a:solidFill>
                  <a:srgbClr val="A5851F"/>
                </a:solidFill>
                <a:latin typeface="Calibri" pitchFamily="34" charset="0"/>
                <a:ea typeface="Calibri" pitchFamily="34" charset="-122"/>
                <a:cs typeface="Calibri" pitchFamily="34" charset="-120"/>
              </a:rPr>
              <a:t>THE ADVISOR MIGHT SAY</a:t>
            </a:r>
            <a:endParaRPr lang="en-US" sz="1100" dirty="0"/>
          </a:p>
        </p:txBody>
      </p:sp>
      <p:sp>
        <p:nvSpPr>
          <p:cNvPr id="14" name="Shape 10"/>
          <p:cNvSpPr/>
          <p:nvPr/>
        </p:nvSpPr>
        <p:spPr>
          <a:xfrm>
            <a:off x="548640" y="2926080"/>
            <a:ext cx="1879346" cy="329184"/>
          </a:xfrm>
          <a:prstGeom prst="roundRect">
            <a:avLst>
              <a:gd name="adj" fmla="val 50000"/>
            </a:avLst>
          </a:prstGeom>
          <a:solidFill>
            <a:srgbClr val="FDF8E8"/>
          </a:solidFill>
          <a:ln w="12700">
            <a:solidFill>
              <a:srgbClr val="E0D3A8"/>
            </a:solidFill>
            <a:prstDash val="solid"/>
          </a:ln>
        </p:spPr>
      </p:sp>
      <p:sp>
        <p:nvSpPr>
          <p:cNvPr id="15" name="Text 11"/>
          <p:cNvSpPr txBox="1"/>
          <p:nvPr/>
        </p:nvSpPr>
        <p:spPr>
          <a:xfrm>
            <a:off x="548640" y="2926080"/>
            <a:ext cx="187934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“close permanently”</a:t>
            </a:r>
            <a:endParaRPr lang="en-US" sz="1250" dirty="0"/>
          </a:p>
        </p:txBody>
      </p:sp>
      <p:sp>
        <p:nvSpPr>
          <p:cNvPr id="16" name="Shape 12"/>
          <p:cNvSpPr/>
          <p:nvPr/>
        </p:nvSpPr>
        <p:spPr>
          <a:xfrm>
            <a:off x="2537714" y="2926080"/>
            <a:ext cx="1218946" cy="329184"/>
          </a:xfrm>
          <a:prstGeom prst="roundRect">
            <a:avLst>
              <a:gd name="adj" fmla="val 50000"/>
            </a:avLst>
          </a:prstGeom>
          <a:solidFill>
            <a:srgbClr val="FDF8E8"/>
          </a:solidFill>
          <a:ln w="12700">
            <a:solidFill>
              <a:srgbClr val="E0D3A8"/>
            </a:solidFill>
            <a:prstDash val="solid"/>
          </a:ln>
        </p:spPr>
      </p:sp>
      <p:sp>
        <p:nvSpPr>
          <p:cNvPr id="17" name="Text 13"/>
          <p:cNvSpPr txBox="1"/>
          <p:nvPr/>
        </p:nvSpPr>
        <p:spPr>
          <a:xfrm>
            <a:off x="2537714" y="2926080"/>
            <a:ext cx="121894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“terminate”</a:t>
            </a:r>
            <a:endParaRPr lang="en-US" sz="1250" dirty="0"/>
          </a:p>
        </p:txBody>
      </p:sp>
      <p:sp>
        <p:nvSpPr>
          <p:cNvPr id="18" name="Shape 14"/>
          <p:cNvSpPr/>
          <p:nvPr/>
        </p:nvSpPr>
        <p:spPr>
          <a:xfrm>
            <a:off x="3866388" y="2926080"/>
            <a:ext cx="1549146" cy="329184"/>
          </a:xfrm>
          <a:prstGeom prst="roundRect">
            <a:avLst>
              <a:gd name="adj" fmla="val 50000"/>
            </a:avLst>
          </a:prstGeom>
          <a:solidFill>
            <a:srgbClr val="FDF8E8"/>
          </a:solidFill>
          <a:ln w="12700">
            <a:solidFill>
              <a:srgbClr val="E0D3A8"/>
            </a:solidFill>
            <a:prstDash val="solid"/>
          </a:ln>
        </p:spPr>
      </p:sp>
      <p:sp>
        <p:nvSpPr>
          <p:cNvPr id="19" name="Text 15"/>
          <p:cNvSpPr txBox="1"/>
          <p:nvPr/>
        </p:nvSpPr>
        <p:spPr>
          <a:xfrm>
            <a:off x="3866388" y="2926080"/>
            <a:ext cx="154914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“shut the card”</a:t>
            </a:r>
            <a:endParaRPr lang="en-US" sz="1250" dirty="0"/>
          </a:p>
        </p:txBody>
      </p:sp>
      <p:sp>
        <p:nvSpPr>
          <p:cNvPr id="20" name="icon circle WHAT THE CHAT NEEDS BEFORE IT ACTS"/>
          <p:cNvSpPr/>
          <p:nvPr/>
        </p:nvSpPr>
        <p:spPr>
          <a:xfrm>
            <a:off x="548640" y="3474720"/>
            <a:ext cx="310896" cy="310896"/>
          </a:xfrm>
          <a:prstGeom prst="ellipse">
            <a:avLst/>
          </a:prstGeom>
          <a:solidFill>
            <a:srgbClr val="14314F"/>
          </a:solidFill>
          <a:ln w="12700">
            <a:solidFill>
              <a:srgbClr val="14314F"/>
            </a:solidFill>
            <a:prstDash val="solid"/>
          </a:ln>
        </p:spPr>
      </p:sp>
      <p:pic>
        <p:nvPicPr>
          <p:cNvPr id="21" name="Image 2" descr="preencoded.png">    </p:cNvPr>
          <p:cNvPicPr>
            <a:picLocks noChangeAspect="1"/>
          </p:cNvPicPr>
          <p:nvPr/>
        </p:nvPicPr>
        <p:blipFill>
          <a:blip r:embed="rId3"/>
          <a:stretch>
            <a:fillRect/>
          </a:stretch>
        </p:blipFill>
        <p:spPr>
          <a:xfrm>
            <a:off x="621792" y="3547872"/>
            <a:ext cx="164592" cy="164592"/>
          </a:xfrm>
          <a:prstGeom prst="rect">
            <a:avLst/>
          </a:prstGeom>
        </p:spPr>
      </p:pic>
      <p:sp>
        <p:nvSpPr>
          <p:cNvPr id="22" name="Text 17"/>
          <p:cNvSpPr txBox="1"/>
          <p:nvPr/>
        </p:nvSpPr>
        <p:spPr>
          <a:xfrm>
            <a:off x="969264" y="3493008"/>
            <a:ext cx="4572000" cy="274320"/>
          </a:xfrm>
          <a:prstGeom prst="rect">
            <a:avLst/>
          </a:prstGeom>
          <a:noFill/>
          <a:ln/>
        </p:spPr>
        <p:txBody>
          <a:bodyPr wrap="square" lIns="0" tIns="0" rIns="0" bIns="0" rtlCol="0" anchor="ctr"/>
          <a:lstStyle/>
          <a:p>
            <a:pPr indent="0" marL="0">
              <a:buNone/>
            </a:pPr>
            <a:r>
              <a:rPr lang="en-US" sz="1100" b="1" spc="150" kern="0" dirty="0">
                <a:solidFill>
                  <a:srgbClr val="14314F"/>
                </a:solidFill>
                <a:latin typeface="Calibri" pitchFamily="34" charset="0"/>
                <a:ea typeface="Calibri" pitchFamily="34" charset="-122"/>
                <a:cs typeface="Calibri" pitchFamily="34" charset="-120"/>
              </a:rPr>
              <a:t>WHAT THE CHAT NEEDS BEFORE IT ACTS</a:t>
            </a:r>
            <a:endParaRPr lang="en-US" sz="1100" dirty="0"/>
          </a:p>
        </p:txBody>
      </p:sp>
      <p:sp>
        <p:nvSpPr>
          <p:cNvPr id="23" name="Shape 18"/>
          <p:cNvSpPr/>
          <p:nvPr/>
        </p:nvSpPr>
        <p:spPr>
          <a:xfrm>
            <a:off x="548640" y="3858768"/>
            <a:ext cx="806196" cy="329184"/>
          </a:xfrm>
          <a:prstGeom prst="roundRect">
            <a:avLst>
              <a:gd name="adj" fmla="val 50000"/>
            </a:avLst>
          </a:prstGeom>
          <a:solidFill>
            <a:srgbClr val="FFFFFF"/>
          </a:solidFill>
          <a:ln w="12700">
            <a:solidFill>
              <a:srgbClr val="14314F"/>
            </a:solidFill>
            <a:prstDash val="solid"/>
          </a:ln>
        </p:spPr>
      </p:sp>
      <p:sp>
        <p:nvSpPr>
          <p:cNvPr id="24" name="Text 19"/>
          <p:cNvSpPr txBox="1"/>
          <p:nvPr/>
        </p:nvSpPr>
        <p:spPr>
          <a:xfrm>
            <a:off x="548640" y="3858768"/>
            <a:ext cx="8061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Client</a:t>
            </a:r>
            <a:endParaRPr lang="en-US" sz="1250" dirty="0"/>
          </a:p>
        </p:txBody>
      </p:sp>
      <p:sp>
        <p:nvSpPr>
          <p:cNvPr id="25" name="Shape 20"/>
          <p:cNvSpPr/>
          <p:nvPr/>
        </p:nvSpPr>
        <p:spPr>
          <a:xfrm>
            <a:off x="1464564" y="3858768"/>
            <a:ext cx="641096" cy="329184"/>
          </a:xfrm>
          <a:prstGeom prst="roundRect">
            <a:avLst>
              <a:gd name="adj" fmla="val 50000"/>
            </a:avLst>
          </a:prstGeom>
          <a:solidFill>
            <a:srgbClr val="FFFFFF"/>
          </a:solidFill>
          <a:ln w="12700">
            <a:solidFill>
              <a:srgbClr val="14314F"/>
            </a:solidFill>
            <a:prstDash val="solid"/>
          </a:ln>
        </p:spPr>
      </p:sp>
      <p:sp>
        <p:nvSpPr>
          <p:cNvPr id="26" name="Text 21"/>
          <p:cNvSpPr txBox="1"/>
          <p:nvPr/>
        </p:nvSpPr>
        <p:spPr>
          <a:xfrm>
            <a:off x="1464564" y="3858768"/>
            <a:ext cx="6410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Card</a:t>
            </a:r>
            <a:endParaRPr lang="en-US" sz="1250" dirty="0"/>
          </a:p>
        </p:txBody>
      </p:sp>
      <p:sp>
        <p:nvSpPr>
          <p:cNvPr id="27" name="Shape 22"/>
          <p:cNvSpPr/>
          <p:nvPr/>
        </p:nvSpPr>
        <p:spPr>
          <a:xfrm>
            <a:off x="2215388" y="3858768"/>
            <a:ext cx="806196" cy="329184"/>
          </a:xfrm>
          <a:prstGeom prst="roundRect">
            <a:avLst>
              <a:gd name="adj" fmla="val 50000"/>
            </a:avLst>
          </a:prstGeom>
          <a:solidFill>
            <a:srgbClr val="FFFFFF"/>
          </a:solidFill>
          <a:ln w="12700">
            <a:solidFill>
              <a:srgbClr val="14314F"/>
            </a:solidFill>
            <a:prstDash val="solid"/>
          </a:ln>
        </p:spPr>
      </p:sp>
      <p:sp>
        <p:nvSpPr>
          <p:cNvPr id="28" name="Text 23"/>
          <p:cNvSpPr txBox="1"/>
          <p:nvPr/>
        </p:nvSpPr>
        <p:spPr>
          <a:xfrm>
            <a:off x="2215388" y="3858768"/>
            <a:ext cx="8061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Reason</a:t>
            </a:r>
            <a:endParaRPr lang="en-US" sz="1250" dirty="0"/>
          </a:p>
        </p:txBody>
      </p:sp>
      <p:sp>
        <p:nvSpPr>
          <p:cNvPr id="29" name="Shape 24"/>
          <p:cNvSpPr/>
          <p:nvPr/>
        </p:nvSpPr>
        <p:spPr>
          <a:xfrm>
            <a:off x="548640" y="4590288"/>
            <a:ext cx="5440680" cy="1572768"/>
          </a:xfrm>
          <a:prstGeom prst="roundRect">
            <a:avLst>
              <a:gd name="adj" fmla="val 5814"/>
            </a:avLst>
          </a:prstGeom>
          <a:solidFill>
            <a:srgbClr val="EEF4F2"/>
          </a:solidFill>
          <a:ln w="12700">
            <a:solidFill>
              <a:srgbClr val="B9D3C6"/>
            </a:solidFill>
            <a:prstDash val="solid"/>
          </a:ln>
        </p:spPr>
      </p:sp>
      <p:sp>
        <p:nvSpPr>
          <p:cNvPr id="30" name="icon circle BUILT-IN SAFETY"/>
          <p:cNvSpPr/>
          <p:nvPr/>
        </p:nvSpPr>
        <p:spPr>
          <a:xfrm>
            <a:off x="731520" y="4736592"/>
            <a:ext cx="310896" cy="310896"/>
          </a:xfrm>
          <a:prstGeom prst="ellipse">
            <a:avLst/>
          </a:prstGeom>
          <a:solidFill>
            <a:srgbClr val="2E7D5B"/>
          </a:solidFill>
          <a:ln w="12700">
            <a:solidFill>
              <a:srgbClr val="2E7D5B"/>
            </a:solidFill>
            <a:prstDash val="solid"/>
          </a:ln>
        </p:spPr>
      </p:sp>
      <p:pic>
        <p:nvPicPr>
          <p:cNvPr id="31" name="Image 3" descr="preencoded.png">    </p:cNvPr>
          <p:cNvPicPr>
            <a:picLocks noChangeAspect="1"/>
          </p:cNvPicPr>
          <p:nvPr/>
        </p:nvPicPr>
        <p:blipFill>
          <a:blip r:embed="rId4"/>
          <a:stretch>
            <a:fillRect/>
          </a:stretch>
        </p:blipFill>
        <p:spPr>
          <a:xfrm>
            <a:off x="804672" y="4809744"/>
            <a:ext cx="164592" cy="164592"/>
          </a:xfrm>
          <a:prstGeom prst="rect">
            <a:avLst/>
          </a:prstGeom>
        </p:spPr>
      </p:pic>
      <p:sp>
        <p:nvSpPr>
          <p:cNvPr id="32" name="Text 26"/>
          <p:cNvSpPr txBox="1"/>
          <p:nvPr/>
        </p:nvSpPr>
        <p:spPr>
          <a:xfrm>
            <a:off x="1152144" y="4754880"/>
            <a:ext cx="4572000" cy="274320"/>
          </a:xfrm>
          <a:prstGeom prst="rect">
            <a:avLst/>
          </a:prstGeom>
          <a:noFill/>
          <a:ln/>
        </p:spPr>
        <p:txBody>
          <a:bodyPr wrap="square" lIns="0" tIns="0" rIns="0" bIns="0" rtlCol="0" anchor="ctr"/>
          <a:lstStyle/>
          <a:p>
            <a:pPr indent="0" marL="0">
              <a:buNone/>
            </a:pPr>
            <a:r>
              <a:rPr lang="en-US" sz="1100" b="1" spc="150" kern="0" dirty="0">
                <a:solidFill>
                  <a:srgbClr val="2E7D5B"/>
                </a:solidFill>
                <a:latin typeface="Calibri" pitchFamily="34" charset="0"/>
                <a:ea typeface="Calibri" pitchFamily="34" charset="-122"/>
                <a:cs typeface="Calibri" pitchFamily="34" charset="-120"/>
              </a:rPr>
              <a:t>BUILT-IN SAFETY</a:t>
            </a:r>
            <a:endParaRPr lang="en-US" sz="1100" dirty="0"/>
          </a:p>
        </p:txBody>
      </p:sp>
      <p:sp>
        <p:nvSpPr>
          <p:cNvPr id="33" name="Text 27"/>
          <p:cNvSpPr txBox="1"/>
          <p:nvPr/>
        </p:nvSpPr>
        <p:spPr>
          <a:xfrm>
            <a:off x="777240" y="5138928"/>
            <a:ext cx="5029200" cy="93268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Vague words like “cancel” or “stop”? It asks: lock or close?</a:t>
            </a:r>
            <a:endParaRPr lang="en-US" sz="1300" dirty="0"/>
          </a:p>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Its confirmation spells out that this cannot be undone.</a:t>
            </a:r>
            <a:endParaRPr lang="en-US" sz="1300" dirty="0"/>
          </a:p>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Already closed? It says so and does nothing.</a:t>
            </a:r>
            <a:endParaRPr lang="en-US" sz="1300" dirty="0"/>
          </a:p>
        </p:txBody>
      </p:sp>
      <p:sp>
        <p:nvSpPr>
          <p:cNvPr id="34" name="NetX AI panel"/>
          <p:cNvSpPr/>
          <p:nvPr/>
        </p:nvSpPr>
        <p:spPr>
          <a:xfrm>
            <a:off x="6355080" y="1371600"/>
            <a:ext cx="5285232" cy="4846320"/>
          </a:xfrm>
          <a:prstGeom prst="roundRect">
            <a:avLst>
              <a:gd name="adj" fmla="val 1887"/>
            </a:avLst>
          </a:prstGeom>
          <a:solidFill>
            <a:srgbClr val="F5F8FC"/>
          </a:solidFill>
          <a:ln w="12700">
            <a:solidFill>
              <a:srgbClr val="D5DDE8"/>
            </a:solidFill>
            <a:prstDash val="solid"/>
          </a:ln>
        </p:spPr>
      </p:sp>
      <p:pic>
        <p:nvPicPr>
          <p:cNvPr id="35" name="Image 4" descr="preencoded.png">    </p:cNvPr>
          <p:cNvPicPr>
            <a:picLocks noChangeAspect="1"/>
          </p:cNvPicPr>
          <p:nvPr/>
        </p:nvPicPr>
        <p:blipFill>
          <a:blip r:embed="rId5"/>
          <a:stretch>
            <a:fillRect/>
          </a:stretch>
        </p:blipFill>
        <p:spPr>
          <a:xfrm>
            <a:off x="6556248" y="1508760"/>
            <a:ext cx="182880" cy="182880"/>
          </a:xfrm>
          <a:prstGeom prst="rect">
            <a:avLst/>
          </a:prstGeom>
        </p:spPr>
      </p:pic>
      <p:sp>
        <p:nvSpPr>
          <p:cNvPr id="36" name="Text 29"/>
          <p:cNvSpPr txBox="1"/>
          <p:nvPr/>
        </p:nvSpPr>
        <p:spPr>
          <a:xfrm>
            <a:off x="6793992" y="1472184"/>
            <a:ext cx="1828800" cy="256032"/>
          </a:xfrm>
          <a:prstGeom prst="rect">
            <a:avLst/>
          </a:prstGeom>
          <a:noFill/>
          <a:ln/>
        </p:spPr>
        <p:txBody>
          <a:bodyPr wrap="square" lIns="0" tIns="0" rIns="0" bIns="0" rtlCol="0" anchor="ctr"/>
          <a:lstStyle/>
          <a:p>
            <a:pPr indent="0" marL="0">
              <a:buNone/>
            </a:pPr>
            <a:r>
              <a:rPr lang="en-US" sz="1300" b="1" dirty="0">
                <a:solidFill>
                  <a:srgbClr val="1F2D4A"/>
                </a:solidFill>
                <a:latin typeface="Calibri" pitchFamily="34" charset="0"/>
                <a:ea typeface="Calibri" pitchFamily="34" charset="-122"/>
                <a:cs typeface="Calibri" pitchFamily="34" charset="-120"/>
              </a:rPr>
              <a:t>NetX AI</a:t>
            </a:r>
            <a:endParaRPr lang="en-US" sz="1300" dirty="0"/>
          </a:p>
        </p:txBody>
      </p:sp>
      <p:pic>
        <p:nvPicPr>
          <p:cNvPr id="37" name="Image 5" descr="preencoded.png">    </p:cNvPr>
          <p:cNvPicPr>
            <a:picLocks noChangeAspect="1"/>
          </p:cNvPicPr>
          <p:nvPr/>
        </p:nvPicPr>
        <p:blipFill>
          <a:blip r:embed="rId6"/>
          <a:stretch>
            <a:fillRect/>
          </a:stretch>
        </p:blipFill>
        <p:spPr>
          <a:xfrm>
            <a:off x="10927080" y="1517904"/>
            <a:ext cx="164592" cy="164592"/>
          </a:xfrm>
          <a:prstGeom prst="rect">
            <a:avLst/>
          </a:prstGeom>
        </p:spPr>
      </p:pic>
      <p:pic>
        <p:nvPicPr>
          <p:cNvPr id="38" name="Image 6" descr="preencoded.png">    </p:cNvPr>
          <p:cNvPicPr>
            <a:picLocks noChangeAspect="1"/>
          </p:cNvPicPr>
          <p:nvPr/>
        </p:nvPicPr>
        <p:blipFill>
          <a:blip r:embed="rId7"/>
          <a:stretch>
            <a:fillRect/>
          </a:stretch>
        </p:blipFill>
        <p:spPr>
          <a:xfrm>
            <a:off x="11228832" y="1517904"/>
            <a:ext cx="164592" cy="164592"/>
          </a:xfrm>
          <a:prstGeom prst="rect">
            <a:avLst/>
          </a:prstGeom>
        </p:spPr>
      </p:pic>
      <p:sp>
        <p:nvSpPr>
          <p:cNvPr id="39" name="Shape 30"/>
          <p:cNvSpPr/>
          <p:nvPr/>
        </p:nvSpPr>
        <p:spPr>
          <a:xfrm>
            <a:off x="11457432" y="3200400"/>
            <a:ext cx="237744" cy="868680"/>
          </a:xfrm>
          <a:prstGeom prst="roundRect">
            <a:avLst>
              <a:gd name="adj" fmla="val 19231"/>
            </a:avLst>
          </a:prstGeom>
          <a:solidFill>
            <a:srgbClr val="1F2D4A"/>
          </a:solidFill>
          <a:ln w="12700">
            <a:solidFill>
              <a:srgbClr val="1F2D4A"/>
            </a:solidFill>
            <a:prstDash val="solid"/>
          </a:ln>
        </p:spPr>
      </p:sp>
      <p:sp>
        <p:nvSpPr>
          <p:cNvPr id="40" name="Text 31"/>
          <p:cNvSpPr txBox="1"/>
          <p:nvPr/>
        </p:nvSpPr>
        <p:spPr>
          <a:xfrm rot="5400000">
            <a:off x="11132820" y="3529584"/>
            <a:ext cx="8686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Guide Me</a:t>
            </a:r>
            <a:endParaRPr lang="en-US" sz="900" dirty="0"/>
          </a:p>
        </p:txBody>
      </p:sp>
      <p:sp>
        <p:nvSpPr>
          <p:cNvPr id="41" name="Shape 32"/>
          <p:cNvSpPr/>
          <p:nvPr/>
        </p:nvSpPr>
        <p:spPr>
          <a:xfrm>
            <a:off x="6537960" y="5504688"/>
            <a:ext cx="4828032" cy="384048"/>
          </a:xfrm>
          <a:prstGeom prst="roundRect">
            <a:avLst>
              <a:gd name="adj" fmla="val 23810"/>
            </a:avLst>
          </a:prstGeom>
          <a:solidFill>
            <a:srgbClr val="FFFFFF"/>
          </a:solidFill>
          <a:ln w="12700">
            <a:solidFill>
              <a:srgbClr val="D5DDE8"/>
            </a:solidFill>
            <a:prstDash val="solid"/>
          </a:ln>
        </p:spPr>
      </p:sp>
      <p:pic>
        <p:nvPicPr>
          <p:cNvPr id="42" name="Image 7" descr="preencoded.png">    </p:cNvPr>
          <p:cNvPicPr>
            <a:picLocks noChangeAspect="1"/>
          </p:cNvPicPr>
          <p:nvPr/>
        </p:nvPicPr>
        <p:blipFill>
          <a:blip r:embed="rId8"/>
          <a:stretch>
            <a:fillRect/>
          </a:stretch>
        </p:blipFill>
        <p:spPr>
          <a:xfrm>
            <a:off x="6665976" y="5614416"/>
            <a:ext cx="164592" cy="164592"/>
          </a:xfrm>
          <a:prstGeom prst="rect">
            <a:avLst/>
          </a:prstGeom>
        </p:spPr>
      </p:pic>
      <p:sp>
        <p:nvSpPr>
          <p:cNvPr id="43" name="Text 33"/>
          <p:cNvSpPr txBox="1"/>
          <p:nvPr/>
        </p:nvSpPr>
        <p:spPr>
          <a:xfrm>
            <a:off x="6922008" y="5504688"/>
            <a:ext cx="2743200" cy="384048"/>
          </a:xfrm>
          <a:prstGeom prst="rect">
            <a:avLst/>
          </a:prstGeom>
          <a:noFill/>
          <a:ln/>
        </p:spPr>
        <p:txBody>
          <a:bodyPr wrap="square" lIns="0" tIns="0" rIns="0" bIns="0" rtlCol="0" anchor="ctr"/>
          <a:lstStyle/>
          <a:p>
            <a:pPr indent="0" marL="0">
              <a:buNone/>
            </a:pPr>
            <a:r>
              <a:rPr lang="en-US" sz="1100" dirty="0">
                <a:solidFill>
                  <a:srgbClr val="8A93A0"/>
                </a:solidFill>
                <a:latin typeface="Calibri" pitchFamily="34" charset="0"/>
                <a:ea typeface="Calibri" pitchFamily="34" charset="-122"/>
                <a:cs typeface="Calibri" pitchFamily="34" charset="-120"/>
              </a:rPr>
              <a:t>Ask NetX AI</a:t>
            </a:r>
            <a:endParaRPr lang="en-US" sz="1100" dirty="0"/>
          </a:p>
        </p:txBody>
      </p:sp>
      <p:pic>
        <p:nvPicPr>
          <p:cNvPr id="44" name="Image 8" descr="preencoded.png">    </p:cNvPr>
          <p:cNvPicPr>
            <a:picLocks noChangeAspect="1"/>
          </p:cNvPicPr>
          <p:nvPr/>
        </p:nvPicPr>
        <p:blipFill>
          <a:blip r:embed="rId9"/>
          <a:stretch>
            <a:fillRect/>
          </a:stretch>
        </p:blipFill>
        <p:spPr>
          <a:xfrm>
            <a:off x="10707624" y="5614416"/>
            <a:ext cx="164592" cy="164592"/>
          </a:xfrm>
          <a:prstGeom prst="rect">
            <a:avLst/>
          </a:prstGeom>
        </p:spPr>
      </p:pic>
      <p:sp>
        <p:nvSpPr>
          <p:cNvPr id="45" name="Shape 34"/>
          <p:cNvSpPr/>
          <p:nvPr/>
        </p:nvSpPr>
        <p:spPr>
          <a:xfrm>
            <a:off x="10981944" y="5559552"/>
            <a:ext cx="274320" cy="274320"/>
          </a:xfrm>
          <a:prstGeom prst="ellipse">
            <a:avLst/>
          </a:prstGeom>
          <a:solidFill>
            <a:srgbClr val="2F5D9A"/>
          </a:solidFill>
          <a:ln w="12700">
            <a:solidFill>
              <a:srgbClr val="2F5D9A"/>
            </a:solidFill>
            <a:prstDash val="solid"/>
          </a:ln>
        </p:spPr>
      </p:sp>
      <p:pic>
        <p:nvPicPr>
          <p:cNvPr id="46" name="Image 9" descr="preencoded.png">    </p:cNvPr>
          <p:cNvPicPr>
            <a:picLocks noChangeAspect="1"/>
          </p:cNvPicPr>
          <p:nvPr/>
        </p:nvPicPr>
        <p:blipFill>
          <a:blip r:embed="rId10"/>
          <a:stretch>
            <a:fillRect/>
          </a:stretch>
        </p:blipFill>
        <p:spPr>
          <a:xfrm>
            <a:off x="11045952" y="5623560"/>
            <a:ext cx="146304" cy="146304"/>
          </a:xfrm>
          <a:prstGeom prst="rect">
            <a:avLst/>
          </a:prstGeom>
        </p:spPr>
      </p:pic>
      <p:sp>
        <p:nvSpPr>
          <p:cNvPr id="47" name="Text 35"/>
          <p:cNvSpPr txBox="1"/>
          <p:nvPr/>
        </p:nvSpPr>
        <p:spPr>
          <a:xfrm>
            <a:off x="6537960" y="5943600"/>
            <a:ext cx="4828032" cy="219456"/>
          </a:xfrm>
          <a:prstGeom prst="rect">
            <a:avLst/>
          </a:prstGeom>
          <a:noFill/>
          <a:ln/>
        </p:spPr>
        <p:txBody>
          <a:bodyPr wrap="square" lIns="0" tIns="0" rIns="0" bIns="0" rtlCol="0" anchor="ctr"/>
          <a:lstStyle/>
          <a:p>
            <a:pPr algn="ctr" indent="0" marL="0">
              <a:buNone/>
            </a:pPr>
            <a:r>
              <a:rPr lang="en-US" sz="900" dirty="0">
                <a:solidFill>
                  <a:srgbClr val="8A93A0"/>
                </a:solidFill>
                <a:latin typeface="Calibri" pitchFamily="34" charset="0"/>
                <a:ea typeface="Calibri" pitchFamily="34" charset="-122"/>
                <a:cs typeface="Calibri" pitchFamily="34" charset="-120"/>
              </a:rPr>
              <a:t>Please note: AI can make mistakes. All data shown here is synthetic.</a:t>
            </a:r>
            <a:endParaRPr lang="en-US" sz="900" dirty="0"/>
          </a:p>
        </p:txBody>
      </p:sp>
      <p:sp>
        <p:nvSpPr>
          <p:cNvPr id="48" name="Shape 36"/>
          <p:cNvSpPr/>
          <p:nvPr/>
        </p:nvSpPr>
        <p:spPr>
          <a:xfrm>
            <a:off x="9107424" y="1920240"/>
            <a:ext cx="2194560" cy="350520"/>
          </a:xfrm>
          <a:prstGeom prst="roundRect">
            <a:avLst>
              <a:gd name="adj" fmla="val 44348"/>
            </a:avLst>
          </a:prstGeom>
          <a:solidFill>
            <a:srgbClr val="DCE6F4"/>
          </a:solidFill>
          <a:ln w="12700">
            <a:solidFill>
              <a:srgbClr val="DCE6F4"/>
            </a:solidFill>
            <a:prstDash val="solid"/>
          </a:ln>
        </p:spPr>
      </p:sp>
      <p:sp>
        <p:nvSpPr>
          <p:cNvPr id="49" name="Text 37"/>
          <p:cNvSpPr txBox="1"/>
          <p:nvPr/>
        </p:nvSpPr>
        <p:spPr>
          <a:xfrm>
            <a:off x="9272016" y="1920240"/>
            <a:ext cx="1865376" cy="350520"/>
          </a:xfrm>
          <a:prstGeom prst="rect">
            <a:avLst/>
          </a:prstGeom>
          <a:noFill/>
          <a:ln/>
        </p:spPr>
        <p:txBody>
          <a:bodyPr wrap="square" lIns="0" tIns="0" rIns="0" bIns="0" rtlCol="0" anchor="ctr"/>
          <a:lstStyle/>
          <a:p>
            <a:pPr indent="0" marL="0">
              <a:buNone/>
            </a:pPr>
            <a:r>
              <a:rPr lang="en-US" sz="1200" dirty="0">
                <a:solidFill>
                  <a:srgbClr val="2B2F36"/>
                </a:solidFill>
                <a:latin typeface="Calibri" pitchFamily="34" charset="0"/>
                <a:ea typeface="Calibri" pitchFamily="34" charset="-122"/>
                <a:cs typeface="Calibri" pitchFamily="34" charset="-120"/>
              </a:rPr>
              <a:t>Cancel Jane Miller’s card</a:t>
            </a:r>
            <a:endParaRPr lang="en-US" sz="1200" dirty="0"/>
          </a:p>
        </p:txBody>
      </p:sp>
      <p:sp>
        <p:nvSpPr>
          <p:cNvPr id="50" name="Shape 38"/>
          <p:cNvSpPr/>
          <p:nvPr/>
        </p:nvSpPr>
        <p:spPr>
          <a:xfrm>
            <a:off x="6583680" y="2362200"/>
            <a:ext cx="4435206" cy="826008"/>
          </a:xfrm>
          <a:prstGeom prst="roundRect">
            <a:avLst>
              <a:gd name="adj" fmla="val 8856"/>
            </a:avLst>
          </a:prstGeom>
          <a:solidFill>
            <a:srgbClr val="FFFFFF"/>
          </a:solidFill>
          <a:ln w="12700">
            <a:solidFill>
              <a:srgbClr val="D5DDE8"/>
            </a:solidFill>
            <a:prstDash val="solid"/>
          </a:ln>
        </p:spPr>
      </p:sp>
      <p:sp>
        <p:nvSpPr>
          <p:cNvPr id="51" name="Text 39"/>
          <p:cNvSpPr txBox="1"/>
          <p:nvPr/>
        </p:nvSpPr>
        <p:spPr>
          <a:xfrm>
            <a:off x="6720840" y="2471928"/>
            <a:ext cx="4160886" cy="185928"/>
          </a:xfrm>
          <a:prstGeom prst="rect">
            <a:avLst/>
          </a:prstGeom>
          <a:noFill/>
          <a:ln/>
        </p:spPr>
        <p:txBody>
          <a:bodyPr wrap="square" lIns="0" tIns="0" rIns="0" bIns="0" rtlCol="0" anchor="ctr"/>
          <a:lstStyle/>
          <a:p>
            <a:pPr indent="0" marL="0">
              <a:buNone/>
            </a:pPr>
            <a:r>
              <a:rPr lang="en-US" sz="1200" b="1" dirty="0">
                <a:solidFill>
                  <a:srgbClr val="1F2D4A"/>
                </a:solidFill>
                <a:latin typeface="Calibri" pitchFamily="34" charset="0"/>
                <a:ea typeface="Calibri" pitchFamily="34" charset="-122"/>
                <a:cs typeface="Calibri" pitchFamily="34" charset="-120"/>
              </a:rPr>
              <a:t>Lock it for now, or close it permanently?</a:t>
            </a:r>
            <a:endParaRPr lang="en-US" sz="1200" dirty="0"/>
          </a:p>
        </p:txBody>
      </p:sp>
      <p:sp>
        <p:nvSpPr>
          <p:cNvPr id="52" name="Shape 40"/>
          <p:cNvSpPr/>
          <p:nvPr/>
        </p:nvSpPr>
        <p:spPr>
          <a:xfrm>
            <a:off x="6720840" y="2749296"/>
            <a:ext cx="2025579" cy="310896"/>
          </a:xfrm>
          <a:prstGeom prst="roundRect">
            <a:avLst>
              <a:gd name="adj" fmla="val 17647"/>
            </a:avLst>
          </a:prstGeom>
          <a:solidFill>
            <a:srgbClr val="FFFFFF"/>
          </a:solidFill>
          <a:ln w="12700">
            <a:solidFill>
              <a:srgbClr val="D5DDE8"/>
            </a:solidFill>
            <a:prstDash val="solid"/>
          </a:ln>
        </p:spPr>
      </p:sp>
      <p:sp>
        <p:nvSpPr>
          <p:cNvPr id="53" name="Text 41"/>
          <p:cNvSpPr txBox="1"/>
          <p:nvPr/>
        </p:nvSpPr>
        <p:spPr>
          <a:xfrm>
            <a:off x="6720840" y="2749296"/>
            <a:ext cx="2025579" cy="310896"/>
          </a:xfrm>
          <a:prstGeom prst="rect">
            <a:avLst/>
          </a:prstGeom>
          <a:noFill/>
          <a:ln/>
        </p:spPr>
        <p:txBody>
          <a:bodyPr wrap="square" lIns="0" tIns="0" rIns="0" bIns="0" rtlCol="0" anchor="ctr"/>
          <a:lstStyle/>
          <a:p>
            <a:pPr algn="ctr" indent="0" marL="0">
              <a:buNone/>
            </a:pPr>
            <a:r>
              <a:rPr lang="en-US" sz="1150" dirty="0">
                <a:solidFill>
                  <a:srgbClr val="2F5D9A"/>
                </a:solidFill>
                <a:latin typeface="Calibri" pitchFamily="34" charset="0"/>
                <a:ea typeface="Calibri" pitchFamily="34" charset="-122"/>
                <a:cs typeface="Calibri" pitchFamily="34" charset="-120"/>
              </a:rPr>
              <a:t>Lock (reversible)</a:t>
            </a:r>
            <a:endParaRPr lang="en-US" sz="1150" dirty="0"/>
          </a:p>
        </p:txBody>
      </p:sp>
      <p:sp>
        <p:nvSpPr>
          <p:cNvPr id="54" name="Shape 42"/>
          <p:cNvSpPr/>
          <p:nvPr/>
        </p:nvSpPr>
        <p:spPr>
          <a:xfrm>
            <a:off x="8856147" y="2749296"/>
            <a:ext cx="2025579" cy="310896"/>
          </a:xfrm>
          <a:prstGeom prst="roundRect">
            <a:avLst>
              <a:gd name="adj" fmla="val 17647"/>
            </a:avLst>
          </a:prstGeom>
          <a:solidFill>
            <a:srgbClr val="E8EFF9"/>
          </a:solidFill>
          <a:ln w="19050">
            <a:solidFill>
              <a:srgbClr val="2F5D9A"/>
            </a:solidFill>
            <a:prstDash val="solid"/>
          </a:ln>
        </p:spPr>
      </p:sp>
      <p:sp>
        <p:nvSpPr>
          <p:cNvPr id="55" name="Text 43"/>
          <p:cNvSpPr txBox="1"/>
          <p:nvPr/>
        </p:nvSpPr>
        <p:spPr>
          <a:xfrm>
            <a:off x="8856147" y="2749296"/>
            <a:ext cx="2025579" cy="310896"/>
          </a:xfrm>
          <a:prstGeom prst="rect">
            <a:avLst/>
          </a:prstGeom>
          <a:noFill/>
          <a:ln/>
        </p:spPr>
        <p:txBody>
          <a:bodyPr wrap="square" lIns="0" tIns="0" rIns="0" bIns="0" rtlCol="0" anchor="ctr"/>
          <a:lstStyle/>
          <a:p>
            <a:pPr algn="ctr" indent="0" marL="0">
              <a:buNone/>
            </a:pPr>
            <a:r>
              <a:rPr lang="en-US" sz="1150" b="1" dirty="0">
                <a:solidFill>
                  <a:srgbClr val="2F5D9A"/>
                </a:solidFill>
                <a:latin typeface="Calibri" pitchFamily="34" charset="0"/>
                <a:ea typeface="Calibri" pitchFamily="34" charset="-122"/>
                <a:cs typeface="Calibri" pitchFamily="34" charset="-120"/>
              </a:rPr>
              <a:t>Close permanently</a:t>
            </a:r>
            <a:endParaRPr lang="en-US" sz="1150" dirty="0"/>
          </a:p>
        </p:txBody>
      </p:sp>
      <p:sp>
        <p:nvSpPr>
          <p:cNvPr id="56" name="Shape 44"/>
          <p:cNvSpPr/>
          <p:nvPr/>
        </p:nvSpPr>
        <p:spPr>
          <a:xfrm>
            <a:off x="8887968" y="3279648"/>
            <a:ext cx="2414016" cy="350520"/>
          </a:xfrm>
          <a:prstGeom prst="roundRect">
            <a:avLst>
              <a:gd name="adj" fmla="val 44348"/>
            </a:avLst>
          </a:prstGeom>
          <a:solidFill>
            <a:srgbClr val="DCE6F4"/>
          </a:solidFill>
          <a:ln w="12700">
            <a:solidFill>
              <a:srgbClr val="DCE6F4"/>
            </a:solidFill>
            <a:prstDash val="solid"/>
          </a:ln>
        </p:spPr>
      </p:sp>
      <p:sp>
        <p:nvSpPr>
          <p:cNvPr id="57" name="Text 45"/>
          <p:cNvSpPr txBox="1"/>
          <p:nvPr/>
        </p:nvSpPr>
        <p:spPr>
          <a:xfrm>
            <a:off x="9052560" y="3279648"/>
            <a:ext cx="2084832" cy="350520"/>
          </a:xfrm>
          <a:prstGeom prst="rect">
            <a:avLst/>
          </a:prstGeom>
          <a:noFill/>
          <a:ln/>
        </p:spPr>
        <p:txBody>
          <a:bodyPr wrap="square" lIns="0" tIns="0" rIns="0" bIns="0" rtlCol="0" anchor="ctr"/>
          <a:lstStyle/>
          <a:p>
            <a:pPr indent="0" marL="0">
              <a:buNone/>
            </a:pPr>
            <a:r>
              <a:rPr lang="en-US" sz="1200" dirty="0">
                <a:solidFill>
                  <a:srgbClr val="2B2F36"/>
                </a:solidFill>
                <a:latin typeface="Calibri" pitchFamily="34" charset="0"/>
                <a:ea typeface="Calibri" pitchFamily="34" charset="-122"/>
                <a:cs typeface="Calibri" pitchFamily="34" charset="-120"/>
              </a:rPr>
              <a:t>Close it, she switched banks</a:t>
            </a:r>
            <a:endParaRPr lang="en-US" sz="1200" dirty="0"/>
          </a:p>
        </p:txBody>
      </p:sp>
      <p:sp>
        <p:nvSpPr>
          <p:cNvPr id="58" name="Shape 46"/>
          <p:cNvSpPr/>
          <p:nvPr/>
        </p:nvSpPr>
        <p:spPr>
          <a:xfrm>
            <a:off x="6583680" y="3721608"/>
            <a:ext cx="4435206" cy="1068197"/>
          </a:xfrm>
          <a:prstGeom prst="roundRect">
            <a:avLst>
              <a:gd name="adj" fmla="val 6848"/>
            </a:avLst>
          </a:prstGeom>
          <a:solidFill>
            <a:srgbClr val="FFFFFF"/>
          </a:solidFill>
          <a:ln w="12700">
            <a:solidFill>
              <a:srgbClr val="E3B5B5"/>
            </a:solidFill>
            <a:prstDash val="solid"/>
          </a:ln>
        </p:spPr>
      </p:sp>
      <p:sp>
        <p:nvSpPr>
          <p:cNvPr id="59" name="Text 47"/>
          <p:cNvSpPr txBox="1"/>
          <p:nvPr/>
        </p:nvSpPr>
        <p:spPr>
          <a:xfrm>
            <a:off x="6720840" y="3831336"/>
            <a:ext cx="4160886" cy="222504"/>
          </a:xfrm>
          <a:prstGeom prst="rect">
            <a:avLst/>
          </a:prstGeom>
          <a:noFill/>
          <a:ln/>
        </p:spPr>
        <p:txBody>
          <a:bodyPr wrap="square" lIns="0" tIns="0" rIns="0" bIns="0" rtlCol="0" anchor="t"/>
          <a:lstStyle/>
          <a:p>
            <a:pPr indent="0" marL="0">
              <a:buNone/>
            </a:pPr>
            <a:r>
              <a:rPr lang="en-US" sz="1200" b="1" dirty="0">
                <a:solidFill>
                  <a:srgbClr val="1F2D4A"/>
                </a:solidFill>
                <a:latin typeface="Calibri" pitchFamily="34" charset="0"/>
                <a:ea typeface="Calibri" pitchFamily="34" charset="-122"/>
                <a:cs typeface="Calibri" pitchFamily="34" charset="-120"/>
              </a:rPr>
              <a:t>Permanently close the card ending 4417 for Jane Miller?</a:t>
            </a:r>
            <a:endParaRPr lang="en-US" sz="1200" dirty="0"/>
          </a:p>
        </p:txBody>
      </p:sp>
      <p:sp>
        <p:nvSpPr>
          <p:cNvPr id="60" name="Text 48"/>
          <p:cNvSpPr txBox="1"/>
          <p:nvPr/>
        </p:nvSpPr>
        <p:spPr>
          <a:xfrm>
            <a:off x="6720840" y="4044696"/>
            <a:ext cx="4160886" cy="214757"/>
          </a:xfrm>
          <a:prstGeom prst="rect">
            <a:avLst/>
          </a:prstGeom>
          <a:noFill/>
          <a:ln/>
        </p:spPr>
        <p:txBody>
          <a:bodyPr wrap="square" lIns="0" tIns="0" rIns="0" bIns="0" rtlCol="0" anchor="t"/>
          <a:lstStyle/>
          <a:p>
            <a:pPr indent="0" marL="0">
              <a:buNone/>
            </a:pPr>
            <a:r>
              <a:rPr lang="en-US" sz="1150" i="1" dirty="0">
                <a:solidFill>
                  <a:srgbClr val="B03030"/>
                </a:solidFill>
                <a:latin typeface="Calibri" pitchFamily="34" charset="0"/>
                <a:ea typeface="Calibri" pitchFamily="34" charset="-122"/>
                <a:cs typeface="Calibri" pitchFamily="34" charset="-120"/>
              </a:rPr>
              <a:t>This cannot be undone. A new card would have to be issued.</a:t>
            </a:r>
            <a:endParaRPr lang="en-US" sz="1150" dirty="0"/>
          </a:p>
        </p:txBody>
      </p:sp>
      <p:sp>
        <p:nvSpPr>
          <p:cNvPr id="61" name="Shape 49"/>
          <p:cNvSpPr/>
          <p:nvPr/>
        </p:nvSpPr>
        <p:spPr>
          <a:xfrm>
            <a:off x="6720840" y="4350893"/>
            <a:ext cx="1096010" cy="310896"/>
          </a:xfrm>
          <a:prstGeom prst="roundRect">
            <a:avLst>
              <a:gd name="adj" fmla="val 50000"/>
            </a:avLst>
          </a:prstGeom>
          <a:solidFill>
            <a:srgbClr val="B03030"/>
          </a:solidFill>
          <a:ln w="12700">
            <a:solidFill>
              <a:srgbClr val="B03030"/>
            </a:solidFill>
            <a:prstDash val="solid"/>
          </a:ln>
        </p:spPr>
      </p:sp>
      <p:sp>
        <p:nvSpPr>
          <p:cNvPr id="62" name="Text 50"/>
          <p:cNvSpPr txBox="1"/>
          <p:nvPr/>
        </p:nvSpPr>
        <p:spPr>
          <a:xfrm>
            <a:off x="6720840" y="4350893"/>
            <a:ext cx="109601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Close card</a:t>
            </a:r>
            <a:endParaRPr lang="en-US" sz="1150" dirty="0"/>
          </a:p>
        </p:txBody>
      </p:sp>
      <p:sp>
        <p:nvSpPr>
          <p:cNvPr id="63" name="Shape 51"/>
          <p:cNvSpPr/>
          <p:nvPr/>
        </p:nvSpPr>
        <p:spPr>
          <a:xfrm>
            <a:off x="7926578" y="4350893"/>
            <a:ext cx="803910" cy="310896"/>
          </a:xfrm>
          <a:prstGeom prst="roundRect">
            <a:avLst>
              <a:gd name="adj" fmla="val 50000"/>
            </a:avLst>
          </a:prstGeom>
          <a:solidFill>
            <a:srgbClr val="FFFFFF"/>
          </a:solidFill>
          <a:ln w="12700">
            <a:solidFill>
              <a:srgbClr val="D5DDE8"/>
            </a:solidFill>
            <a:prstDash val="solid"/>
          </a:ln>
        </p:spPr>
      </p:sp>
      <p:sp>
        <p:nvSpPr>
          <p:cNvPr id="64" name="Text 52"/>
          <p:cNvSpPr txBox="1"/>
          <p:nvPr/>
        </p:nvSpPr>
        <p:spPr>
          <a:xfrm>
            <a:off x="7926578" y="4350893"/>
            <a:ext cx="803910" cy="310896"/>
          </a:xfrm>
          <a:prstGeom prst="rect">
            <a:avLst/>
          </a:prstGeom>
          <a:noFill/>
          <a:ln/>
        </p:spPr>
        <p:txBody>
          <a:bodyPr wrap="square" lIns="0" tIns="0" rIns="0" bIns="0" rtlCol="0" anchor="ctr"/>
          <a:lstStyle/>
          <a:p>
            <a:pPr algn="ctr" indent="0" marL="0">
              <a:buNone/>
            </a:pPr>
            <a:r>
              <a:rPr lang="en-US" sz="1150" dirty="0">
                <a:solidFill>
                  <a:srgbClr val="5B6B7A"/>
                </a:solidFill>
                <a:latin typeface="Calibri" pitchFamily="34" charset="0"/>
                <a:ea typeface="Calibri" pitchFamily="34" charset="-122"/>
                <a:cs typeface="Calibri" pitchFamily="34" charset="-120"/>
              </a:rPr>
              <a:t>Cancel</a:t>
            </a:r>
            <a:endParaRPr lang="en-US" sz="1150" dirty="0"/>
          </a:p>
        </p:txBody>
      </p:sp>
      <p:sp>
        <p:nvSpPr>
          <p:cNvPr id="65" name="Text 53"/>
          <p:cNvSpPr txBox="1"/>
          <p:nvPr/>
        </p:nvSpPr>
        <p:spPr>
          <a:xfrm>
            <a:off x="8885936" y="4350893"/>
            <a:ext cx="1645920" cy="310896"/>
          </a:xfrm>
          <a:prstGeom prst="rect">
            <a:avLst/>
          </a:prstGeom>
          <a:noFill/>
          <a:ln/>
        </p:spPr>
        <p:txBody>
          <a:bodyPr wrap="square" lIns="0" tIns="0" rIns="0" bIns="0" rtlCol="0" anchor="ctr"/>
          <a:lstStyle/>
          <a:p>
            <a:pPr indent="0" marL="0">
              <a:buNone/>
            </a:pPr>
            <a:r>
              <a:rPr lang="en-US" sz="1000" i="1" dirty="0">
                <a:solidFill>
                  <a:srgbClr val="8A93A0"/>
                </a:solidFill>
                <a:latin typeface="Calibri" pitchFamily="34" charset="0"/>
                <a:ea typeface="Calibri" pitchFamily="34" charset="-122"/>
                <a:cs typeface="Calibri" pitchFamily="34" charset="-120"/>
              </a:rPr>
              <a:t>nothing has run yet</a:t>
            </a:r>
            <a:endParaRPr lang="en-US" sz="10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Report lost or stolen</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The urgent call: “I’ve lost my wallet.”</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This is the scenario from our interview with Jonathan: the client is on the phone and wants it handled now.</a:t>
            </a:r>
            <a:endParaRPr lang="en-US" sz="1100" dirty="0"/>
          </a:p>
        </p:txBody>
      </p:sp>
      <p:sp>
        <p:nvSpPr>
          <p:cNvPr id="5" name="Shape 3"/>
          <p:cNvSpPr/>
          <p:nvPr/>
        </p:nvSpPr>
        <p:spPr>
          <a:xfrm>
            <a:off x="9003792" y="420624"/>
            <a:ext cx="2636520" cy="365760"/>
          </a:xfrm>
          <a:prstGeom prst="roundRect">
            <a:avLst>
              <a:gd name="adj" fmla="val 50000"/>
            </a:avLst>
          </a:prstGeom>
          <a:solidFill>
            <a:srgbClr val="FDF8E8"/>
          </a:solidFill>
          <a:ln w="15875">
            <a:solidFill>
              <a:srgbClr val="A5851F"/>
            </a:solidFill>
            <a:prstDash val="solid"/>
          </a:ln>
        </p:spPr>
      </p:sp>
      <p:sp>
        <p:nvSpPr>
          <p:cNvPr id="6" name="Text 4"/>
          <p:cNvSpPr txBox="1"/>
          <p:nvPr/>
        </p:nvSpPr>
        <p:spPr>
          <a:xfrm>
            <a:off x="9003792" y="420624"/>
            <a:ext cx="2636520" cy="365760"/>
          </a:xfrm>
          <a:prstGeom prst="rect">
            <a:avLst/>
          </a:prstGeom>
          <a:noFill/>
          <a:ln/>
        </p:spPr>
        <p:txBody>
          <a:bodyPr wrap="square" lIns="0" tIns="0" rIns="0" bIns="0" rtlCol="0" anchor="ctr"/>
          <a:lstStyle/>
          <a:p>
            <a:pPr algn="ctr" indent="0" marL="0">
              <a:buNone/>
            </a:pPr>
            <a:r>
              <a:rPr lang="en-US" sz="1200" b="1" dirty="0">
                <a:solidFill>
                  <a:srgbClr val="A5851F"/>
                </a:solidFill>
                <a:latin typeface="Calibri" pitchFamily="34" charset="0"/>
                <a:ea typeface="Calibri" pitchFamily="34" charset="-122"/>
                <a:cs typeface="Calibri" pitchFamily="34" charset="-120"/>
              </a:rPr>
              <a:t>Blocks + flags the account</a:t>
            </a:r>
            <a:endParaRPr lang="en-US" sz="1200" dirty="0"/>
          </a:p>
        </p:txBody>
      </p:sp>
      <p:sp>
        <p:nvSpPr>
          <p:cNvPr id="7" name="icon circle WHAT IT DOES"/>
          <p:cNvSpPr/>
          <p:nvPr/>
        </p:nvSpPr>
        <p:spPr>
          <a:xfrm>
            <a:off x="548640" y="1463040"/>
            <a:ext cx="310896" cy="310896"/>
          </a:xfrm>
          <a:prstGeom prst="ellipse">
            <a:avLst/>
          </a:prstGeom>
          <a:solidFill>
            <a:srgbClr val="14314F"/>
          </a:solidFill>
          <a:ln w="12700">
            <a:solidFill>
              <a:srgbClr val="14314F"/>
            </a:solidFill>
            <a:prstDash val="solid"/>
          </a:ln>
        </p:spPr>
      </p:sp>
      <p:pic>
        <p:nvPicPr>
          <p:cNvPr id="8" name="Image 0" descr="preencoded.png">    </p:cNvPr>
          <p:cNvPicPr>
            <a:picLocks noChangeAspect="1"/>
          </p:cNvPicPr>
          <p:nvPr/>
        </p:nvPicPr>
        <p:blipFill>
          <a:blip r:embed="rId1"/>
          <a:stretch>
            <a:fillRect/>
          </a:stretch>
        </p:blipFill>
        <p:spPr>
          <a:xfrm>
            <a:off x="621792" y="1536192"/>
            <a:ext cx="164592" cy="164592"/>
          </a:xfrm>
          <a:prstGeom prst="rect">
            <a:avLst/>
          </a:prstGeom>
        </p:spPr>
      </p:pic>
      <p:sp>
        <p:nvSpPr>
          <p:cNvPr id="9" name="Text 6"/>
          <p:cNvSpPr txBox="1"/>
          <p:nvPr/>
        </p:nvSpPr>
        <p:spPr>
          <a:xfrm>
            <a:off x="969264" y="1481328"/>
            <a:ext cx="4572000" cy="274320"/>
          </a:xfrm>
          <a:prstGeom prst="rect">
            <a:avLst/>
          </a:prstGeom>
          <a:noFill/>
          <a:ln/>
        </p:spPr>
        <p:txBody>
          <a:bodyPr wrap="square" lIns="0" tIns="0" rIns="0" bIns="0" rtlCol="0" anchor="ctr"/>
          <a:lstStyle/>
          <a:p>
            <a:pPr indent="0" marL="0">
              <a:buNone/>
            </a:pPr>
            <a:r>
              <a:rPr lang="en-US" sz="1100" b="1" spc="150" kern="0" dirty="0">
                <a:solidFill>
                  <a:srgbClr val="14314F"/>
                </a:solidFill>
                <a:latin typeface="Calibri" pitchFamily="34" charset="0"/>
                <a:ea typeface="Calibri" pitchFamily="34" charset="-122"/>
                <a:cs typeface="Calibri" pitchFamily="34" charset="-120"/>
              </a:rPr>
              <a:t>WHAT IT DOES</a:t>
            </a:r>
            <a:endParaRPr lang="en-US" sz="1100" dirty="0"/>
          </a:p>
        </p:txBody>
      </p:sp>
      <p:sp>
        <p:nvSpPr>
          <p:cNvPr id="10" name="Text 7"/>
          <p:cNvSpPr txBox="1"/>
          <p:nvPr/>
        </p:nvSpPr>
        <p:spPr>
          <a:xfrm>
            <a:off x="548640" y="1847088"/>
            <a:ext cx="5440680" cy="566928"/>
          </a:xfrm>
          <a:prstGeom prst="rect">
            <a:avLst/>
          </a:prstGeom>
          <a:noFill/>
          <a:ln/>
        </p:spPr>
        <p:txBody>
          <a:bodyPr wrap="square" lIns="0" tIns="0" rIns="0" bIns="0" rtlCol="0" anchor="t"/>
          <a:lstStyle/>
          <a:p>
            <a:pPr indent="0" marL="0">
              <a:buNone/>
            </a:pPr>
            <a:r>
              <a:rPr lang="en-US" sz="1700" dirty="0">
                <a:solidFill>
                  <a:srgbClr val="14314F"/>
                </a:solidFill>
                <a:latin typeface="Cambria" pitchFamily="34" charset="0"/>
                <a:ea typeface="Cambria" pitchFamily="34" charset="-122"/>
                <a:cs typeface="Cambria" pitchFamily="34" charset="-120"/>
              </a:rPr>
              <a:t>Blocks the card and flags the account for review, in one step.</a:t>
            </a:r>
            <a:endParaRPr lang="en-US" sz="1700" dirty="0"/>
          </a:p>
        </p:txBody>
      </p:sp>
      <p:sp>
        <p:nvSpPr>
          <p:cNvPr id="11" name="icon circle THE ADVISOR MIGHT SAY"/>
          <p:cNvSpPr/>
          <p:nvPr/>
        </p:nvSpPr>
        <p:spPr>
          <a:xfrm>
            <a:off x="548640" y="2542032"/>
            <a:ext cx="310896" cy="310896"/>
          </a:xfrm>
          <a:prstGeom prst="ellipse">
            <a:avLst/>
          </a:prstGeom>
          <a:solidFill>
            <a:srgbClr val="A5851F"/>
          </a:solidFill>
          <a:ln w="12700">
            <a:solidFill>
              <a:srgbClr val="A5851F"/>
            </a:solidFill>
            <a:prstDash val="solid"/>
          </a:ln>
        </p:spPr>
      </p:sp>
      <p:pic>
        <p:nvPicPr>
          <p:cNvPr id="12" name="Image 1" descr="preencoded.png">    </p:cNvPr>
          <p:cNvPicPr>
            <a:picLocks noChangeAspect="1"/>
          </p:cNvPicPr>
          <p:nvPr/>
        </p:nvPicPr>
        <p:blipFill>
          <a:blip r:embed="rId2"/>
          <a:stretch>
            <a:fillRect/>
          </a:stretch>
        </p:blipFill>
        <p:spPr>
          <a:xfrm>
            <a:off x="621792" y="2615184"/>
            <a:ext cx="164592" cy="164592"/>
          </a:xfrm>
          <a:prstGeom prst="rect">
            <a:avLst/>
          </a:prstGeom>
        </p:spPr>
      </p:pic>
      <p:sp>
        <p:nvSpPr>
          <p:cNvPr id="13" name="Text 9"/>
          <p:cNvSpPr txBox="1"/>
          <p:nvPr/>
        </p:nvSpPr>
        <p:spPr>
          <a:xfrm>
            <a:off x="969264" y="2560320"/>
            <a:ext cx="4572000" cy="274320"/>
          </a:xfrm>
          <a:prstGeom prst="rect">
            <a:avLst/>
          </a:prstGeom>
          <a:noFill/>
          <a:ln/>
        </p:spPr>
        <p:txBody>
          <a:bodyPr wrap="square" lIns="0" tIns="0" rIns="0" bIns="0" rtlCol="0" anchor="ctr"/>
          <a:lstStyle/>
          <a:p>
            <a:pPr indent="0" marL="0">
              <a:buNone/>
            </a:pPr>
            <a:r>
              <a:rPr lang="en-US" sz="1100" b="1" spc="150" kern="0" dirty="0">
                <a:solidFill>
                  <a:srgbClr val="A5851F"/>
                </a:solidFill>
                <a:latin typeface="Calibri" pitchFamily="34" charset="0"/>
                <a:ea typeface="Calibri" pitchFamily="34" charset="-122"/>
                <a:cs typeface="Calibri" pitchFamily="34" charset="-120"/>
              </a:rPr>
              <a:t>THE ADVISOR MIGHT SAY</a:t>
            </a:r>
            <a:endParaRPr lang="en-US" sz="1100" dirty="0"/>
          </a:p>
        </p:txBody>
      </p:sp>
      <p:sp>
        <p:nvSpPr>
          <p:cNvPr id="14" name="Shape 10"/>
          <p:cNvSpPr/>
          <p:nvPr/>
        </p:nvSpPr>
        <p:spPr>
          <a:xfrm>
            <a:off x="548640" y="2926080"/>
            <a:ext cx="806196" cy="329184"/>
          </a:xfrm>
          <a:prstGeom prst="roundRect">
            <a:avLst>
              <a:gd name="adj" fmla="val 50000"/>
            </a:avLst>
          </a:prstGeom>
          <a:solidFill>
            <a:srgbClr val="FDF8E8"/>
          </a:solidFill>
          <a:ln w="12700">
            <a:solidFill>
              <a:srgbClr val="E0D3A8"/>
            </a:solidFill>
            <a:prstDash val="solid"/>
          </a:ln>
        </p:spPr>
      </p:sp>
      <p:sp>
        <p:nvSpPr>
          <p:cNvPr id="15" name="Text 11"/>
          <p:cNvSpPr txBox="1"/>
          <p:nvPr/>
        </p:nvSpPr>
        <p:spPr>
          <a:xfrm>
            <a:off x="548640" y="2926080"/>
            <a:ext cx="80619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“lost”</a:t>
            </a:r>
            <a:endParaRPr lang="en-US" sz="1250" dirty="0"/>
          </a:p>
        </p:txBody>
      </p:sp>
      <p:sp>
        <p:nvSpPr>
          <p:cNvPr id="16" name="Shape 12"/>
          <p:cNvSpPr/>
          <p:nvPr/>
        </p:nvSpPr>
        <p:spPr>
          <a:xfrm>
            <a:off x="1464564" y="2926080"/>
            <a:ext cx="971296" cy="329184"/>
          </a:xfrm>
          <a:prstGeom prst="roundRect">
            <a:avLst>
              <a:gd name="adj" fmla="val 50000"/>
            </a:avLst>
          </a:prstGeom>
          <a:solidFill>
            <a:srgbClr val="FDF8E8"/>
          </a:solidFill>
          <a:ln w="12700">
            <a:solidFill>
              <a:srgbClr val="E0D3A8"/>
            </a:solidFill>
            <a:prstDash val="solid"/>
          </a:ln>
        </p:spPr>
      </p:sp>
      <p:sp>
        <p:nvSpPr>
          <p:cNvPr id="17" name="Text 13"/>
          <p:cNvSpPr txBox="1"/>
          <p:nvPr/>
        </p:nvSpPr>
        <p:spPr>
          <a:xfrm>
            <a:off x="1464564" y="2926080"/>
            <a:ext cx="97129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“stolen”</a:t>
            </a:r>
            <a:endParaRPr lang="en-US" sz="1250" dirty="0"/>
          </a:p>
        </p:txBody>
      </p:sp>
      <p:sp>
        <p:nvSpPr>
          <p:cNvPr id="18" name="Shape 14"/>
          <p:cNvSpPr/>
          <p:nvPr/>
        </p:nvSpPr>
        <p:spPr>
          <a:xfrm>
            <a:off x="2545588" y="2926080"/>
            <a:ext cx="971296" cy="329184"/>
          </a:xfrm>
          <a:prstGeom prst="roundRect">
            <a:avLst>
              <a:gd name="adj" fmla="val 50000"/>
            </a:avLst>
          </a:prstGeom>
          <a:solidFill>
            <a:srgbClr val="FDF8E8"/>
          </a:solidFill>
          <a:ln w="12700">
            <a:solidFill>
              <a:srgbClr val="E0D3A8"/>
            </a:solidFill>
            <a:prstDash val="solid"/>
          </a:ln>
        </p:spPr>
      </p:sp>
      <p:sp>
        <p:nvSpPr>
          <p:cNvPr id="19" name="Text 15"/>
          <p:cNvSpPr txBox="1"/>
          <p:nvPr/>
        </p:nvSpPr>
        <p:spPr>
          <a:xfrm>
            <a:off x="2545588" y="2926080"/>
            <a:ext cx="97129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“wallet”</a:t>
            </a:r>
            <a:endParaRPr lang="en-US" sz="1250" dirty="0"/>
          </a:p>
        </p:txBody>
      </p:sp>
      <p:sp>
        <p:nvSpPr>
          <p:cNvPr id="20" name="Shape 16"/>
          <p:cNvSpPr/>
          <p:nvPr/>
        </p:nvSpPr>
        <p:spPr>
          <a:xfrm>
            <a:off x="3626612" y="2926080"/>
            <a:ext cx="1301496" cy="329184"/>
          </a:xfrm>
          <a:prstGeom prst="roundRect">
            <a:avLst>
              <a:gd name="adj" fmla="val 50000"/>
            </a:avLst>
          </a:prstGeom>
          <a:solidFill>
            <a:srgbClr val="FDF8E8"/>
          </a:solidFill>
          <a:ln w="12700">
            <a:solidFill>
              <a:srgbClr val="E0D3A8"/>
            </a:solidFill>
            <a:prstDash val="solid"/>
          </a:ln>
        </p:spPr>
      </p:sp>
      <p:sp>
        <p:nvSpPr>
          <p:cNvPr id="21" name="Text 17"/>
          <p:cNvSpPr txBox="1"/>
          <p:nvPr/>
        </p:nvSpPr>
        <p:spPr>
          <a:xfrm>
            <a:off x="3626612" y="2926080"/>
            <a:ext cx="130149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“pickpocket”</a:t>
            </a:r>
            <a:endParaRPr lang="en-US" sz="1250" dirty="0"/>
          </a:p>
        </p:txBody>
      </p:sp>
      <p:sp>
        <p:nvSpPr>
          <p:cNvPr id="22" name="icon circle WHAT THE CHAT NEEDS BEFORE IT ACTS"/>
          <p:cNvSpPr/>
          <p:nvPr/>
        </p:nvSpPr>
        <p:spPr>
          <a:xfrm>
            <a:off x="548640" y="3474720"/>
            <a:ext cx="310896" cy="310896"/>
          </a:xfrm>
          <a:prstGeom prst="ellipse">
            <a:avLst/>
          </a:prstGeom>
          <a:solidFill>
            <a:srgbClr val="14314F"/>
          </a:solidFill>
          <a:ln w="12700">
            <a:solidFill>
              <a:srgbClr val="14314F"/>
            </a:solidFill>
            <a:prstDash val="solid"/>
          </a:ln>
        </p:spPr>
      </p:sp>
      <p:pic>
        <p:nvPicPr>
          <p:cNvPr id="23" name="Image 2" descr="preencoded.png">    </p:cNvPr>
          <p:cNvPicPr>
            <a:picLocks noChangeAspect="1"/>
          </p:cNvPicPr>
          <p:nvPr/>
        </p:nvPicPr>
        <p:blipFill>
          <a:blip r:embed="rId3"/>
          <a:stretch>
            <a:fillRect/>
          </a:stretch>
        </p:blipFill>
        <p:spPr>
          <a:xfrm>
            <a:off x="621792" y="3547872"/>
            <a:ext cx="164592" cy="164592"/>
          </a:xfrm>
          <a:prstGeom prst="rect">
            <a:avLst/>
          </a:prstGeom>
        </p:spPr>
      </p:pic>
      <p:sp>
        <p:nvSpPr>
          <p:cNvPr id="24" name="Text 19"/>
          <p:cNvSpPr txBox="1"/>
          <p:nvPr/>
        </p:nvSpPr>
        <p:spPr>
          <a:xfrm>
            <a:off x="969264" y="3493008"/>
            <a:ext cx="4572000" cy="274320"/>
          </a:xfrm>
          <a:prstGeom prst="rect">
            <a:avLst/>
          </a:prstGeom>
          <a:noFill/>
          <a:ln/>
        </p:spPr>
        <p:txBody>
          <a:bodyPr wrap="square" lIns="0" tIns="0" rIns="0" bIns="0" rtlCol="0" anchor="ctr"/>
          <a:lstStyle/>
          <a:p>
            <a:pPr indent="0" marL="0">
              <a:buNone/>
            </a:pPr>
            <a:r>
              <a:rPr lang="en-US" sz="1100" b="1" spc="150" kern="0" dirty="0">
                <a:solidFill>
                  <a:srgbClr val="14314F"/>
                </a:solidFill>
                <a:latin typeface="Calibri" pitchFamily="34" charset="0"/>
                <a:ea typeface="Calibri" pitchFamily="34" charset="-122"/>
                <a:cs typeface="Calibri" pitchFamily="34" charset="-120"/>
              </a:rPr>
              <a:t>WHAT THE CHAT NEEDS BEFORE IT ACTS</a:t>
            </a:r>
            <a:endParaRPr lang="en-US" sz="1100" dirty="0"/>
          </a:p>
        </p:txBody>
      </p:sp>
      <p:sp>
        <p:nvSpPr>
          <p:cNvPr id="25" name="Shape 20"/>
          <p:cNvSpPr/>
          <p:nvPr/>
        </p:nvSpPr>
        <p:spPr>
          <a:xfrm>
            <a:off x="548640" y="3858768"/>
            <a:ext cx="806196" cy="329184"/>
          </a:xfrm>
          <a:prstGeom prst="roundRect">
            <a:avLst>
              <a:gd name="adj" fmla="val 50000"/>
            </a:avLst>
          </a:prstGeom>
          <a:solidFill>
            <a:srgbClr val="FFFFFF"/>
          </a:solidFill>
          <a:ln w="12700">
            <a:solidFill>
              <a:srgbClr val="14314F"/>
            </a:solidFill>
            <a:prstDash val="solid"/>
          </a:ln>
        </p:spPr>
      </p:sp>
      <p:sp>
        <p:nvSpPr>
          <p:cNvPr id="26" name="Text 21"/>
          <p:cNvSpPr txBox="1"/>
          <p:nvPr/>
        </p:nvSpPr>
        <p:spPr>
          <a:xfrm>
            <a:off x="548640" y="3858768"/>
            <a:ext cx="8061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Client</a:t>
            </a:r>
            <a:endParaRPr lang="en-US" sz="1250" dirty="0"/>
          </a:p>
        </p:txBody>
      </p:sp>
      <p:sp>
        <p:nvSpPr>
          <p:cNvPr id="27" name="Shape 22"/>
          <p:cNvSpPr/>
          <p:nvPr/>
        </p:nvSpPr>
        <p:spPr>
          <a:xfrm>
            <a:off x="1464564" y="3858768"/>
            <a:ext cx="641096" cy="329184"/>
          </a:xfrm>
          <a:prstGeom prst="roundRect">
            <a:avLst>
              <a:gd name="adj" fmla="val 50000"/>
            </a:avLst>
          </a:prstGeom>
          <a:solidFill>
            <a:srgbClr val="FFFFFF"/>
          </a:solidFill>
          <a:ln w="12700">
            <a:solidFill>
              <a:srgbClr val="14314F"/>
            </a:solidFill>
            <a:prstDash val="solid"/>
          </a:ln>
        </p:spPr>
      </p:sp>
      <p:sp>
        <p:nvSpPr>
          <p:cNvPr id="28" name="Text 23"/>
          <p:cNvSpPr txBox="1"/>
          <p:nvPr/>
        </p:nvSpPr>
        <p:spPr>
          <a:xfrm>
            <a:off x="1464564" y="3858768"/>
            <a:ext cx="6410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Card</a:t>
            </a:r>
            <a:endParaRPr lang="en-US" sz="1250" dirty="0"/>
          </a:p>
        </p:txBody>
      </p:sp>
      <p:sp>
        <p:nvSpPr>
          <p:cNvPr id="29" name="Shape 24"/>
          <p:cNvSpPr/>
          <p:nvPr/>
        </p:nvSpPr>
        <p:spPr>
          <a:xfrm>
            <a:off x="2215388" y="3858768"/>
            <a:ext cx="1549146" cy="329184"/>
          </a:xfrm>
          <a:prstGeom prst="roundRect">
            <a:avLst>
              <a:gd name="adj" fmla="val 50000"/>
            </a:avLst>
          </a:prstGeom>
          <a:solidFill>
            <a:srgbClr val="FFFFFF"/>
          </a:solidFill>
          <a:ln w="12700">
            <a:solidFill>
              <a:srgbClr val="14314F"/>
            </a:solidFill>
            <a:prstDash val="solid"/>
          </a:ln>
        </p:spPr>
      </p:sp>
      <p:sp>
        <p:nvSpPr>
          <p:cNvPr id="30" name="Text 25"/>
          <p:cNvSpPr txBox="1"/>
          <p:nvPr/>
        </p:nvSpPr>
        <p:spPr>
          <a:xfrm>
            <a:off x="2215388" y="3858768"/>
            <a:ext cx="154914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Lost or stolen?</a:t>
            </a:r>
            <a:endParaRPr lang="en-US" sz="1250" dirty="0"/>
          </a:p>
        </p:txBody>
      </p:sp>
      <p:sp>
        <p:nvSpPr>
          <p:cNvPr id="31" name="Text 26"/>
          <p:cNvSpPr txBox="1"/>
          <p:nvPr/>
        </p:nvSpPr>
        <p:spPr>
          <a:xfrm>
            <a:off x="548640" y="4242816"/>
            <a:ext cx="5440680" cy="237744"/>
          </a:xfrm>
          <a:prstGeom prst="rect">
            <a:avLst/>
          </a:prstGeom>
          <a:noFill/>
          <a:ln/>
        </p:spPr>
        <p:txBody>
          <a:bodyPr wrap="square" lIns="0" tIns="0" rIns="0" bIns="0" rtlCol="0" anchor="t"/>
          <a:lstStyle/>
          <a:p>
            <a:pPr indent="0" marL="0">
              <a:buNone/>
            </a:pPr>
            <a:r>
              <a:rPr lang="en-US" sz="1100" i="1" dirty="0">
                <a:solidFill>
                  <a:srgbClr val="7E8D9B"/>
                </a:solidFill>
                <a:latin typeface="Calibri" pitchFamily="34" charset="0"/>
                <a:ea typeface="Calibri" pitchFamily="34" charset="-122"/>
                <a:cs typeface="Calibri" pitchFamily="34" charset="-120"/>
              </a:rPr>
              <a:t>Optional: last known use, and whether there are charges the client does not recognise.</a:t>
            </a:r>
            <a:endParaRPr lang="en-US" sz="1100" dirty="0"/>
          </a:p>
        </p:txBody>
      </p:sp>
      <p:sp>
        <p:nvSpPr>
          <p:cNvPr id="32" name="Shape 27"/>
          <p:cNvSpPr/>
          <p:nvPr/>
        </p:nvSpPr>
        <p:spPr>
          <a:xfrm>
            <a:off x="548640" y="4590288"/>
            <a:ext cx="5440680" cy="1572768"/>
          </a:xfrm>
          <a:prstGeom prst="roundRect">
            <a:avLst>
              <a:gd name="adj" fmla="val 5814"/>
            </a:avLst>
          </a:prstGeom>
          <a:solidFill>
            <a:srgbClr val="EEF4F2"/>
          </a:solidFill>
          <a:ln w="12700">
            <a:solidFill>
              <a:srgbClr val="B9D3C6"/>
            </a:solidFill>
            <a:prstDash val="solid"/>
          </a:ln>
        </p:spPr>
      </p:sp>
      <p:sp>
        <p:nvSpPr>
          <p:cNvPr id="33" name="icon circle BUILT-IN SAFETY"/>
          <p:cNvSpPr/>
          <p:nvPr/>
        </p:nvSpPr>
        <p:spPr>
          <a:xfrm>
            <a:off x="731520" y="4736592"/>
            <a:ext cx="310896" cy="310896"/>
          </a:xfrm>
          <a:prstGeom prst="ellipse">
            <a:avLst/>
          </a:prstGeom>
          <a:solidFill>
            <a:srgbClr val="2E7D5B"/>
          </a:solidFill>
          <a:ln w="12700">
            <a:solidFill>
              <a:srgbClr val="2E7D5B"/>
            </a:solidFill>
            <a:prstDash val="solid"/>
          </a:ln>
        </p:spPr>
      </p:sp>
      <p:pic>
        <p:nvPicPr>
          <p:cNvPr id="34" name="Image 3" descr="preencoded.png">    </p:cNvPr>
          <p:cNvPicPr>
            <a:picLocks noChangeAspect="1"/>
          </p:cNvPicPr>
          <p:nvPr/>
        </p:nvPicPr>
        <p:blipFill>
          <a:blip r:embed="rId4"/>
          <a:stretch>
            <a:fillRect/>
          </a:stretch>
        </p:blipFill>
        <p:spPr>
          <a:xfrm>
            <a:off x="804672" y="4809744"/>
            <a:ext cx="164592" cy="164592"/>
          </a:xfrm>
          <a:prstGeom prst="rect">
            <a:avLst/>
          </a:prstGeom>
        </p:spPr>
      </p:pic>
      <p:sp>
        <p:nvSpPr>
          <p:cNvPr id="35" name="Text 29"/>
          <p:cNvSpPr txBox="1"/>
          <p:nvPr/>
        </p:nvSpPr>
        <p:spPr>
          <a:xfrm>
            <a:off x="1152144" y="4754880"/>
            <a:ext cx="4572000" cy="274320"/>
          </a:xfrm>
          <a:prstGeom prst="rect">
            <a:avLst/>
          </a:prstGeom>
          <a:noFill/>
          <a:ln/>
        </p:spPr>
        <p:txBody>
          <a:bodyPr wrap="square" lIns="0" tIns="0" rIns="0" bIns="0" rtlCol="0" anchor="ctr"/>
          <a:lstStyle/>
          <a:p>
            <a:pPr indent="0" marL="0">
              <a:buNone/>
            </a:pPr>
            <a:r>
              <a:rPr lang="en-US" sz="1100" b="1" spc="150" kern="0" dirty="0">
                <a:solidFill>
                  <a:srgbClr val="2E7D5B"/>
                </a:solidFill>
                <a:latin typeface="Calibri" pitchFamily="34" charset="0"/>
                <a:ea typeface="Calibri" pitchFamily="34" charset="-122"/>
                <a:cs typeface="Calibri" pitchFamily="34" charset="-120"/>
              </a:rPr>
              <a:t>BUILT-IN SAFETY</a:t>
            </a:r>
            <a:endParaRPr lang="en-US" sz="1100" dirty="0"/>
          </a:p>
        </p:txBody>
      </p:sp>
      <p:sp>
        <p:nvSpPr>
          <p:cNvPr id="36" name="Text 30"/>
          <p:cNvSpPr txBox="1"/>
          <p:nvPr/>
        </p:nvSpPr>
        <p:spPr>
          <a:xfrm>
            <a:off x="777240" y="5138928"/>
            <a:ext cx="5029200" cy="93268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It never assumes lost or stolen from the wording. It asks.</a:t>
            </a:r>
            <a:endParaRPr lang="en-US" sz="1300" dirty="0"/>
          </a:p>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It does not judge which charges look suspicious. The client says.</a:t>
            </a:r>
            <a:endParaRPr lang="en-US" sz="1300" dirty="0"/>
          </a:p>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Afterwards it offers the natural next step: a replacement.</a:t>
            </a:r>
            <a:endParaRPr lang="en-US" sz="1300" dirty="0"/>
          </a:p>
        </p:txBody>
      </p:sp>
      <p:sp>
        <p:nvSpPr>
          <p:cNvPr id="37" name="NetX AI panel"/>
          <p:cNvSpPr/>
          <p:nvPr/>
        </p:nvSpPr>
        <p:spPr>
          <a:xfrm>
            <a:off x="6355080" y="1371600"/>
            <a:ext cx="5285232" cy="4846320"/>
          </a:xfrm>
          <a:prstGeom prst="roundRect">
            <a:avLst>
              <a:gd name="adj" fmla="val 1887"/>
            </a:avLst>
          </a:prstGeom>
          <a:solidFill>
            <a:srgbClr val="F5F8FC"/>
          </a:solidFill>
          <a:ln w="12700">
            <a:solidFill>
              <a:srgbClr val="D5DDE8"/>
            </a:solidFill>
            <a:prstDash val="solid"/>
          </a:ln>
        </p:spPr>
      </p:sp>
      <p:pic>
        <p:nvPicPr>
          <p:cNvPr id="38" name="Image 4" descr="preencoded.png">    </p:cNvPr>
          <p:cNvPicPr>
            <a:picLocks noChangeAspect="1"/>
          </p:cNvPicPr>
          <p:nvPr/>
        </p:nvPicPr>
        <p:blipFill>
          <a:blip r:embed="rId5"/>
          <a:stretch>
            <a:fillRect/>
          </a:stretch>
        </p:blipFill>
        <p:spPr>
          <a:xfrm>
            <a:off x="6556248" y="1508760"/>
            <a:ext cx="182880" cy="182880"/>
          </a:xfrm>
          <a:prstGeom prst="rect">
            <a:avLst/>
          </a:prstGeom>
        </p:spPr>
      </p:pic>
      <p:sp>
        <p:nvSpPr>
          <p:cNvPr id="39" name="Text 32"/>
          <p:cNvSpPr txBox="1"/>
          <p:nvPr/>
        </p:nvSpPr>
        <p:spPr>
          <a:xfrm>
            <a:off x="6793992" y="1472184"/>
            <a:ext cx="1828800" cy="256032"/>
          </a:xfrm>
          <a:prstGeom prst="rect">
            <a:avLst/>
          </a:prstGeom>
          <a:noFill/>
          <a:ln/>
        </p:spPr>
        <p:txBody>
          <a:bodyPr wrap="square" lIns="0" tIns="0" rIns="0" bIns="0" rtlCol="0" anchor="ctr"/>
          <a:lstStyle/>
          <a:p>
            <a:pPr indent="0" marL="0">
              <a:buNone/>
            </a:pPr>
            <a:r>
              <a:rPr lang="en-US" sz="1300" b="1" dirty="0">
                <a:solidFill>
                  <a:srgbClr val="1F2D4A"/>
                </a:solidFill>
                <a:latin typeface="Calibri" pitchFamily="34" charset="0"/>
                <a:ea typeface="Calibri" pitchFamily="34" charset="-122"/>
                <a:cs typeface="Calibri" pitchFamily="34" charset="-120"/>
              </a:rPr>
              <a:t>NetX AI</a:t>
            </a:r>
            <a:endParaRPr lang="en-US" sz="1300" dirty="0"/>
          </a:p>
        </p:txBody>
      </p:sp>
      <p:pic>
        <p:nvPicPr>
          <p:cNvPr id="40" name="Image 5" descr="preencoded.png">    </p:cNvPr>
          <p:cNvPicPr>
            <a:picLocks noChangeAspect="1"/>
          </p:cNvPicPr>
          <p:nvPr/>
        </p:nvPicPr>
        <p:blipFill>
          <a:blip r:embed="rId6"/>
          <a:stretch>
            <a:fillRect/>
          </a:stretch>
        </p:blipFill>
        <p:spPr>
          <a:xfrm>
            <a:off x="10927080" y="1517904"/>
            <a:ext cx="164592" cy="164592"/>
          </a:xfrm>
          <a:prstGeom prst="rect">
            <a:avLst/>
          </a:prstGeom>
        </p:spPr>
      </p:pic>
      <p:pic>
        <p:nvPicPr>
          <p:cNvPr id="41" name="Image 6" descr="preencoded.png">    </p:cNvPr>
          <p:cNvPicPr>
            <a:picLocks noChangeAspect="1"/>
          </p:cNvPicPr>
          <p:nvPr/>
        </p:nvPicPr>
        <p:blipFill>
          <a:blip r:embed="rId7"/>
          <a:stretch>
            <a:fillRect/>
          </a:stretch>
        </p:blipFill>
        <p:spPr>
          <a:xfrm>
            <a:off x="11228832" y="1517904"/>
            <a:ext cx="164592" cy="164592"/>
          </a:xfrm>
          <a:prstGeom prst="rect">
            <a:avLst/>
          </a:prstGeom>
        </p:spPr>
      </p:pic>
      <p:sp>
        <p:nvSpPr>
          <p:cNvPr id="42" name="Shape 33"/>
          <p:cNvSpPr/>
          <p:nvPr/>
        </p:nvSpPr>
        <p:spPr>
          <a:xfrm>
            <a:off x="11457432" y="3200400"/>
            <a:ext cx="237744" cy="868680"/>
          </a:xfrm>
          <a:prstGeom prst="roundRect">
            <a:avLst>
              <a:gd name="adj" fmla="val 19231"/>
            </a:avLst>
          </a:prstGeom>
          <a:solidFill>
            <a:srgbClr val="1F2D4A"/>
          </a:solidFill>
          <a:ln w="12700">
            <a:solidFill>
              <a:srgbClr val="1F2D4A"/>
            </a:solidFill>
            <a:prstDash val="solid"/>
          </a:ln>
        </p:spPr>
      </p:sp>
      <p:sp>
        <p:nvSpPr>
          <p:cNvPr id="43" name="Text 34"/>
          <p:cNvSpPr txBox="1"/>
          <p:nvPr/>
        </p:nvSpPr>
        <p:spPr>
          <a:xfrm rot="5400000">
            <a:off x="11132820" y="3529584"/>
            <a:ext cx="8686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Guide Me</a:t>
            </a:r>
            <a:endParaRPr lang="en-US" sz="900" dirty="0"/>
          </a:p>
        </p:txBody>
      </p:sp>
      <p:sp>
        <p:nvSpPr>
          <p:cNvPr id="44" name="Shape 35"/>
          <p:cNvSpPr/>
          <p:nvPr/>
        </p:nvSpPr>
        <p:spPr>
          <a:xfrm>
            <a:off x="6537960" y="5504688"/>
            <a:ext cx="4828032" cy="384048"/>
          </a:xfrm>
          <a:prstGeom prst="roundRect">
            <a:avLst>
              <a:gd name="adj" fmla="val 23810"/>
            </a:avLst>
          </a:prstGeom>
          <a:solidFill>
            <a:srgbClr val="FFFFFF"/>
          </a:solidFill>
          <a:ln w="12700">
            <a:solidFill>
              <a:srgbClr val="D5DDE8"/>
            </a:solidFill>
            <a:prstDash val="solid"/>
          </a:ln>
        </p:spPr>
      </p:sp>
      <p:pic>
        <p:nvPicPr>
          <p:cNvPr id="45" name="Image 7" descr="preencoded.png">    </p:cNvPr>
          <p:cNvPicPr>
            <a:picLocks noChangeAspect="1"/>
          </p:cNvPicPr>
          <p:nvPr/>
        </p:nvPicPr>
        <p:blipFill>
          <a:blip r:embed="rId8"/>
          <a:stretch>
            <a:fillRect/>
          </a:stretch>
        </p:blipFill>
        <p:spPr>
          <a:xfrm>
            <a:off x="6665976" y="5614416"/>
            <a:ext cx="164592" cy="164592"/>
          </a:xfrm>
          <a:prstGeom prst="rect">
            <a:avLst/>
          </a:prstGeom>
        </p:spPr>
      </p:pic>
      <p:sp>
        <p:nvSpPr>
          <p:cNvPr id="46" name="Text 36"/>
          <p:cNvSpPr txBox="1"/>
          <p:nvPr/>
        </p:nvSpPr>
        <p:spPr>
          <a:xfrm>
            <a:off x="6922008" y="5504688"/>
            <a:ext cx="2743200" cy="384048"/>
          </a:xfrm>
          <a:prstGeom prst="rect">
            <a:avLst/>
          </a:prstGeom>
          <a:noFill/>
          <a:ln/>
        </p:spPr>
        <p:txBody>
          <a:bodyPr wrap="square" lIns="0" tIns="0" rIns="0" bIns="0" rtlCol="0" anchor="ctr"/>
          <a:lstStyle/>
          <a:p>
            <a:pPr indent="0" marL="0">
              <a:buNone/>
            </a:pPr>
            <a:r>
              <a:rPr lang="en-US" sz="1100" dirty="0">
                <a:solidFill>
                  <a:srgbClr val="8A93A0"/>
                </a:solidFill>
                <a:latin typeface="Calibri" pitchFamily="34" charset="0"/>
                <a:ea typeface="Calibri" pitchFamily="34" charset="-122"/>
                <a:cs typeface="Calibri" pitchFamily="34" charset="-120"/>
              </a:rPr>
              <a:t>Ask NetX AI</a:t>
            </a:r>
            <a:endParaRPr lang="en-US" sz="1100" dirty="0"/>
          </a:p>
        </p:txBody>
      </p:sp>
      <p:pic>
        <p:nvPicPr>
          <p:cNvPr id="47" name="Image 8" descr="preencoded.png">    </p:cNvPr>
          <p:cNvPicPr>
            <a:picLocks noChangeAspect="1"/>
          </p:cNvPicPr>
          <p:nvPr/>
        </p:nvPicPr>
        <p:blipFill>
          <a:blip r:embed="rId9"/>
          <a:stretch>
            <a:fillRect/>
          </a:stretch>
        </p:blipFill>
        <p:spPr>
          <a:xfrm>
            <a:off x="10707624" y="5614416"/>
            <a:ext cx="164592" cy="164592"/>
          </a:xfrm>
          <a:prstGeom prst="rect">
            <a:avLst/>
          </a:prstGeom>
        </p:spPr>
      </p:pic>
      <p:sp>
        <p:nvSpPr>
          <p:cNvPr id="48" name="Shape 37"/>
          <p:cNvSpPr/>
          <p:nvPr/>
        </p:nvSpPr>
        <p:spPr>
          <a:xfrm>
            <a:off x="10981944" y="5559552"/>
            <a:ext cx="274320" cy="274320"/>
          </a:xfrm>
          <a:prstGeom prst="ellipse">
            <a:avLst/>
          </a:prstGeom>
          <a:solidFill>
            <a:srgbClr val="2F5D9A"/>
          </a:solidFill>
          <a:ln w="12700">
            <a:solidFill>
              <a:srgbClr val="2F5D9A"/>
            </a:solidFill>
            <a:prstDash val="solid"/>
          </a:ln>
        </p:spPr>
      </p:sp>
      <p:pic>
        <p:nvPicPr>
          <p:cNvPr id="49" name="Image 9" descr="preencoded.png">    </p:cNvPr>
          <p:cNvPicPr>
            <a:picLocks noChangeAspect="1"/>
          </p:cNvPicPr>
          <p:nvPr/>
        </p:nvPicPr>
        <p:blipFill>
          <a:blip r:embed="rId10"/>
          <a:stretch>
            <a:fillRect/>
          </a:stretch>
        </p:blipFill>
        <p:spPr>
          <a:xfrm>
            <a:off x="11045952" y="5623560"/>
            <a:ext cx="146304" cy="146304"/>
          </a:xfrm>
          <a:prstGeom prst="rect">
            <a:avLst/>
          </a:prstGeom>
        </p:spPr>
      </p:pic>
      <p:sp>
        <p:nvSpPr>
          <p:cNvPr id="50" name="Text 38"/>
          <p:cNvSpPr txBox="1"/>
          <p:nvPr/>
        </p:nvSpPr>
        <p:spPr>
          <a:xfrm>
            <a:off x="6537960" y="5943600"/>
            <a:ext cx="4828032" cy="219456"/>
          </a:xfrm>
          <a:prstGeom prst="rect">
            <a:avLst/>
          </a:prstGeom>
          <a:noFill/>
          <a:ln/>
        </p:spPr>
        <p:txBody>
          <a:bodyPr wrap="square" lIns="0" tIns="0" rIns="0" bIns="0" rtlCol="0" anchor="ctr"/>
          <a:lstStyle/>
          <a:p>
            <a:pPr algn="ctr" indent="0" marL="0">
              <a:buNone/>
            </a:pPr>
            <a:r>
              <a:rPr lang="en-US" sz="900" dirty="0">
                <a:solidFill>
                  <a:srgbClr val="8A93A0"/>
                </a:solidFill>
                <a:latin typeface="Calibri" pitchFamily="34" charset="0"/>
                <a:ea typeface="Calibri" pitchFamily="34" charset="-122"/>
                <a:cs typeface="Calibri" pitchFamily="34" charset="-120"/>
              </a:rPr>
              <a:t>Please note: AI can make mistakes. All data shown here is synthetic.</a:t>
            </a:r>
            <a:endParaRPr lang="en-US" sz="900" dirty="0"/>
          </a:p>
        </p:txBody>
      </p:sp>
      <p:sp>
        <p:nvSpPr>
          <p:cNvPr id="51" name="Shape 39"/>
          <p:cNvSpPr/>
          <p:nvPr/>
        </p:nvSpPr>
        <p:spPr>
          <a:xfrm>
            <a:off x="8961120" y="1920240"/>
            <a:ext cx="2340864" cy="350520"/>
          </a:xfrm>
          <a:prstGeom prst="roundRect">
            <a:avLst>
              <a:gd name="adj" fmla="val 44348"/>
            </a:avLst>
          </a:prstGeom>
          <a:solidFill>
            <a:srgbClr val="DCE6F4"/>
          </a:solidFill>
          <a:ln w="12700">
            <a:solidFill>
              <a:srgbClr val="DCE6F4"/>
            </a:solidFill>
            <a:prstDash val="solid"/>
          </a:ln>
        </p:spPr>
      </p:sp>
      <p:sp>
        <p:nvSpPr>
          <p:cNvPr id="52" name="Text 40"/>
          <p:cNvSpPr txBox="1"/>
          <p:nvPr/>
        </p:nvSpPr>
        <p:spPr>
          <a:xfrm>
            <a:off x="9125712" y="1920240"/>
            <a:ext cx="2011680" cy="350520"/>
          </a:xfrm>
          <a:prstGeom prst="rect">
            <a:avLst/>
          </a:prstGeom>
          <a:noFill/>
          <a:ln/>
        </p:spPr>
        <p:txBody>
          <a:bodyPr wrap="square" lIns="0" tIns="0" rIns="0" bIns="0" rtlCol="0" anchor="ctr"/>
          <a:lstStyle/>
          <a:p>
            <a:pPr indent="0" marL="0">
              <a:buNone/>
            </a:pPr>
            <a:r>
              <a:rPr lang="en-US" sz="1200" dirty="0">
                <a:solidFill>
                  <a:srgbClr val="2B2F36"/>
                </a:solidFill>
                <a:latin typeface="Calibri" pitchFamily="34" charset="0"/>
                <a:ea typeface="Calibri" pitchFamily="34" charset="-122"/>
                <a:cs typeface="Calibri" pitchFamily="34" charset="-120"/>
              </a:rPr>
              <a:t>Jane Miller lost her wallet</a:t>
            </a:r>
            <a:endParaRPr lang="en-US" sz="1200" dirty="0"/>
          </a:p>
        </p:txBody>
      </p:sp>
      <p:sp>
        <p:nvSpPr>
          <p:cNvPr id="53" name="Text 41"/>
          <p:cNvSpPr txBox="1"/>
          <p:nvPr/>
        </p:nvSpPr>
        <p:spPr>
          <a:xfrm>
            <a:off x="6583680" y="2362200"/>
            <a:ext cx="4718304" cy="185928"/>
          </a:xfrm>
          <a:prstGeom prst="rect">
            <a:avLst/>
          </a:prstGeom>
          <a:noFill/>
          <a:ln/>
        </p:spPr>
        <p:txBody>
          <a:bodyPr wrap="square" lIns="0" tIns="0" rIns="0" bIns="0" rtlCol="0" anchor="t"/>
          <a:lstStyle/>
          <a:p>
            <a:pPr indent="0" marL="0">
              <a:buNone/>
            </a:pPr>
            <a:r>
              <a:rPr lang="en-US" sz="1200" dirty="0">
                <a:solidFill>
                  <a:srgbClr val="2B2F36"/>
                </a:solidFill>
                <a:latin typeface="Calibri" pitchFamily="34" charset="0"/>
                <a:ea typeface="Calibri" pitchFamily="34" charset="-122"/>
                <a:cs typeface="Calibri" pitchFamily="34" charset="-120"/>
              </a:rPr>
              <a:t>Lost, or stolen? And are there any charges she doesn’t recognise?</a:t>
            </a:r>
            <a:endParaRPr lang="en-US" sz="1200" dirty="0"/>
          </a:p>
        </p:txBody>
      </p:sp>
      <p:sp>
        <p:nvSpPr>
          <p:cNvPr id="54" name="Shape 42"/>
          <p:cNvSpPr/>
          <p:nvPr/>
        </p:nvSpPr>
        <p:spPr>
          <a:xfrm>
            <a:off x="9400032" y="2712720"/>
            <a:ext cx="1901952" cy="350520"/>
          </a:xfrm>
          <a:prstGeom prst="roundRect">
            <a:avLst>
              <a:gd name="adj" fmla="val 44348"/>
            </a:avLst>
          </a:prstGeom>
          <a:solidFill>
            <a:srgbClr val="DCE6F4"/>
          </a:solidFill>
          <a:ln w="12700">
            <a:solidFill>
              <a:srgbClr val="DCE6F4"/>
            </a:solidFill>
            <a:prstDash val="solid"/>
          </a:ln>
        </p:spPr>
      </p:sp>
      <p:sp>
        <p:nvSpPr>
          <p:cNvPr id="55" name="Text 43"/>
          <p:cNvSpPr txBox="1"/>
          <p:nvPr/>
        </p:nvSpPr>
        <p:spPr>
          <a:xfrm>
            <a:off x="9564624" y="2712720"/>
            <a:ext cx="1572768" cy="350520"/>
          </a:xfrm>
          <a:prstGeom prst="rect">
            <a:avLst/>
          </a:prstGeom>
          <a:noFill/>
          <a:ln/>
        </p:spPr>
        <p:txBody>
          <a:bodyPr wrap="square" lIns="0" tIns="0" rIns="0" bIns="0" rtlCol="0" anchor="ctr"/>
          <a:lstStyle/>
          <a:p>
            <a:pPr indent="0" marL="0">
              <a:buNone/>
            </a:pPr>
            <a:r>
              <a:rPr lang="en-US" sz="1200" dirty="0">
                <a:solidFill>
                  <a:srgbClr val="2B2F36"/>
                </a:solidFill>
                <a:latin typeface="Calibri" pitchFamily="34" charset="0"/>
                <a:ea typeface="Calibri" pitchFamily="34" charset="-122"/>
                <a:cs typeface="Calibri" pitchFamily="34" charset="-120"/>
              </a:rPr>
              <a:t>Lost. No odd charges.</a:t>
            </a:r>
            <a:endParaRPr lang="en-US" sz="1200" dirty="0"/>
          </a:p>
        </p:txBody>
      </p:sp>
      <p:sp>
        <p:nvSpPr>
          <p:cNvPr id="56" name="Shape 44"/>
          <p:cNvSpPr/>
          <p:nvPr/>
        </p:nvSpPr>
        <p:spPr>
          <a:xfrm>
            <a:off x="6583680" y="3154680"/>
            <a:ext cx="4435206" cy="1039368"/>
          </a:xfrm>
          <a:prstGeom prst="roundRect">
            <a:avLst>
              <a:gd name="adj" fmla="val 7038"/>
            </a:avLst>
          </a:prstGeom>
          <a:solidFill>
            <a:srgbClr val="FFFFFF"/>
          </a:solidFill>
          <a:ln w="12700">
            <a:solidFill>
              <a:srgbClr val="D5DDE8"/>
            </a:solidFill>
            <a:prstDash val="solid"/>
          </a:ln>
        </p:spPr>
      </p:sp>
      <p:sp>
        <p:nvSpPr>
          <p:cNvPr id="57" name="Text 45"/>
          <p:cNvSpPr txBox="1"/>
          <p:nvPr/>
        </p:nvSpPr>
        <p:spPr>
          <a:xfrm>
            <a:off x="6720840" y="3264408"/>
            <a:ext cx="4160886" cy="408432"/>
          </a:xfrm>
          <a:prstGeom prst="rect">
            <a:avLst/>
          </a:prstGeom>
          <a:noFill/>
          <a:ln/>
        </p:spPr>
        <p:txBody>
          <a:bodyPr wrap="square" lIns="0" tIns="0" rIns="0" bIns="0" rtlCol="0" anchor="t"/>
          <a:lstStyle/>
          <a:p>
            <a:pPr indent="0" marL="0">
              <a:buNone/>
            </a:pPr>
            <a:r>
              <a:rPr lang="en-US" sz="1200" b="1" dirty="0">
                <a:solidFill>
                  <a:srgbClr val="1F2D4A"/>
                </a:solidFill>
                <a:latin typeface="Calibri" pitchFamily="34" charset="0"/>
                <a:ea typeface="Calibri" pitchFamily="34" charset="-122"/>
                <a:cs typeface="Calibri" pitchFamily="34" charset="-120"/>
              </a:rPr>
              <a:t>Report the card ending 4417 for Jane Miller as lost and flag the account?</a:t>
            </a:r>
            <a:endParaRPr lang="en-US" sz="1200" dirty="0"/>
          </a:p>
        </p:txBody>
      </p:sp>
      <p:sp>
        <p:nvSpPr>
          <p:cNvPr id="58" name="Shape 46"/>
          <p:cNvSpPr/>
          <p:nvPr/>
        </p:nvSpPr>
        <p:spPr>
          <a:xfrm>
            <a:off x="6720840" y="3755136"/>
            <a:ext cx="876935" cy="310896"/>
          </a:xfrm>
          <a:prstGeom prst="roundRect">
            <a:avLst>
              <a:gd name="adj" fmla="val 50000"/>
            </a:avLst>
          </a:prstGeom>
          <a:solidFill>
            <a:srgbClr val="2F5D9A"/>
          </a:solidFill>
          <a:ln w="12700">
            <a:solidFill>
              <a:srgbClr val="2F5D9A"/>
            </a:solidFill>
            <a:prstDash val="solid"/>
          </a:ln>
        </p:spPr>
      </p:sp>
      <p:sp>
        <p:nvSpPr>
          <p:cNvPr id="59" name="Text 47"/>
          <p:cNvSpPr txBox="1"/>
          <p:nvPr/>
        </p:nvSpPr>
        <p:spPr>
          <a:xfrm>
            <a:off x="6720840" y="3755136"/>
            <a:ext cx="876935"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Confirm</a:t>
            </a:r>
            <a:endParaRPr lang="en-US" sz="1150" dirty="0"/>
          </a:p>
        </p:txBody>
      </p:sp>
      <p:sp>
        <p:nvSpPr>
          <p:cNvPr id="60" name="Shape 48"/>
          <p:cNvSpPr/>
          <p:nvPr/>
        </p:nvSpPr>
        <p:spPr>
          <a:xfrm>
            <a:off x="7707503" y="3755136"/>
            <a:ext cx="803910" cy="310896"/>
          </a:xfrm>
          <a:prstGeom prst="roundRect">
            <a:avLst>
              <a:gd name="adj" fmla="val 50000"/>
            </a:avLst>
          </a:prstGeom>
          <a:solidFill>
            <a:srgbClr val="FFFFFF"/>
          </a:solidFill>
          <a:ln w="12700">
            <a:solidFill>
              <a:srgbClr val="D5DDE8"/>
            </a:solidFill>
            <a:prstDash val="solid"/>
          </a:ln>
        </p:spPr>
      </p:sp>
      <p:sp>
        <p:nvSpPr>
          <p:cNvPr id="61" name="Text 49"/>
          <p:cNvSpPr txBox="1"/>
          <p:nvPr/>
        </p:nvSpPr>
        <p:spPr>
          <a:xfrm>
            <a:off x="7707503" y="3755136"/>
            <a:ext cx="803910" cy="310896"/>
          </a:xfrm>
          <a:prstGeom prst="rect">
            <a:avLst/>
          </a:prstGeom>
          <a:noFill/>
          <a:ln/>
        </p:spPr>
        <p:txBody>
          <a:bodyPr wrap="square" lIns="0" tIns="0" rIns="0" bIns="0" rtlCol="0" anchor="ctr"/>
          <a:lstStyle/>
          <a:p>
            <a:pPr algn="ctr" indent="0" marL="0">
              <a:buNone/>
            </a:pPr>
            <a:r>
              <a:rPr lang="en-US" sz="1150" dirty="0">
                <a:solidFill>
                  <a:srgbClr val="5B6B7A"/>
                </a:solidFill>
                <a:latin typeface="Calibri" pitchFamily="34" charset="0"/>
                <a:ea typeface="Calibri" pitchFamily="34" charset="-122"/>
                <a:cs typeface="Calibri" pitchFamily="34" charset="-120"/>
              </a:rPr>
              <a:t>Cancel</a:t>
            </a:r>
            <a:endParaRPr lang="en-US" sz="1150" dirty="0"/>
          </a:p>
        </p:txBody>
      </p:sp>
      <p:sp>
        <p:nvSpPr>
          <p:cNvPr id="62" name="Text 50"/>
          <p:cNvSpPr txBox="1"/>
          <p:nvPr/>
        </p:nvSpPr>
        <p:spPr>
          <a:xfrm>
            <a:off x="8666861" y="3755136"/>
            <a:ext cx="1645920" cy="310896"/>
          </a:xfrm>
          <a:prstGeom prst="rect">
            <a:avLst/>
          </a:prstGeom>
          <a:noFill/>
          <a:ln/>
        </p:spPr>
        <p:txBody>
          <a:bodyPr wrap="square" lIns="0" tIns="0" rIns="0" bIns="0" rtlCol="0" anchor="ctr"/>
          <a:lstStyle/>
          <a:p>
            <a:pPr indent="0" marL="0">
              <a:buNone/>
            </a:pPr>
            <a:r>
              <a:rPr lang="en-US" sz="1000" i="1" dirty="0">
                <a:solidFill>
                  <a:srgbClr val="8A93A0"/>
                </a:solidFill>
                <a:latin typeface="Calibri" pitchFamily="34" charset="0"/>
                <a:ea typeface="Calibri" pitchFamily="34" charset="-122"/>
                <a:cs typeface="Calibri" pitchFamily="34" charset="-120"/>
              </a:rPr>
              <a:t>nothing has run yet</a:t>
            </a:r>
            <a:endParaRPr lang="en-US" sz="1000" dirty="0"/>
          </a:p>
        </p:txBody>
      </p:sp>
      <p:pic>
        <p:nvPicPr>
          <p:cNvPr id="63" name="Image 10" descr="preencoded.png">    </p:cNvPr>
          <p:cNvPicPr>
            <a:picLocks noChangeAspect="1"/>
          </p:cNvPicPr>
          <p:nvPr/>
        </p:nvPicPr>
        <p:blipFill>
          <a:blip r:embed="rId11"/>
          <a:stretch>
            <a:fillRect/>
          </a:stretch>
        </p:blipFill>
        <p:spPr>
          <a:xfrm>
            <a:off x="6583680" y="4303776"/>
            <a:ext cx="182880" cy="182880"/>
          </a:xfrm>
          <a:prstGeom prst="rect">
            <a:avLst/>
          </a:prstGeom>
        </p:spPr>
      </p:pic>
      <p:sp>
        <p:nvSpPr>
          <p:cNvPr id="64" name="Text 51"/>
          <p:cNvSpPr txBox="1"/>
          <p:nvPr/>
        </p:nvSpPr>
        <p:spPr>
          <a:xfrm>
            <a:off x="6858000" y="4285488"/>
            <a:ext cx="4443984" cy="185928"/>
          </a:xfrm>
          <a:prstGeom prst="rect">
            <a:avLst/>
          </a:prstGeom>
          <a:noFill/>
          <a:ln/>
        </p:spPr>
        <p:txBody>
          <a:bodyPr wrap="square" lIns="0" tIns="0" rIns="0" bIns="0" rtlCol="0" anchor="ctr"/>
          <a:lstStyle/>
          <a:p>
            <a:pPr indent="0" marL="0">
              <a:buNone/>
            </a:pPr>
            <a:r>
              <a:rPr lang="en-US" sz="1200" b="1" dirty="0">
                <a:solidFill>
                  <a:srgbClr val="2E7D5B"/>
                </a:solidFill>
                <a:latin typeface="Calibri" pitchFamily="34" charset="0"/>
                <a:ea typeface="Calibri" pitchFamily="34" charset="-122"/>
                <a:cs typeface="Calibri" pitchFamily="34" charset="-120"/>
              </a:rPr>
              <a:t>Card blocked and account flagged.</a:t>
            </a:r>
            <a:endParaRPr lang="en-US" sz="1200" dirty="0"/>
          </a:p>
        </p:txBody>
      </p:sp>
      <p:sp>
        <p:nvSpPr>
          <p:cNvPr id="65" name="Text 52"/>
          <p:cNvSpPr txBox="1"/>
          <p:nvPr/>
        </p:nvSpPr>
        <p:spPr>
          <a:xfrm>
            <a:off x="6583680" y="4636008"/>
            <a:ext cx="4718304" cy="185928"/>
          </a:xfrm>
          <a:prstGeom prst="rect">
            <a:avLst/>
          </a:prstGeom>
          <a:noFill/>
          <a:ln/>
        </p:spPr>
        <p:txBody>
          <a:bodyPr wrap="square" lIns="0" tIns="0" rIns="0" bIns="0" rtlCol="0" anchor="t"/>
          <a:lstStyle/>
          <a:p>
            <a:pPr indent="0" marL="0">
              <a:buNone/>
            </a:pPr>
            <a:r>
              <a:rPr lang="en-US" sz="1200" dirty="0">
                <a:solidFill>
                  <a:srgbClr val="2B2F36"/>
                </a:solidFill>
                <a:latin typeface="Calibri" pitchFamily="34" charset="0"/>
                <a:ea typeface="Calibri" pitchFamily="34" charset="-122"/>
                <a:cs typeface="Calibri" pitchFamily="34" charset="-120"/>
              </a:rPr>
              <a:t>Would you like me to order a replacement?</a:t>
            </a:r>
            <a:endParaRPr lang="en-US" sz="1200" dirty="0"/>
          </a:p>
        </p:txBody>
      </p:sp>
      <p:pic>
        <p:nvPicPr>
          <p:cNvPr id="66" name="Image 11" descr="preencoded.png">    </p:cNvPr>
          <p:cNvPicPr>
            <a:picLocks noChangeAspect="1"/>
          </p:cNvPicPr>
          <p:nvPr/>
        </p:nvPicPr>
        <p:blipFill>
          <a:blip r:embed="rId12"/>
          <a:stretch>
            <a:fillRect/>
          </a:stretch>
        </p:blipFill>
        <p:spPr>
          <a:xfrm>
            <a:off x="6583680" y="4895088"/>
            <a:ext cx="155448" cy="155448"/>
          </a:xfrm>
          <a:prstGeom prst="rect">
            <a:avLst/>
          </a:prstGeom>
        </p:spPr>
      </p:pic>
      <p:pic>
        <p:nvPicPr>
          <p:cNvPr id="67" name="Image 12" descr="preencoded.png">    </p:cNvPr>
          <p:cNvPicPr>
            <a:picLocks noChangeAspect="1"/>
          </p:cNvPicPr>
          <p:nvPr/>
        </p:nvPicPr>
        <p:blipFill>
          <a:blip r:embed="rId13"/>
          <a:stretch>
            <a:fillRect/>
          </a:stretch>
        </p:blipFill>
        <p:spPr>
          <a:xfrm>
            <a:off x="6876288" y="4895088"/>
            <a:ext cx="155448" cy="155448"/>
          </a:xfrm>
          <a:prstGeom prst="rect">
            <a:avLst/>
          </a:prstGeom>
        </p:spPr>
      </p:pic>
      <p:pic>
        <p:nvPicPr>
          <p:cNvPr id="68" name="Image 13" descr="preencoded.png">    </p:cNvPr>
          <p:cNvPicPr>
            <a:picLocks noChangeAspect="1"/>
          </p:cNvPicPr>
          <p:nvPr/>
        </p:nvPicPr>
        <p:blipFill>
          <a:blip r:embed="rId14"/>
          <a:stretch>
            <a:fillRect/>
          </a:stretch>
        </p:blipFill>
        <p:spPr>
          <a:xfrm>
            <a:off x="7168896" y="4895088"/>
            <a:ext cx="155448" cy="155448"/>
          </a:xfrm>
          <a:prstGeom prst="rect">
            <a:avLst/>
          </a:prstGeom>
        </p:spPr>
      </p:pic>
      <p:pic>
        <p:nvPicPr>
          <p:cNvPr id="69" name="Image 14" descr="preencoded.png">    </p:cNvPr>
          <p:cNvPicPr>
            <a:picLocks noChangeAspect="1"/>
          </p:cNvPicPr>
          <p:nvPr/>
        </p:nvPicPr>
        <p:blipFill>
          <a:blip r:embed="rId15"/>
          <a:stretch>
            <a:fillRect/>
          </a:stretch>
        </p:blipFill>
        <p:spPr>
          <a:xfrm>
            <a:off x="7461504" y="4895088"/>
            <a:ext cx="155448" cy="155448"/>
          </a:xfrm>
          <a:prstGeom prst="rect">
            <a:avLst/>
          </a:prstGeom>
        </p:spPr>
      </p:pic>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Travel notice</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Tell the bank about a trip, so the card is not declined abroad.</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Dates the chat worked out are shown on the confirmation, with their source. “Change dates” lets the advisor correct them before anything runs.</a:t>
            </a:r>
            <a:endParaRPr lang="en-US" sz="1100" dirty="0"/>
          </a:p>
        </p:txBody>
      </p:sp>
      <p:sp>
        <p:nvSpPr>
          <p:cNvPr id="5" name="Shape 3"/>
          <p:cNvSpPr/>
          <p:nvPr/>
        </p:nvSpPr>
        <p:spPr>
          <a:xfrm>
            <a:off x="9339072" y="420624"/>
            <a:ext cx="2301240" cy="365760"/>
          </a:xfrm>
          <a:prstGeom prst="roundRect">
            <a:avLst>
              <a:gd name="adj" fmla="val 50000"/>
            </a:avLst>
          </a:prstGeom>
          <a:solidFill>
            <a:srgbClr val="FDF8E8"/>
          </a:solidFill>
          <a:ln w="15875">
            <a:solidFill>
              <a:srgbClr val="A5851F"/>
            </a:solidFill>
            <a:prstDash val="solid"/>
          </a:ln>
        </p:spPr>
      </p:sp>
      <p:sp>
        <p:nvSpPr>
          <p:cNvPr id="6" name="Text 4"/>
          <p:cNvSpPr txBox="1"/>
          <p:nvPr/>
        </p:nvSpPr>
        <p:spPr>
          <a:xfrm>
            <a:off x="9339072" y="420624"/>
            <a:ext cx="2301240" cy="365760"/>
          </a:xfrm>
          <a:prstGeom prst="rect">
            <a:avLst/>
          </a:prstGeom>
          <a:noFill/>
          <a:ln/>
        </p:spPr>
        <p:txBody>
          <a:bodyPr wrap="square" lIns="0" tIns="0" rIns="0" bIns="0" rtlCol="0" anchor="ctr"/>
          <a:lstStyle/>
          <a:p>
            <a:pPr algn="ctr" indent="0" marL="0">
              <a:buNone/>
            </a:pPr>
            <a:r>
              <a:rPr lang="en-US" sz="1200" b="1" dirty="0">
                <a:solidFill>
                  <a:srgbClr val="A5851F"/>
                </a:solidFill>
                <a:latin typeface="Calibri" pitchFamily="34" charset="0"/>
                <a:ea typeface="Calibri" pitchFamily="34" charset="-122"/>
                <a:cs typeface="Calibri" pitchFamily="34" charset="-120"/>
              </a:rPr>
              <a:t>The hardest of the six</a:t>
            </a:r>
            <a:endParaRPr lang="en-US" sz="1200" dirty="0"/>
          </a:p>
        </p:txBody>
      </p:sp>
      <p:sp>
        <p:nvSpPr>
          <p:cNvPr id="7" name="icon circle WHAT IT DOES"/>
          <p:cNvSpPr/>
          <p:nvPr/>
        </p:nvSpPr>
        <p:spPr>
          <a:xfrm>
            <a:off x="548640" y="1463040"/>
            <a:ext cx="310896" cy="310896"/>
          </a:xfrm>
          <a:prstGeom prst="ellipse">
            <a:avLst/>
          </a:prstGeom>
          <a:solidFill>
            <a:srgbClr val="14314F"/>
          </a:solidFill>
          <a:ln w="12700">
            <a:solidFill>
              <a:srgbClr val="14314F"/>
            </a:solidFill>
            <a:prstDash val="solid"/>
          </a:ln>
        </p:spPr>
      </p:sp>
      <p:pic>
        <p:nvPicPr>
          <p:cNvPr id="8" name="Image 0" descr="preencoded.png">    </p:cNvPr>
          <p:cNvPicPr>
            <a:picLocks noChangeAspect="1"/>
          </p:cNvPicPr>
          <p:nvPr/>
        </p:nvPicPr>
        <p:blipFill>
          <a:blip r:embed="rId1"/>
          <a:stretch>
            <a:fillRect/>
          </a:stretch>
        </p:blipFill>
        <p:spPr>
          <a:xfrm>
            <a:off x="621792" y="1536192"/>
            <a:ext cx="164592" cy="164592"/>
          </a:xfrm>
          <a:prstGeom prst="rect">
            <a:avLst/>
          </a:prstGeom>
        </p:spPr>
      </p:pic>
      <p:sp>
        <p:nvSpPr>
          <p:cNvPr id="9" name="Text 6"/>
          <p:cNvSpPr txBox="1"/>
          <p:nvPr/>
        </p:nvSpPr>
        <p:spPr>
          <a:xfrm>
            <a:off x="969264" y="1481328"/>
            <a:ext cx="4572000" cy="274320"/>
          </a:xfrm>
          <a:prstGeom prst="rect">
            <a:avLst/>
          </a:prstGeom>
          <a:noFill/>
          <a:ln/>
        </p:spPr>
        <p:txBody>
          <a:bodyPr wrap="square" lIns="0" tIns="0" rIns="0" bIns="0" rtlCol="0" anchor="ctr"/>
          <a:lstStyle/>
          <a:p>
            <a:pPr indent="0" marL="0">
              <a:buNone/>
            </a:pPr>
            <a:r>
              <a:rPr lang="en-US" sz="1100" b="1" spc="150" kern="0" dirty="0">
                <a:solidFill>
                  <a:srgbClr val="14314F"/>
                </a:solidFill>
                <a:latin typeface="Calibri" pitchFamily="34" charset="0"/>
                <a:ea typeface="Calibri" pitchFamily="34" charset="-122"/>
                <a:cs typeface="Calibri" pitchFamily="34" charset="-120"/>
              </a:rPr>
              <a:t>WHAT IT DOES</a:t>
            </a:r>
            <a:endParaRPr lang="en-US" sz="1100" dirty="0"/>
          </a:p>
        </p:txBody>
      </p:sp>
      <p:sp>
        <p:nvSpPr>
          <p:cNvPr id="10" name="Text 7"/>
          <p:cNvSpPr txBox="1"/>
          <p:nvPr/>
        </p:nvSpPr>
        <p:spPr>
          <a:xfrm>
            <a:off x="548640" y="1847088"/>
            <a:ext cx="5440680" cy="566928"/>
          </a:xfrm>
          <a:prstGeom prst="rect">
            <a:avLst/>
          </a:prstGeom>
          <a:noFill/>
          <a:ln/>
        </p:spPr>
        <p:txBody>
          <a:bodyPr wrap="square" lIns="0" tIns="0" rIns="0" bIns="0" rtlCol="0" anchor="t"/>
          <a:lstStyle/>
          <a:p>
            <a:pPr indent="0" marL="0">
              <a:buNone/>
            </a:pPr>
            <a:r>
              <a:rPr lang="en-US" sz="1700" dirty="0">
                <a:solidFill>
                  <a:srgbClr val="14314F"/>
                </a:solidFill>
                <a:latin typeface="Cambria" pitchFamily="34" charset="0"/>
                <a:ea typeface="Cambria" pitchFamily="34" charset="-122"/>
                <a:cs typeface="Cambria" pitchFamily="34" charset="-120"/>
              </a:rPr>
              <a:t>Records where and when the client is travelling.</a:t>
            </a:r>
            <a:endParaRPr lang="en-US" sz="1700" dirty="0"/>
          </a:p>
        </p:txBody>
      </p:sp>
      <p:sp>
        <p:nvSpPr>
          <p:cNvPr id="11" name="icon circle THE ADVISOR MIGHT SAY"/>
          <p:cNvSpPr/>
          <p:nvPr/>
        </p:nvSpPr>
        <p:spPr>
          <a:xfrm>
            <a:off x="548640" y="2542032"/>
            <a:ext cx="310896" cy="310896"/>
          </a:xfrm>
          <a:prstGeom prst="ellipse">
            <a:avLst/>
          </a:prstGeom>
          <a:solidFill>
            <a:srgbClr val="A5851F"/>
          </a:solidFill>
          <a:ln w="12700">
            <a:solidFill>
              <a:srgbClr val="A5851F"/>
            </a:solidFill>
            <a:prstDash val="solid"/>
          </a:ln>
        </p:spPr>
      </p:sp>
      <p:pic>
        <p:nvPicPr>
          <p:cNvPr id="12" name="Image 1" descr="preencoded.png">    </p:cNvPr>
          <p:cNvPicPr>
            <a:picLocks noChangeAspect="1"/>
          </p:cNvPicPr>
          <p:nvPr/>
        </p:nvPicPr>
        <p:blipFill>
          <a:blip r:embed="rId2"/>
          <a:stretch>
            <a:fillRect/>
          </a:stretch>
        </p:blipFill>
        <p:spPr>
          <a:xfrm>
            <a:off x="621792" y="2615184"/>
            <a:ext cx="164592" cy="164592"/>
          </a:xfrm>
          <a:prstGeom prst="rect">
            <a:avLst/>
          </a:prstGeom>
        </p:spPr>
      </p:pic>
      <p:sp>
        <p:nvSpPr>
          <p:cNvPr id="13" name="Text 9"/>
          <p:cNvSpPr txBox="1"/>
          <p:nvPr/>
        </p:nvSpPr>
        <p:spPr>
          <a:xfrm>
            <a:off x="969264" y="2560320"/>
            <a:ext cx="4572000" cy="274320"/>
          </a:xfrm>
          <a:prstGeom prst="rect">
            <a:avLst/>
          </a:prstGeom>
          <a:noFill/>
          <a:ln/>
        </p:spPr>
        <p:txBody>
          <a:bodyPr wrap="square" lIns="0" tIns="0" rIns="0" bIns="0" rtlCol="0" anchor="ctr"/>
          <a:lstStyle/>
          <a:p>
            <a:pPr indent="0" marL="0">
              <a:buNone/>
            </a:pPr>
            <a:r>
              <a:rPr lang="en-US" sz="1100" b="1" spc="150" kern="0" dirty="0">
                <a:solidFill>
                  <a:srgbClr val="A5851F"/>
                </a:solidFill>
                <a:latin typeface="Calibri" pitchFamily="34" charset="0"/>
                <a:ea typeface="Calibri" pitchFamily="34" charset="-122"/>
                <a:cs typeface="Calibri" pitchFamily="34" charset="-120"/>
              </a:rPr>
              <a:t>THE ADVISOR MIGHT SAY</a:t>
            </a:r>
            <a:endParaRPr lang="en-US" sz="1100" dirty="0"/>
          </a:p>
        </p:txBody>
      </p:sp>
      <p:sp>
        <p:nvSpPr>
          <p:cNvPr id="14" name="Shape 10"/>
          <p:cNvSpPr/>
          <p:nvPr/>
        </p:nvSpPr>
        <p:spPr>
          <a:xfrm>
            <a:off x="548640" y="2926080"/>
            <a:ext cx="971296" cy="329184"/>
          </a:xfrm>
          <a:prstGeom prst="roundRect">
            <a:avLst>
              <a:gd name="adj" fmla="val 50000"/>
            </a:avLst>
          </a:prstGeom>
          <a:solidFill>
            <a:srgbClr val="FDF8E8"/>
          </a:solidFill>
          <a:ln w="12700">
            <a:solidFill>
              <a:srgbClr val="E0D3A8"/>
            </a:solidFill>
            <a:prstDash val="solid"/>
          </a:ln>
        </p:spPr>
      </p:sp>
      <p:sp>
        <p:nvSpPr>
          <p:cNvPr id="15" name="Text 11"/>
          <p:cNvSpPr txBox="1"/>
          <p:nvPr/>
        </p:nvSpPr>
        <p:spPr>
          <a:xfrm>
            <a:off x="548640" y="2926080"/>
            <a:ext cx="97129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“travel”</a:t>
            </a:r>
            <a:endParaRPr lang="en-US" sz="1250" dirty="0"/>
          </a:p>
        </p:txBody>
      </p:sp>
      <p:sp>
        <p:nvSpPr>
          <p:cNvPr id="16" name="Shape 12"/>
          <p:cNvSpPr/>
          <p:nvPr/>
        </p:nvSpPr>
        <p:spPr>
          <a:xfrm>
            <a:off x="1629664" y="2926080"/>
            <a:ext cx="806196" cy="329184"/>
          </a:xfrm>
          <a:prstGeom prst="roundRect">
            <a:avLst>
              <a:gd name="adj" fmla="val 50000"/>
            </a:avLst>
          </a:prstGeom>
          <a:solidFill>
            <a:srgbClr val="FDF8E8"/>
          </a:solidFill>
          <a:ln w="12700">
            <a:solidFill>
              <a:srgbClr val="E0D3A8"/>
            </a:solidFill>
            <a:prstDash val="solid"/>
          </a:ln>
        </p:spPr>
      </p:sp>
      <p:sp>
        <p:nvSpPr>
          <p:cNvPr id="17" name="Text 13"/>
          <p:cNvSpPr txBox="1"/>
          <p:nvPr/>
        </p:nvSpPr>
        <p:spPr>
          <a:xfrm>
            <a:off x="1629664" y="2926080"/>
            <a:ext cx="80619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“trip”</a:t>
            </a:r>
            <a:endParaRPr lang="en-US" sz="1250" dirty="0"/>
          </a:p>
        </p:txBody>
      </p:sp>
      <p:sp>
        <p:nvSpPr>
          <p:cNvPr id="18" name="Shape 14"/>
          <p:cNvSpPr/>
          <p:nvPr/>
        </p:nvSpPr>
        <p:spPr>
          <a:xfrm>
            <a:off x="2545588" y="2926080"/>
            <a:ext cx="1136396" cy="329184"/>
          </a:xfrm>
          <a:prstGeom prst="roundRect">
            <a:avLst>
              <a:gd name="adj" fmla="val 50000"/>
            </a:avLst>
          </a:prstGeom>
          <a:solidFill>
            <a:srgbClr val="FDF8E8"/>
          </a:solidFill>
          <a:ln w="12700">
            <a:solidFill>
              <a:srgbClr val="E0D3A8"/>
            </a:solidFill>
            <a:prstDash val="solid"/>
          </a:ln>
        </p:spPr>
      </p:sp>
      <p:sp>
        <p:nvSpPr>
          <p:cNvPr id="19" name="Text 15"/>
          <p:cNvSpPr txBox="1"/>
          <p:nvPr/>
        </p:nvSpPr>
        <p:spPr>
          <a:xfrm>
            <a:off x="2545588" y="2926080"/>
            <a:ext cx="113639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“going to”</a:t>
            </a:r>
            <a:endParaRPr lang="en-US" sz="1250" dirty="0"/>
          </a:p>
        </p:txBody>
      </p:sp>
      <p:sp>
        <p:nvSpPr>
          <p:cNvPr id="20" name="Shape 16"/>
          <p:cNvSpPr/>
          <p:nvPr/>
        </p:nvSpPr>
        <p:spPr>
          <a:xfrm>
            <a:off x="3791712" y="2926080"/>
            <a:ext cx="971296" cy="329184"/>
          </a:xfrm>
          <a:prstGeom prst="roundRect">
            <a:avLst>
              <a:gd name="adj" fmla="val 50000"/>
            </a:avLst>
          </a:prstGeom>
          <a:solidFill>
            <a:srgbClr val="FDF8E8"/>
          </a:solidFill>
          <a:ln w="12700">
            <a:solidFill>
              <a:srgbClr val="E0D3A8"/>
            </a:solidFill>
            <a:prstDash val="solid"/>
          </a:ln>
        </p:spPr>
      </p:sp>
      <p:sp>
        <p:nvSpPr>
          <p:cNvPr id="21" name="Text 17"/>
          <p:cNvSpPr txBox="1"/>
          <p:nvPr/>
        </p:nvSpPr>
        <p:spPr>
          <a:xfrm>
            <a:off x="3791712" y="2926080"/>
            <a:ext cx="971296" cy="329184"/>
          </a:xfrm>
          <a:prstGeom prst="rect">
            <a:avLst/>
          </a:prstGeom>
          <a:noFill/>
          <a:ln/>
        </p:spPr>
        <p:txBody>
          <a:bodyPr wrap="square" lIns="0" tIns="0" rIns="0" bIns="0" rtlCol="0" anchor="ctr"/>
          <a:lstStyle/>
          <a:p>
            <a:pPr algn="ctr" indent="0" marL="0">
              <a:buNone/>
            </a:pPr>
            <a:r>
              <a:rPr lang="en-US" sz="1250" i="1" dirty="0">
                <a:solidFill>
                  <a:srgbClr val="3C4C5A"/>
                </a:solidFill>
                <a:latin typeface="Calibri" pitchFamily="34" charset="0"/>
                <a:ea typeface="Calibri" pitchFamily="34" charset="-122"/>
                <a:cs typeface="Calibri" pitchFamily="34" charset="-120"/>
              </a:rPr>
              <a:t>“abroad”</a:t>
            </a:r>
            <a:endParaRPr lang="en-US" sz="1250" dirty="0"/>
          </a:p>
        </p:txBody>
      </p:sp>
      <p:sp>
        <p:nvSpPr>
          <p:cNvPr id="22" name="icon circle WHAT THE CHAT NEEDS BEFORE IT ACTS"/>
          <p:cNvSpPr/>
          <p:nvPr/>
        </p:nvSpPr>
        <p:spPr>
          <a:xfrm>
            <a:off x="548640" y="3474720"/>
            <a:ext cx="310896" cy="310896"/>
          </a:xfrm>
          <a:prstGeom prst="ellipse">
            <a:avLst/>
          </a:prstGeom>
          <a:solidFill>
            <a:srgbClr val="14314F"/>
          </a:solidFill>
          <a:ln w="12700">
            <a:solidFill>
              <a:srgbClr val="14314F"/>
            </a:solidFill>
            <a:prstDash val="solid"/>
          </a:ln>
        </p:spPr>
      </p:sp>
      <p:pic>
        <p:nvPicPr>
          <p:cNvPr id="23" name="Image 2" descr="preencoded.png">    </p:cNvPr>
          <p:cNvPicPr>
            <a:picLocks noChangeAspect="1"/>
          </p:cNvPicPr>
          <p:nvPr/>
        </p:nvPicPr>
        <p:blipFill>
          <a:blip r:embed="rId3"/>
          <a:stretch>
            <a:fillRect/>
          </a:stretch>
        </p:blipFill>
        <p:spPr>
          <a:xfrm>
            <a:off x="621792" y="3547872"/>
            <a:ext cx="164592" cy="164592"/>
          </a:xfrm>
          <a:prstGeom prst="rect">
            <a:avLst/>
          </a:prstGeom>
        </p:spPr>
      </p:pic>
      <p:sp>
        <p:nvSpPr>
          <p:cNvPr id="24" name="Text 19"/>
          <p:cNvSpPr txBox="1"/>
          <p:nvPr/>
        </p:nvSpPr>
        <p:spPr>
          <a:xfrm>
            <a:off x="969264" y="3493008"/>
            <a:ext cx="4572000" cy="274320"/>
          </a:xfrm>
          <a:prstGeom prst="rect">
            <a:avLst/>
          </a:prstGeom>
          <a:noFill/>
          <a:ln/>
        </p:spPr>
        <p:txBody>
          <a:bodyPr wrap="square" lIns="0" tIns="0" rIns="0" bIns="0" rtlCol="0" anchor="ctr"/>
          <a:lstStyle/>
          <a:p>
            <a:pPr indent="0" marL="0">
              <a:buNone/>
            </a:pPr>
            <a:r>
              <a:rPr lang="en-US" sz="1100" b="1" spc="150" kern="0" dirty="0">
                <a:solidFill>
                  <a:srgbClr val="14314F"/>
                </a:solidFill>
                <a:latin typeface="Calibri" pitchFamily="34" charset="0"/>
                <a:ea typeface="Calibri" pitchFamily="34" charset="-122"/>
                <a:cs typeface="Calibri" pitchFamily="34" charset="-120"/>
              </a:rPr>
              <a:t>WHAT THE CHAT NEEDS BEFORE IT ACTS</a:t>
            </a:r>
            <a:endParaRPr lang="en-US" sz="1100" dirty="0"/>
          </a:p>
        </p:txBody>
      </p:sp>
      <p:sp>
        <p:nvSpPr>
          <p:cNvPr id="25" name="Shape 20"/>
          <p:cNvSpPr/>
          <p:nvPr/>
        </p:nvSpPr>
        <p:spPr>
          <a:xfrm>
            <a:off x="548640" y="3858768"/>
            <a:ext cx="806196" cy="329184"/>
          </a:xfrm>
          <a:prstGeom prst="roundRect">
            <a:avLst>
              <a:gd name="adj" fmla="val 50000"/>
            </a:avLst>
          </a:prstGeom>
          <a:solidFill>
            <a:srgbClr val="FFFFFF"/>
          </a:solidFill>
          <a:ln w="12700">
            <a:solidFill>
              <a:srgbClr val="14314F"/>
            </a:solidFill>
            <a:prstDash val="solid"/>
          </a:ln>
        </p:spPr>
      </p:sp>
      <p:sp>
        <p:nvSpPr>
          <p:cNvPr id="26" name="Text 21"/>
          <p:cNvSpPr txBox="1"/>
          <p:nvPr/>
        </p:nvSpPr>
        <p:spPr>
          <a:xfrm>
            <a:off x="548640" y="3858768"/>
            <a:ext cx="8061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Client</a:t>
            </a:r>
            <a:endParaRPr lang="en-US" sz="1250" dirty="0"/>
          </a:p>
        </p:txBody>
      </p:sp>
      <p:sp>
        <p:nvSpPr>
          <p:cNvPr id="27" name="Shape 22"/>
          <p:cNvSpPr/>
          <p:nvPr/>
        </p:nvSpPr>
        <p:spPr>
          <a:xfrm>
            <a:off x="1464564" y="3858768"/>
            <a:ext cx="641096" cy="329184"/>
          </a:xfrm>
          <a:prstGeom prst="roundRect">
            <a:avLst>
              <a:gd name="adj" fmla="val 50000"/>
            </a:avLst>
          </a:prstGeom>
          <a:solidFill>
            <a:srgbClr val="FFFFFF"/>
          </a:solidFill>
          <a:ln w="12700">
            <a:solidFill>
              <a:srgbClr val="14314F"/>
            </a:solidFill>
            <a:prstDash val="solid"/>
          </a:ln>
        </p:spPr>
      </p:sp>
      <p:sp>
        <p:nvSpPr>
          <p:cNvPr id="28" name="Text 23"/>
          <p:cNvSpPr txBox="1"/>
          <p:nvPr/>
        </p:nvSpPr>
        <p:spPr>
          <a:xfrm>
            <a:off x="1464564" y="3858768"/>
            <a:ext cx="6410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Card</a:t>
            </a:r>
            <a:endParaRPr lang="en-US" sz="1250" dirty="0"/>
          </a:p>
        </p:txBody>
      </p:sp>
      <p:sp>
        <p:nvSpPr>
          <p:cNvPr id="29" name="Shape 24"/>
          <p:cNvSpPr/>
          <p:nvPr/>
        </p:nvSpPr>
        <p:spPr>
          <a:xfrm>
            <a:off x="2215388" y="3858768"/>
            <a:ext cx="1218946" cy="329184"/>
          </a:xfrm>
          <a:prstGeom prst="roundRect">
            <a:avLst>
              <a:gd name="adj" fmla="val 50000"/>
            </a:avLst>
          </a:prstGeom>
          <a:solidFill>
            <a:srgbClr val="FFFFFF"/>
          </a:solidFill>
          <a:ln w="12700">
            <a:solidFill>
              <a:srgbClr val="14314F"/>
            </a:solidFill>
            <a:prstDash val="solid"/>
          </a:ln>
        </p:spPr>
      </p:sp>
      <p:sp>
        <p:nvSpPr>
          <p:cNvPr id="30" name="Text 25"/>
          <p:cNvSpPr txBox="1"/>
          <p:nvPr/>
        </p:nvSpPr>
        <p:spPr>
          <a:xfrm>
            <a:off x="2215388" y="3858768"/>
            <a:ext cx="121894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Destination</a:t>
            </a:r>
            <a:endParaRPr lang="en-US" sz="1250" dirty="0"/>
          </a:p>
        </p:txBody>
      </p:sp>
      <p:sp>
        <p:nvSpPr>
          <p:cNvPr id="31" name="Shape 26"/>
          <p:cNvSpPr/>
          <p:nvPr/>
        </p:nvSpPr>
        <p:spPr>
          <a:xfrm>
            <a:off x="3544062" y="3858768"/>
            <a:ext cx="1136396" cy="329184"/>
          </a:xfrm>
          <a:prstGeom prst="roundRect">
            <a:avLst>
              <a:gd name="adj" fmla="val 50000"/>
            </a:avLst>
          </a:prstGeom>
          <a:solidFill>
            <a:srgbClr val="FFFFFF"/>
          </a:solidFill>
          <a:ln w="12700">
            <a:solidFill>
              <a:srgbClr val="14314F"/>
            </a:solidFill>
            <a:prstDash val="solid"/>
          </a:ln>
        </p:spPr>
      </p:sp>
      <p:sp>
        <p:nvSpPr>
          <p:cNvPr id="32" name="Text 27"/>
          <p:cNvSpPr txBox="1"/>
          <p:nvPr/>
        </p:nvSpPr>
        <p:spPr>
          <a:xfrm>
            <a:off x="3544062" y="3858768"/>
            <a:ext cx="11363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Start date</a:t>
            </a:r>
            <a:endParaRPr lang="en-US" sz="1250" dirty="0"/>
          </a:p>
        </p:txBody>
      </p:sp>
      <p:sp>
        <p:nvSpPr>
          <p:cNvPr id="33" name="Shape 28"/>
          <p:cNvSpPr/>
          <p:nvPr/>
        </p:nvSpPr>
        <p:spPr>
          <a:xfrm>
            <a:off x="4790186" y="3858768"/>
            <a:ext cx="971296" cy="329184"/>
          </a:xfrm>
          <a:prstGeom prst="roundRect">
            <a:avLst>
              <a:gd name="adj" fmla="val 50000"/>
            </a:avLst>
          </a:prstGeom>
          <a:solidFill>
            <a:srgbClr val="FFFFFF"/>
          </a:solidFill>
          <a:ln w="12700">
            <a:solidFill>
              <a:srgbClr val="14314F"/>
            </a:solidFill>
            <a:prstDash val="solid"/>
          </a:ln>
        </p:spPr>
      </p:sp>
      <p:sp>
        <p:nvSpPr>
          <p:cNvPr id="34" name="Text 29"/>
          <p:cNvSpPr txBox="1"/>
          <p:nvPr/>
        </p:nvSpPr>
        <p:spPr>
          <a:xfrm>
            <a:off x="4790186" y="3858768"/>
            <a:ext cx="971296" cy="329184"/>
          </a:xfrm>
          <a:prstGeom prst="rect">
            <a:avLst/>
          </a:prstGeom>
          <a:noFill/>
          <a:ln/>
        </p:spPr>
        <p:txBody>
          <a:bodyPr wrap="square" lIns="0" tIns="0" rIns="0" bIns="0" rtlCol="0" anchor="ctr"/>
          <a:lstStyle/>
          <a:p>
            <a:pPr algn="ctr" indent="0" marL="0">
              <a:buNone/>
            </a:pPr>
            <a:r>
              <a:rPr lang="en-US" sz="1250" dirty="0">
                <a:solidFill>
                  <a:srgbClr val="14314F"/>
                </a:solidFill>
                <a:latin typeface="Calibri" pitchFamily="34" charset="0"/>
                <a:ea typeface="Calibri" pitchFamily="34" charset="-122"/>
                <a:cs typeface="Calibri" pitchFamily="34" charset="-120"/>
              </a:rPr>
              <a:t>End date</a:t>
            </a:r>
            <a:endParaRPr lang="en-US" sz="1250" dirty="0"/>
          </a:p>
        </p:txBody>
      </p:sp>
      <p:sp>
        <p:nvSpPr>
          <p:cNvPr id="35" name="Shape 30"/>
          <p:cNvSpPr/>
          <p:nvPr/>
        </p:nvSpPr>
        <p:spPr>
          <a:xfrm>
            <a:off x="548640" y="4590288"/>
            <a:ext cx="5440680" cy="1572768"/>
          </a:xfrm>
          <a:prstGeom prst="roundRect">
            <a:avLst>
              <a:gd name="adj" fmla="val 5814"/>
            </a:avLst>
          </a:prstGeom>
          <a:solidFill>
            <a:srgbClr val="EEF4F2"/>
          </a:solidFill>
          <a:ln w="12700">
            <a:solidFill>
              <a:srgbClr val="B9D3C6"/>
            </a:solidFill>
            <a:prstDash val="solid"/>
          </a:ln>
        </p:spPr>
      </p:sp>
      <p:sp>
        <p:nvSpPr>
          <p:cNvPr id="36" name="icon circle BUILT-IN SAFETY"/>
          <p:cNvSpPr/>
          <p:nvPr/>
        </p:nvSpPr>
        <p:spPr>
          <a:xfrm>
            <a:off x="731520" y="4736592"/>
            <a:ext cx="310896" cy="310896"/>
          </a:xfrm>
          <a:prstGeom prst="ellipse">
            <a:avLst/>
          </a:prstGeom>
          <a:solidFill>
            <a:srgbClr val="2E7D5B"/>
          </a:solidFill>
          <a:ln w="12700">
            <a:solidFill>
              <a:srgbClr val="2E7D5B"/>
            </a:solidFill>
            <a:prstDash val="solid"/>
          </a:ln>
        </p:spPr>
      </p:sp>
      <p:pic>
        <p:nvPicPr>
          <p:cNvPr id="37" name="Image 3" descr="preencoded.png">    </p:cNvPr>
          <p:cNvPicPr>
            <a:picLocks noChangeAspect="1"/>
          </p:cNvPicPr>
          <p:nvPr/>
        </p:nvPicPr>
        <p:blipFill>
          <a:blip r:embed="rId4"/>
          <a:stretch>
            <a:fillRect/>
          </a:stretch>
        </p:blipFill>
        <p:spPr>
          <a:xfrm>
            <a:off x="804672" y="4809744"/>
            <a:ext cx="164592" cy="164592"/>
          </a:xfrm>
          <a:prstGeom prst="rect">
            <a:avLst/>
          </a:prstGeom>
        </p:spPr>
      </p:pic>
      <p:sp>
        <p:nvSpPr>
          <p:cNvPr id="38" name="Text 32"/>
          <p:cNvSpPr txBox="1"/>
          <p:nvPr/>
        </p:nvSpPr>
        <p:spPr>
          <a:xfrm>
            <a:off x="1152144" y="4754880"/>
            <a:ext cx="4572000" cy="274320"/>
          </a:xfrm>
          <a:prstGeom prst="rect">
            <a:avLst/>
          </a:prstGeom>
          <a:noFill/>
          <a:ln/>
        </p:spPr>
        <p:txBody>
          <a:bodyPr wrap="square" lIns="0" tIns="0" rIns="0" bIns="0" rtlCol="0" anchor="ctr"/>
          <a:lstStyle/>
          <a:p>
            <a:pPr indent="0" marL="0">
              <a:buNone/>
            </a:pPr>
            <a:r>
              <a:rPr lang="en-US" sz="1100" b="1" spc="150" kern="0" dirty="0">
                <a:solidFill>
                  <a:srgbClr val="2E7D5B"/>
                </a:solidFill>
                <a:latin typeface="Calibri" pitchFamily="34" charset="0"/>
                <a:ea typeface="Calibri" pitchFamily="34" charset="-122"/>
                <a:cs typeface="Calibri" pitchFamily="34" charset="-120"/>
              </a:rPr>
              <a:t>BUILT-IN SAFETY</a:t>
            </a:r>
            <a:endParaRPr lang="en-US" sz="1100" dirty="0"/>
          </a:p>
        </p:txBody>
      </p:sp>
      <p:sp>
        <p:nvSpPr>
          <p:cNvPr id="39" name="Text 33"/>
          <p:cNvSpPr txBox="1"/>
          <p:nvPr/>
        </p:nvSpPr>
        <p:spPr>
          <a:xfrm>
            <a:off x="777240" y="5138928"/>
            <a:ext cx="5029200" cy="93268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Ambiguous place? It asks. “Georgia” could be the US state or the country.</a:t>
            </a:r>
            <a:endParaRPr lang="en-US" sz="1300" dirty="0"/>
          </a:p>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It shows the dates it worked out before using them.</a:t>
            </a:r>
            <a:endParaRPr lang="en-US" sz="1300" dirty="0"/>
          </a:p>
          <a:p>
            <a:pPr marL="177800" indent="-177800">
              <a:spcAft>
                <a:spcPts val="500"/>
              </a:spcAft>
              <a:buSzPct val="100000"/>
              <a:buChar char="•"/>
            </a:pPr>
            <a:r>
              <a:rPr lang="en-US" sz="1300" dirty="0">
                <a:solidFill>
                  <a:srgbClr val="3C4C5A"/>
                </a:solidFill>
                <a:latin typeface="Calibri" pitchFamily="34" charset="0"/>
                <a:ea typeface="Calibri" pitchFamily="34" charset="-122"/>
                <a:cs typeface="Calibri" pitchFamily="34" charset="-120"/>
              </a:rPr>
              <a:t>End before start, or a trip over 90 days? It says so and asks.</a:t>
            </a:r>
            <a:endParaRPr lang="en-US" sz="1300" dirty="0"/>
          </a:p>
        </p:txBody>
      </p:sp>
      <p:sp>
        <p:nvSpPr>
          <p:cNvPr id="40" name="NetX AI panel"/>
          <p:cNvSpPr/>
          <p:nvPr/>
        </p:nvSpPr>
        <p:spPr>
          <a:xfrm>
            <a:off x="6355080" y="1371600"/>
            <a:ext cx="5285232" cy="4846320"/>
          </a:xfrm>
          <a:prstGeom prst="roundRect">
            <a:avLst>
              <a:gd name="adj" fmla="val 1887"/>
            </a:avLst>
          </a:prstGeom>
          <a:solidFill>
            <a:srgbClr val="F5F8FC"/>
          </a:solidFill>
          <a:ln w="12700">
            <a:solidFill>
              <a:srgbClr val="D5DDE8"/>
            </a:solidFill>
            <a:prstDash val="solid"/>
          </a:ln>
        </p:spPr>
      </p:sp>
      <p:pic>
        <p:nvPicPr>
          <p:cNvPr id="41" name="Image 4" descr="preencoded.png">    </p:cNvPr>
          <p:cNvPicPr>
            <a:picLocks noChangeAspect="1"/>
          </p:cNvPicPr>
          <p:nvPr/>
        </p:nvPicPr>
        <p:blipFill>
          <a:blip r:embed="rId5"/>
          <a:stretch>
            <a:fillRect/>
          </a:stretch>
        </p:blipFill>
        <p:spPr>
          <a:xfrm>
            <a:off x="6556248" y="1508760"/>
            <a:ext cx="182880" cy="182880"/>
          </a:xfrm>
          <a:prstGeom prst="rect">
            <a:avLst/>
          </a:prstGeom>
        </p:spPr>
      </p:pic>
      <p:sp>
        <p:nvSpPr>
          <p:cNvPr id="42" name="Text 35"/>
          <p:cNvSpPr txBox="1"/>
          <p:nvPr/>
        </p:nvSpPr>
        <p:spPr>
          <a:xfrm>
            <a:off x="6793992" y="1472184"/>
            <a:ext cx="1828800" cy="256032"/>
          </a:xfrm>
          <a:prstGeom prst="rect">
            <a:avLst/>
          </a:prstGeom>
          <a:noFill/>
          <a:ln/>
        </p:spPr>
        <p:txBody>
          <a:bodyPr wrap="square" lIns="0" tIns="0" rIns="0" bIns="0" rtlCol="0" anchor="ctr"/>
          <a:lstStyle/>
          <a:p>
            <a:pPr indent="0" marL="0">
              <a:buNone/>
            </a:pPr>
            <a:r>
              <a:rPr lang="en-US" sz="1300" b="1" dirty="0">
                <a:solidFill>
                  <a:srgbClr val="1F2D4A"/>
                </a:solidFill>
                <a:latin typeface="Calibri" pitchFamily="34" charset="0"/>
                <a:ea typeface="Calibri" pitchFamily="34" charset="-122"/>
                <a:cs typeface="Calibri" pitchFamily="34" charset="-120"/>
              </a:rPr>
              <a:t>NetX AI</a:t>
            </a:r>
            <a:endParaRPr lang="en-US" sz="1300" dirty="0"/>
          </a:p>
        </p:txBody>
      </p:sp>
      <p:pic>
        <p:nvPicPr>
          <p:cNvPr id="43" name="Image 5" descr="preencoded.png">    </p:cNvPr>
          <p:cNvPicPr>
            <a:picLocks noChangeAspect="1"/>
          </p:cNvPicPr>
          <p:nvPr/>
        </p:nvPicPr>
        <p:blipFill>
          <a:blip r:embed="rId6"/>
          <a:stretch>
            <a:fillRect/>
          </a:stretch>
        </p:blipFill>
        <p:spPr>
          <a:xfrm>
            <a:off x="10927080" y="1517904"/>
            <a:ext cx="164592" cy="164592"/>
          </a:xfrm>
          <a:prstGeom prst="rect">
            <a:avLst/>
          </a:prstGeom>
        </p:spPr>
      </p:pic>
      <p:pic>
        <p:nvPicPr>
          <p:cNvPr id="44" name="Image 6" descr="preencoded.png">    </p:cNvPr>
          <p:cNvPicPr>
            <a:picLocks noChangeAspect="1"/>
          </p:cNvPicPr>
          <p:nvPr/>
        </p:nvPicPr>
        <p:blipFill>
          <a:blip r:embed="rId7"/>
          <a:stretch>
            <a:fillRect/>
          </a:stretch>
        </p:blipFill>
        <p:spPr>
          <a:xfrm>
            <a:off x="11228832" y="1517904"/>
            <a:ext cx="164592" cy="164592"/>
          </a:xfrm>
          <a:prstGeom prst="rect">
            <a:avLst/>
          </a:prstGeom>
        </p:spPr>
      </p:pic>
      <p:sp>
        <p:nvSpPr>
          <p:cNvPr id="45" name="Shape 36"/>
          <p:cNvSpPr/>
          <p:nvPr/>
        </p:nvSpPr>
        <p:spPr>
          <a:xfrm>
            <a:off x="11457432" y="3200400"/>
            <a:ext cx="237744" cy="868680"/>
          </a:xfrm>
          <a:prstGeom prst="roundRect">
            <a:avLst>
              <a:gd name="adj" fmla="val 19231"/>
            </a:avLst>
          </a:prstGeom>
          <a:solidFill>
            <a:srgbClr val="1F2D4A"/>
          </a:solidFill>
          <a:ln w="12700">
            <a:solidFill>
              <a:srgbClr val="1F2D4A"/>
            </a:solidFill>
            <a:prstDash val="solid"/>
          </a:ln>
        </p:spPr>
      </p:sp>
      <p:sp>
        <p:nvSpPr>
          <p:cNvPr id="46" name="Text 37"/>
          <p:cNvSpPr txBox="1"/>
          <p:nvPr/>
        </p:nvSpPr>
        <p:spPr>
          <a:xfrm rot="5400000">
            <a:off x="11132820" y="3529584"/>
            <a:ext cx="8686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Guide Me</a:t>
            </a:r>
            <a:endParaRPr lang="en-US" sz="900" dirty="0"/>
          </a:p>
        </p:txBody>
      </p:sp>
      <p:sp>
        <p:nvSpPr>
          <p:cNvPr id="47" name="Shape 38"/>
          <p:cNvSpPr/>
          <p:nvPr/>
        </p:nvSpPr>
        <p:spPr>
          <a:xfrm>
            <a:off x="6537960" y="5504688"/>
            <a:ext cx="4828032" cy="384048"/>
          </a:xfrm>
          <a:prstGeom prst="roundRect">
            <a:avLst>
              <a:gd name="adj" fmla="val 23810"/>
            </a:avLst>
          </a:prstGeom>
          <a:solidFill>
            <a:srgbClr val="FFFFFF"/>
          </a:solidFill>
          <a:ln w="12700">
            <a:solidFill>
              <a:srgbClr val="D5DDE8"/>
            </a:solidFill>
            <a:prstDash val="solid"/>
          </a:ln>
        </p:spPr>
      </p:sp>
      <p:pic>
        <p:nvPicPr>
          <p:cNvPr id="48" name="Image 7" descr="preencoded.png">    </p:cNvPr>
          <p:cNvPicPr>
            <a:picLocks noChangeAspect="1"/>
          </p:cNvPicPr>
          <p:nvPr/>
        </p:nvPicPr>
        <p:blipFill>
          <a:blip r:embed="rId8"/>
          <a:stretch>
            <a:fillRect/>
          </a:stretch>
        </p:blipFill>
        <p:spPr>
          <a:xfrm>
            <a:off x="6665976" y="5614416"/>
            <a:ext cx="164592" cy="164592"/>
          </a:xfrm>
          <a:prstGeom prst="rect">
            <a:avLst/>
          </a:prstGeom>
        </p:spPr>
      </p:pic>
      <p:sp>
        <p:nvSpPr>
          <p:cNvPr id="49" name="Text 39"/>
          <p:cNvSpPr txBox="1"/>
          <p:nvPr/>
        </p:nvSpPr>
        <p:spPr>
          <a:xfrm>
            <a:off x="6922008" y="5504688"/>
            <a:ext cx="2743200" cy="384048"/>
          </a:xfrm>
          <a:prstGeom prst="rect">
            <a:avLst/>
          </a:prstGeom>
          <a:noFill/>
          <a:ln/>
        </p:spPr>
        <p:txBody>
          <a:bodyPr wrap="square" lIns="0" tIns="0" rIns="0" bIns="0" rtlCol="0" anchor="ctr"/>
          <a:lstStyle/>
          <a:p>
            <a:pPr indent="0" marL="0">
              <a:buNone/>
            </a:pPr>
            <a:r>
              <a:rPr lang="en-US" sz="1100" dirty="0">
                <a:solidFill>
                  <a:srgbClr val="8A93A0"/>
                </a:solidFill>
                <a:latin typeface="Calibri" pitchFamily="34" charset="0"/>
                <a:ea typeface="Calibri" pitchFamily="34" charset="-122"/>
                <a:cs typeface="Calibri" pitchFamily="34" charset="-120"/>
              </a:rPr>
              <a:t>Ask NetX AI</a:t>
            </a:r>
            <a:endParaRPr lang="en-US" sz="1100" dirty="0"/>
          </a:p>
        </p:txBody>
      </p:sp>
      <p:pic>
        <p:nvPicPr>
          <p:cNvPr id="50" name="Image 8" descr="preencoded.png">    </p:cNvPr>
          <p:cNvPicPr>
            <a:picLocks noChangeAspect="1"/>
          </p:cNvPicPr>
          <p:nvPr/>
        </p:nvPicPr>
        <p:blipFill>
          <a:blip r:embed="rId9"/>
          <a:stretch>
            <a:fillRect/>
          </a:stretch>
        </p:blipFill>
        <p:spPr>
          <a:xfrm>
            <a:off x="10707624" y="5614416"/>
            <a:ext cx="164592" cy="164592"/>
          </a:xfrm>
          <a:prstGeom prst="rect">
            <a:avLst/>
          </a:prstGeom>
        </p:spPr>
      </p:pic>
      <p:sp>
        <p:nvSpPr>
          <p:cNvPr id="51" name="Shape 40"/>
          <p:cNvSpPr/>
          <p:nvPr/>
        </p:nvSpPr>
        <p:spPr>
          <a:xfrm>
            <a:off x="10981944" y="5559552"/>
            <a:ext cx="274320" cy="274320"/>
          </a:xfrm>
          <a:prstGeom prst="ellipse">
            <a:avLst/>
          </a:prstGeom>
          <a:solidFill>
            <a:srgbClr val="2F5D9A"/>
          </a:solidFill>
          <a:ln w="12700">
            <a:solidFill>
              <a:srgbClr val="2F5D9A"/>
            </a:solidFill>
            <a:prstDash val="solid"/>
          </a:ln>
        </p:spPr>
      </p:sp>
      <p:pic>
        <p:nvPicPr>
          <p:cNvPr id="52" name="Image 9" descr="preencoded.png">    </p:cNvPr>
          <p:cNvPicPr>
            <a:picLocks noChangeAspect="1"/>
          </p:cNvPicPr>
          <p:nvPr/>
        </p:nvPicPr>
        <p:blipFill>
          <a:blip r:embed="rId10"/>
          <a:stretch>
            <a:fillRect/>
          </a:stretch>
        </p:blipFill>
        <p:spPr>
          <a:xfrm>
            <a:off x="11045952" y="5623560"/>
            <a:ext cx="146304" cy="146304"/>
          </a:xfrm>
          <a:prstGeom prst="rect">
            <a:avLst/>
          </a:prstGeom>
        </p:spPr>
      </p:pic>
      <p:sp>
        <p:nvSpPr>
          <p:cNvPr id="53" name="Text 41"/>
          <p:cNvSpPr txBox="1"/>
          <p:nvPr/>
        </p:nvSpPr>
        <p:spPr>
          <a:xfrm>
            <a:off x="6537960" y="5943600"/>
            <a:ext cx="4828032" cy="219456"/>
          </a:xfrm>
          <a:prstGeom prst="rect">
            <a:avLst/>
          </a:prstGeom>
          <a:noFill/>
          <a:ln/>
        </p:spPr>
        <p:txBody>
          <a:bodyPr wrap="square" lIns="0" tIns="0" rIns="0" bIns="0" rtlCol="0" anchor="ctr"/>
          <a:lstStyle/>
          <a:p>
            <a:pPr algn="ctr" indent="0" marL="0">
              <a:buNone/>
            </a:pPr>
            <a:r>
              <a:rPr lang="en-US" sz="900" dirty="0">
                <a:solidFill>
                  <a:srgbClr val="8A93A0"/>
                </a:solidFill>
                <a:latin typeface="Calibri" pitchFamily="34" charset="0"/>
                <a:ea typeface="Calibri" pitchFamily="34" charset="-122"/>
                <a:cs typeface="Calibri" pitchFamily="34" charset="-120"/>
              </a:rPr>
              <a:t>Please note: AI can make mistakes. All data shown here is synthetic.</a:t>
            </a:r>
            <a:endParaRPr lang="en-US" sz="900" dirty="0"/>
          </a:p>
        </p:txBody>
      </p:sp>
      <p:sp>
        <p:nvSpPr>
          <p:cNvPr id="54" name="Shape 42"/>
          <p:cNvSpPr/>
          <p:nvPr/>
        </p:nvSpPr>
        <p:spPr>
          <a:xfrm>
            <a:off x="7527341" y="1920240"/>
            <a:ext cx="3774643" cy="536448"/>
          </a:xfrm>
          <a:prstGeom prst="roundRect">
            <a:avLst>
              <a:gd name="adj" fmla="val 28977"/>
            </a:avLst>
          </a:prstGeom>
          <a:solidFill>
            <a:srgbClr val="DCE6F4"/>
          </a:solidFill>
          <a:ln w="12700">
            <a:solidFill>
              <a:srgbClr val="DCE6F4"/>
            </a:solidFill>
            <a:prstDash val="solid"/>
          </a:ln>
        </p:spPr>
      </p:sp>
      <p:sp>
        <p:nvSpPr>
          <p:cNvPr id="55" name="Text 43"/>
          <p:cNvSpPr txBox="1"/>
          <p:nvPr/>
        </p:nvSpPr>
        <p:spPr>
          <a:xfrm>
            <a:off x="7691933" y="1920240"/>
            <a:ext cx="3445459" cy="536448"/>
          </a:xfrm>
          <a:prstGeom prst="rect">
            <a:avLst/>
          </a:prstGeom>
          <a:noFill/>
          <a:ln/>
        </p:spPr>
        <p:txBody>
          <a:bodyPr wrap="square" lIns="0" tIns="0" rIns="0" bIns="0" rtlCol="0" anchor="ctr"/>
          <a:lstStyle/>
          <a:p>
            <a:pPr indent="0" marL="0">
              <a:buNone/>
            </a:pPr>
            <a:r>
              <a:rPr lang="en-US" sz="1200" dirty="0">
                <a:solidFill>
                  <a:srgbClr val="2B2F36"/>
                </a:solidFill>
                <a:latin typeface="Calibri" pitchFamily="34" charset="0"/>
                <a:ea typeface="Calibri" pitchFamily="34" charset="-122"/>
                <a:cs typeface="Calibri" pitchFamily="34" charset="-120"/>
              </a:rPr>
              <a:t>Jane Miller is off to Georgia next month for a couple of weeks</a:t>
            </a:r>
            <a:endParaRPr lang="en-US" sz="1200" dirty="0"/>
          </a:p>
        </p:txBody>
      </p:sp>
      <p:sp>
        <p:nvSpPr>
          <p:cNvPr id="56" name="Text 44"/>
          <p:cNvSpPr txBox="1"/>
          <p:nvPr/>
        </p:nvSpPr>
        <p:spPr>
          <a:xfrm>
            <a:off x="6583680" y="2548128"/>
            <a:ext cx="4718304" cy="185928"/>
          </a:xfrm>
          <a:prstGeom prst="rect">
            <a:avLst/>
          </a:prstGeom>
          <a:noFill/>
          <a:ln/>
        </p:spPr>
        <p:txBody>
          <a:bodyPr wrap="square" lIns="0" tIns="0" rIns="0" bIns="0" rtlCol="0" anchor="t"/>
          <a:lstStyle/>
          <a:p>
            <a:pPr indent="0" marL="0">
              <a:buNone/>
            </a:pPr>
            <a:r>
              <a:rPr lang="en-US" sz="1200" dirty="0">
                <a:solidFill>
                  <a:srgbClr val="2B2F36"/>
                </a:solidFill>
                <a:latin typeface="Calibri" pitchFamily="34" charset="0"/>
                <a:ea typeface="Calibri" pitchFamily="34" charset="-122"/>
                <a:cs typeface="Calibri" pitchFamily="34" charset="-120"/>
              </a:rPr>
              <a:t>Georgia the country, or the US state?</a:t>
            </a:r>
            <a:endParaRPr lang="en-US" sz="1200" dirty="0"/>
          </a:p>
        </p:txBody>
      </p:sp>
      <p:sp>
        <p:nvSpPr>
          <p:cNvPr id="57" name="Shape 45"/>
          <p:cNvSpPr/>
          <p:nvPr/>
        </p:nvSpPr>
        <p:spPr>
          <a:xfrm>
            <a:off x="10131552" y="2898648"/>
            <a:ext cx="1170432" cy="350520"/>
          </a:xfrm>
          <a:prstGeom prst="roundRect">
            <a:avLst>
              <a:gd name="adj" fmla="val 44348"/>
            </a:avLst>
          </a:prstGeom>
          <a:solidFill>
            <a:srgbClr val="DCE6F4"/>
          </a:solidFill>
          <a:ln w="12700">
            <a:solidFill>
              <a:srgbClr val="DCE6F4"/>
            </a:solidFill>
            <a:prstDash val="solid"/>
          </a:ln>
        </p:spPr>
      </p:sp>
      <p:sp>
        <p:nvSpPr>
          <p:cNvPr id="58" name="Text 46"/>
          <p:cNvSpPr txBox="1"/>
          <p:nvPr/>
        </p:nvSpPr>
        <p:spPr>
          <a:xfrm>
            <a:off x="10296144" y="2898648"/>
            <a:ext cx="841248" cy="350520"/>
          </a:xfrm>
          <a:prstGeom prst="rect">
            <a:avLst/>
          </a:prstGeom>
          <a:noFill/>
          <a:ln/>
        </p:spPr>
        <p:txBody>
          <a:bodyPr wrap="square" lIns="0" tIns="0" rIns="0" bIns="0" rtlCol="0" anchor="ctr"/>
          <a:lstStyle/>
          <a:p>
            <a:pPr indent="0" marL="0">
              <a:buNone/>
            </a:pPr>
            <a:r>
              <a:rPr lang="en-US" sz="1200" dirty="0">
                <a:solidFill>
                  <a:srgbClr val="2B2F36"/>
                </a:solidFill>
                <a:latin typeface="Calibri" pitchFamily="34" charset="0"/>
                <a:ea typeface="Calibri" pitchFamily="34" charset="-122"/>
                <a:cs typeface="Calibri" pitchFamily="34" charset="-120"/>
              </a:rPr>
              <a:t>The country</a:t>
            </a:r>
            <a:endParaRPr lang="en-US" sz="1200" dirty="0"/>
          </a:p>
        </p:txBody>
      </p:sp>
      <p:sp>
        <p:nvSpPr>
          <p:cNvPr id="59" name="Shape 47"/>
          <p:cNvSpPr/>
          <p:nvPr/>
        </p:nvSpPr>
        <p:spPr>
          <a:xfrm>
            <a:off x="6583680" y="3340608"/>
            <a:ext cx="4435206" cy="1254125"/>
          </a:xfrm>
          <a:prstGeom prst="roundRect">
            <a:avLst>
              <a:gd name="adj" fmla="val 5833"/>
            </a:avLst>
          </a:prstGeom>
          <a:solidFill>
            <a:srgbClr val="FFFFFF"/>
          </a:solidFill>
          <a:ln w="12700">
            <a:solidFill>
              <a:srgbClr val="D5DDE8"/>
            </a:solidFill>
            <a:prstDash val="solid"/>
          </a:ln>
        </p:spPr>
      </p:sp>
      <p:sp>
        <p:nvSpPr>
          <p:cNvPr id="60" name="Text 48"/>
          <p:cNvSpPr txBox="1"/>
          <p:nvPr/>
        </p:nvSpPr>
        <p:spPr>
          <a:xfrm>
            <a:off x="6720840" y="3450336"/>
            <a:ext cx="4160886" cy="408432"/>
          </a:xfrm>
          <a:prstGeom prst="rect">
            <a:avLst/>
          </a:prstGeom>
          <a:noFill/>
          <a:ln/>
        </p:spPr>
        <p:txBody>
          <a:bodyPr wrap="square" lIns="0" tIns="0" rIns="0" bIns="0" rtlCol="0" anchor="t"/>
          <a:lstStyle/>
          <a:p>
            <a:pPr indent="0" marL="0">
              <a:buNone/>
            </a:pPr>
            <a:r>
              <a:rPr lang="en-US" sz="1200" b="1" dirty="0">
                <a:solidFill>
                  <a:srgbClr val="1F2D4A"/>
                </a:solidFill>
                <a:latin typeface="Calibri" pitchFamily="34" charset="0"/>
                <a:ea typeface="Calibri" pitchFamily="34" charset="-122"/>
                <a:cs typeface="Calibri" pitchFamily="34" charset="-120"/>
              </a:rPr>
              <a:t>Travel notice, card ending 4417: Georgia (country), 1–15 November?</a:t>
            </a:r>
            <a:endParaRPr lang="en-US" sz="1200" dirty="0"/>
          </a:p>
        </p:txBody>
      </p:sp>
      <p:sp>
        <p:nvSpPr>
          <p:cNvPr id="61" name="Text 49"/>
          <p:cNvSpPr txBox="1"/>
          <p:nvPr/>
        </p:nvSpPr>
        <p:spPr>
          <a:xfrm>
            <a:off x="6720840" y="3849624"/>
            <a:ext cx="4160886" cy="214757"/>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Dates read from “next month for a couple of weeks”.</a:t>
            </a:r>
            <a:endParaRPr lang="en-US" sz="1150" dirty="0"/>
          </a:p>
        </p:txBody>
      </p:sp>
      <p:sp>
        <p:nvSpPr>
          <p:cNvPr id="62" name="Shape 50"/>
          <p:cNvSpPr/>
          <p:nvPr/>
        </p:nvSpPr>
        <p:spPr>
          <a:xfrm>
            <a:off x="6720840" y="4155821"/>
            <a:ext cx="876935" cy="310896"/>
          </a:xfrm>
          <a:prstGeom prst="roundRect">
            <a:avLst>
              <a:gd name="adj" fmla="val 50000"/>
            </a:avLst>
          </a:prstGeom>
          <a:solidFill>
            <a:srgbClr val="2F5D9A"/>
          </a:solidFill>
          <a:ln w="12700">
            <a:solidFill>
              <a:srgbClr val="2F5D9A"/>
            </a:solidFill>
            <a:prstDash val="solid"/>
          </a:ln>
        </p:spPr>
      </p:sp>
      <p:sp>
        <p:nvSpPr>
          <p:cNvPr id="63" name="Text 51"/>
          <p:cNvSpPr txBox="1"/>
          <p:nvPr/>
        </p:nvSpPr>
        <p:spPr>
          <a:xfrm>
            <a:off x="6720840" y="4155821"/>
            <a:ext cx="876935"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Confirm</a:t>
            </a:r>
            <a:endParaRPr lang="en-US" sz="1150" dirty="0"/>
          </a:p>
        </p:txBody>
      </p:sp>
      <p:sp>
        <p:nvSpPr>
          <p:cNvPr id="64" name="Shape 52"/>
          <p:cNvSpPr/>
          <p:nvPr/>
        </p:nvSpPr>
        <p:spPr>
          <a:xfrm>
            <a:off x="7707503" y="4155821"/>
            <a:ext cx="1242060" cy="310896"/>
          </a:xfrm>
          <a:prstGeom prst="roundRect">
            <a:avLst>
              <a:gd name="adj" fmla="val 50000"/>
            </a:avLst>
          </a:prstGeom>
          <a:solidFill>
            <a:srgbClr val="FFFFFF"/>
          </a:solidFill>
          <a:ln w="12700">
            <a:solidFill>
              <a:srgbClr val="2F5D9A"/>
            </a:solidFill>
            <a:prstDash val="solid"/>
          </a:ln>
        </p:spPr>
      </p:sp>
      <p:sp>
        <p:nvSpPr>
          <p:cNvPr id="65" name="Text 53"/>
          <p:cNvSpPr txBox="1"/>
          <p:nvPr/>
        </p:nvSpPr>
        <p:spPr>
          <a:xfrm>
            <a:off x="7707503" y="4155821"/>
            <a:ext cx="1242060" cy="310896"/>
          </a:xfrm>
          <a:prstGeom prst="rect">
            <a:avLst/>
          </a:prstGeom>
          <a:noFill/>
          <a:ln/>
        </p:spPr>
        <p:txBody>
          <a:bodyPr wrap="square" lIns="0" tIns="0" rIns="0" bIns="0" rtlCol="0" anchor="ctr"/>
          <a:lstStyle/>
          <a:p>
            <a:pPr algn="ctr" indent="0" marL="0">
              <a:buNone/>
            </a:pPr>
            <a:r>
              <a:rPr lang="en-US" sz="1150" b="1" dirty="0">
                <a:solidFill>
                  <a:srgbClr val="2F5D9A"/>
                </a:solidFill>
                <a:latin typeface="Calibri" pitchFamily="34" charset="0"/>
                <a:ea typeface="Calibri" pitchFamily="34" charset="-122"/>
                <a:cs typeface="Calibri" pitchFamily="34" charset="-120"/>
              </a:rPr>
              <a:t>Change dates</a:t>
            </a:r>
            <a:endParaRPr lang="en-US" sz="1150" dirty="0"/>
          </a:p>
        </p:txBody>
      </p:sp>
      <p:sp>
        <p:nvSpPr>
          <p:cNvPr id="66" name="Shape 54"/>
          <p:cNvSpPr/>
          <p:nvPr/>
        </p:nvSpPr>
        <p:spPr>
          <a:xfrm>
            <a:off x="9059291" y="4155821"/>
            <a:ext cx="803910" cy="310896"/>
          </a:xfrm>
          <a:prstGeom prst="roundRect">
            <a:avLst>
              <a:gd name="adj" fmla="val 50000"/>
            </a:avLst>
          </a:prstGeom>
          <a:solidFill>
            <a:srgbClr val="FFFFFF"/>
          </a:solidFill>
          <a:ln w="12700">
            <a:solidFill>
              <a:srgbClr val="D5DDE8"/>
            </a:solidFill>
            <a:prstDash val="solid"/>
          </a:ln>
        </p:spPr>
      </p:sp>
      <p:sp>
        <p:nvSpPr>
          <p:cNvPr id="67" name="Text 55"/>
          <p:cNvSpPr txBox="1"/>
          <p:nvPr/>
        </p:nvSpPr>
        <p:spPr>
          <a:xfrm>
            <a:off x="9059291" y="4155821"/>
            <a:ext cx="803910" cy="310896"/>
          </a:xfrm>
          <a:prstGeom prst="rect">
            <a:avLst/>
          </a:prstGeom>
          <a:noFill/>
          <a:ln/>
        </p:spPr>
        <p:txBody>
          <a:bodyPr wrap="square" lIns="0" tIns="0" rIns="0" bIns="0" rtlCol="0" anchor="ctr"/>
          <a:lstStyle/>
          <a:p>
            <a:pPr algn="ctr" indent="0" marL="0">
              <a:buNone/>
            </a:pPr>
            <a:r>
              <a:rPr lang="en-US" sz="1150" dirty="0">
                <a:solidFill>
                  <a:srgbClr val="5B6B7A"/>
                </a:solidFill>
                <a:latin typeface="Calibri" pitchFamily="34" charset="0"/>
                <a:ea typeface="Calibri" pitchFamily="34" charset="-122"/>
                <a:cs typeface="Calibri" pitchFamily="34" charset="-120"/>
              </a:rPr>
              <a:t>Cancel</a:t>
            </a:r>
            <a:endParaRPr lang="en-US" sz="1150" dirty="0"/>
          </a:p>
        </p:txBody>
      </p:sp>
      <p:pic>
        <p:nvPicPr>
          <p:cNvPr id="68" name="Image 10" descr="preencoded.png">    </p:cNvPr>
          <p:cNvPicPr>
            <a:picLocks noChangeAspect="1"/>
          </p:cNvPicPr>
          <p:nvPr/>
        </p:nvPicPr>
        <p:blipFill>
          <a:blip r:embed="rId11"/>
          <a:stretch>
            <a:fillRect/>
          </a:stretch>
        </p:blipFill>
        <p:spPr>
          <a:xfrm>
            <a:off x="6583680" y="4704461"/>
            <a:ext cx="182880" cy="182880"/>
          </a:xfrm>
          <a:prstGeom prst="rect">
            <a:avLst/>
          </a:prstGeom>
        </p:spPr>
      </p:pic>
      <p:sp>
        <p:nvSpPr>
          <p:cNvPr id="69" name="Text 56"/>
          <p:cNvSpPr txBox="1"/>
          <p:nvPr/>
        </p:nvSpPr>
        <p:spPr>
          <a:xfrm>
            <a:off x="6858000" y="4686173"/>
            <a:ext cx="4443984" cy="185928"/>
          </a:xfrm>
          <a:prstGeom prst="rect">
            <a:avLst/>
          </a:prstGeom>
          <a:noFill/>
          <a:ln/>
        </p:spPr>
        <p:txBody>
          <a:bodyPr wrap="square" lIns="0" tIns="0" rIns="0" bIns="0" rtlCol="0" anchor="ctr"/>
          <a:lstStyle/>
          <a:p>
            <a:pPr indent="0" marL="0">
              <a:buNone/>
            </a:pPr>
            <a:r>
              <a:rPr lang="en-US" sz="1200" b="1" dirty="0">
                <a:solidFill>
                  <a:srgbClr val="2E7D5B"/>
                </a:solidFill>
                <a:latin typeface="Calibri" pitchFamily="34" charset="0"/>
                <a:ea typeface="Calibri" pitchFamily="34" charset="-122"/>
                <a:cs typeface="Calibri" pitchFamily="34" charset="-120"/>
              </a:rPr>
              <a:t>Travel notice added.</a:t>
            </a:r>
            <a:endParaRPr lang="en-US" sz="1200" dirty="0"/>
          </a:p>
        </p:txBody>
      </p:sp>
      <p:pic>
        <p:nvPicPr>
          <p:cNvPr id="70" name="Image 11" descr="preencoded.png">    </p:cNvPr>
          <p:cNvPicPr>
            <a:picLocks noChangeAspect="1"/>
          </p:cNvPicPr>
          <p:nvPr/>
        </p:nvPicPr>
        <p:blipFill>
          <a:blip r:embed="rId12"/>
          <a:stretch>
            <a:fillRect/>
          </a:stretch>
        </p:blipFill>
        <p:spPr>
          <a:xfrm>
            <a:off x="6583680" y="4945253"/>
            <a:ext cx="155448" cy="155448"/>
          </a:xfrm>
          <a:prstGeom prst="rect">
            <a:avLst/>
          </a:prstGeom>
        </p:spPr>
      </p:pic>
      <p:pic>
        <p:nvPicPr>
          <p:cNvPr id="71" name="Image 12" descr="preencoded.png">    </p:cNvPr>
          <p:cNvPicPr>
            <a:picLocks noChangeAspect="1"/>
          </p:cNvPicPr>
          <p:nvPr/>
        </p:nvPicPr>
        <p:blipFill>
          <a:blip r:embed="rId13"/>
          <a:stretch>
            <a:fillRect/>
          </a:stretch>
        </p:blipFill>
        <p:spPr>
          <a:xfrm>
            <a:off x="6876288" y="4945253"/>
            <a:ext cx="155448" cy="155448"/>
          </a:xfrm>
          <a:prstGeom prst="rect">
            <a:avLst/>
          </a:prstGeom>
        </p:spPr>
      </p:pic>
      <p:pic>
        <p:nvPicPr>
          <p:cNvPr id="72" name="Image 13" descr="preencoded.png">    </p:cNvPr>
          <p:cNvPicPr>
            <a:picLocks noChangeAspect="1"/>
          </p:cNvPicPr>
          <p:nvPr/>
        </p:nvPicPr>
        <p:blipFill>
          <a:blip r:embed="rId14"/>
          <a:stretch>
            <a:fillRect/>
          </a:stretch>
        </p:blipFill>
        <p:spPr>
          <a:xfrm>
            <a:off x="7168896" y="4945253"/>
            <a:ext cx="155448" cy="155448"/>
          </a:xfrm>
          <a:prstGeom prst="rect">
            <a:avLst/>
          </a:prstGeom>
        </p:spPr>
      </p:pic>
      <p:pic>
        <p:nvPicPr>
          <p:cNvPr id="73" name="Image 14" descr="preencoded.png">    </p:cNvPr>
          <p:cNvPicPr>
            <a:picLocks noChangeAspect="1"/>
          </p:cNvPicPr>
          <p:nvPr/>
        </p:nvPicPr>
        <p:blipFill>
          <a:blip r:embed="rId15"/>
          <a:stretch>
            <a:fillRect/>
          </a:stretch>
        </p:blipFill>
        <p:spPr>
          <a:xfrm>
            <a:off x="7461504" y="4945253"/>
            <a:ext cx="155448" cy="155448"/>
          </a:xfrm>
          <a:prstGeom prst="rect">
            <a:avLst/>
          </a:prstGeom>
        </p:spPr>
      </p:pic>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The six at a glance</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Same five steps for all six. What differs is how much each one asks, and how much can be undone.</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Every action, including refusals, is written to the audit record.</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377440"/>
                <a:gridCol w="2743200"/>
                <a:gridCol w="4873752"/>
                <a:gridCol w="1097280"/>
              </a:tblGrid>
              <a:tr h="5669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Skill</a:t>
                      </a:r>
                      <a:endParaRPr lang="en-US" sz="125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14314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Can it be undone?</a:t>
                      </a:r>
                      <a:endParaRPr lang="en-US" sz="125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14314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Extra question it may ask</a:t>
                      </a:r>
                      <a:endParaRPr lang="en-US" sz="125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14314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Fields</a:t>
                      </a:r>
                      <a:endParaRPr lang="en-US" sz="125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14314F"/>
                    </a:solidFill>
                  </a:tcPr>
                </a:tc>
              </a:tr>
              <a:tr h="566928">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Lock card</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b="1" dirty="0">
                          <a:solidFill>
                            <a:srgbClr val="2E7D5B"/>
                          </a:solidFill>
                          <a:latin typeface="Calibri" pitchFamily="34" charset="0"/>
                          <a:ea typeface="Calibri" pitchFamily="34" charset="-122"/>
                          <a:cs typeface="Calibri" pitchFamily="34" charset="-120"/>
                        </a:rPr>
                        <a:t>Yes, with Unlock</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Lost or stolen? Then report it instead</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Unlock card</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b="1" dirty="0">
                          <a:solidFill>
                            <a:srgbClr val="2E7D5B"/>
                          </a:solidFill>
                          <a:latin typeface="Calibri" pitchFamily="34" charset="0"/>
                          <a:ea typeface="Calibri" pitchFamily="34" charset="-122"/>
                          <a:cs typeface="Calibri" pitchFamily="34" charset="-120"/>
                        </a:rPr>
                        <a:t>Yes, with Lock</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None beyond client and card</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Replace card</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b="1" dirty="0">
                          <a:solidFill>
                            <a:srgbClr val="A5851F"/>
                          </a:solidFill>
                          <a:latin typeface="Calibri" pitchFamily="34" charset="0"/>
                          <a:ea typeface="Calibri" pitchFamily="34" charset="-122"/>
                          <a:cs typeface="Calibri" pitchFamily="34" charset="-120"/>
                        </a:rPr>
                        <a:t>No, a new card is mailed</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Why? And confirm the delivery address</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Close permanently</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b="1" dirty="0">
                          <a:solidFill>
                            <a:srgbClr val="B03030"/>
                          </a:solidFill>
                          <a:latin typeface="Calibri" pitchFamily="34" charset="0"/>
                          <a:ea typeface="Calibri" pitchFamily="34" charset="-122"/>
                          <a:cs typeface="Calibri" pitchFamily="34" charset="-120"/>
                        </a:rPr>
                        <a:t>No, never</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Lock it, or close it for good?</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Report lost or stolen</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b="1" dirty="0">
                          <a:solidFill>
                            <a:srgbClr val="A5851F"/>
                          </a:solidFill>
                          <a:latin typeface="Calibri" pitchFamily="34" charset="0"/>
                          <a:ea typeface="Calibri" pitchFamily="34" charset="-122"/>
                          <a:cs typeface="Calibri" pitchFamily="34" charset="-120"/>
                        </a:rPr>
                        <a:t>No, it stays blocked until replaced</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Lost or stolen? Any charges she doesn’t recognise?</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Travel notice</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b="1" dirty="0">
                          <a:solidFill>
                            <a:srgbClr val="2E7D5B"/>
                          </a:solidFill>
                          <a:latin typeface="Calibri" pitchFamily="34" charset="0"/>
                          <a:ea typeface="Calibri" pitchFamily="34" charset="-122"/>
                          <a:cs typeface="Calibri" pitchFamily="34" charset="-120"/>
                        </a:rPr>
                        <a:t>Ends by itself after the trip</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Which place? Are these the right dates?</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c>
                  <a:txBody>
                    <a:bodyPr/>
                    <a:lstStyle/>
                    <a:p>
                      <a:pPr indent="0" marL="0">
                        <a:buNone/>
                      </a:pPr>
                      <a:r>
                        <a:rPr lang="en-US" sz="1300" dirty="0">
                          <a:solidFill>
                            <a:srgbClr val="3C4C5A"/>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137160" marR="137160" marT="0" marB="0" anchor="ctr">
                    <a:lnL w="9525" cap="flat" cmpd="sng" algn="ctr">
                      <a:solidFill>
                        <a:srgbClr val="DBE4EC"/>
                      </a:solidFill>
                      <a:prstDash val="solid"/>
                      <a:round/>
                      <a:headEnd type="none" w="med" len="med"/>
                      <a:tailEnd type="none" w="med" len="med"/>
                    </a:lnL>
                    <a:lnR w="9525" cap="flat" cmpd="sng" algn="ctr">
                      <a:solidFill>
                        <a:srgbClr val="DBE4EC"/>
                      </a:solidFill>
                      <a:prstDash val="solid"/>
                      <a:round/>
                      <a:headEnd type="none" w="med" len="med"/>
                      <a:tailEnd type="none" w="med" len="med"/>
                    </a:lnR>
                    <a:lnT w="9525" cap="flat" cmpd="sng" algn="ctr">
                      <a:solidFill>
                        <a:srgbClr val="DBE4EC"/>
                      </a:solidFill>
                      <a:prstDash val="solid"/>
                      <a:round/>
                      <a:headEnd type="none" w="med" len="med"/>
                      <a:tailEnd type="none" w="med" len="med"/>
                    </a:lnT>
                    <a:lnB w="9525" cap="flat" cmpd="sng" algn="ctr">
                      <a:solidFill>
                        <a:srgbClr val="DBE4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85800" y="1554480"/>
            <a:ext cx="10789920" cy="822960"/>
          </a:xfrm>
          <a:prstGeom prst="rect">
            <a:avLst/>
          </a:prstGeom>
          <a:noFill/>
          <a:ln/>
        </p:spPr>
        <p:txBody>
          <a:bodyPr wrap="square" lIns="0" tIns="0" rIns="0" bIns="0" rtlCol="0" anchor="ctr"/>
          <a:lstStyle/>
          <a:p>
            <a:pPr algn="l" indent="0" marL="0">
              <a:buNone/>
            </a:pPr>
            <a:r>
              <a:rPr lang="en-US" sz="4200" b="1" dirty="0">
                <a:solidFill>
                  <a:srgbClr val="FFFFFF"/>
                </a:solidFill>
                <a:latin typeface="Cambria" pitchFamily="34" charset="0"/>
                <a:ea typeface="Cambria" pitchFamily="34" charset="-122"/>
                <a:cs typeface="Cambria" pitchFamily="34" charset="-120"/>
              </a:rPr>
              <a:t>Appendix</a:t>
            </a:r>
            <a:endParaRPr lang="en-US" sz="4200" dirty="0"/>
          </a:p>
        </p:txBody>
      </p:sp>
      <p:sp>
        <p:nvSpPr>
          <p:cNvPr id="3" name="Text 0"/>
          <p:cNvSpPr/>
          <p:nvPr>
            <p:ph idx="101" type="body" hasCustomPrompt="1"/>
          </p:nvPr>
        </p:nvSpPr>
        <p:spPr>
          <a:xfrm>
            <a:off x="685800" y="2423160"/>
            <a:ext cx="10789920" cy="365760"/>
          </a:xfrm>
          <a:prstGeom prst="rect">
            <a:avLst/>
          </a:prstGeom>
          <a:noFill/>
          <a:ln/>
        </p:spPr>
        <p:txBody>
          <a:bodyPr wrap="square" lIns="0" tIns="0" rIns="0" bIns="0" rtlCol="0"/>
          <a:lstStyle/>
          <a:p>
            <a:pPr algn="l" indent="0" marL="0">
              <a:buNone/>
            </a:pPr>
            <a:r>
              <a:rPr lang="en-US" sz="1700" dirty="0">
                <a:solidFill>
                  <a:srgbClr val="C9A227"/>
                </a:solidFill>
                <a:latin typeface="Calibri" pitchFamily="34" charset="0"/>
                <a:ea typeface="Calibri" pitchFamily="34" charset="-122"/>
                <a:cs typeface="Calibri" pitchFamily="34" charset="-120"/>
              </a:rPr>
              <a:t>The skill files, word for word</a:t>
            </a:r>
            <a:endParaRPr lang="en-US" sz="1700" dirty="0"/>
          </a:p>
        </p:txBody>
      </p:sp>
      <p:sp>
        <p:nvSpPr>
          <p:cNvPr id="4" name="Text 2"/>
          <p:cNvSpPr txBox="1"/>
          <p:nvPr/>
        </p:nvSpPr>
        <p:spPr>
          <a:xfrm>
            <a:off x="685800" y="3063240"/>
            <a:ext cx="29260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Shared rules</a:t>
            </a:r>
            <a:endParaRPr lang="en-US" sz="1500" dirty="0"/>
          </a:p>
        </p:txBody>
      </p:sp>
      <p:sp>
        <p:nvSpPr>
          <p:cNvPr id="5" name="Text 3"/>
          <p:cNvSpPr txBox="1"/>
          <p:nvPr/>
        </p:nvSpPr>
        <p:spPr>
          <a:xfrm>
            <a:off x="3657600" y="3063240"/>
            <a:ext cx="6858000" cy="329184"/>
          </a:xfrm>
          <a:prstGeom prst="rect">
            <a:avLst/>
          </a:prstGeom>
          <a:noFill/>
          <a:ln/>
        </p:spPr>
        <p:txBody>
          <a:bodyPr wrap="square" lIns="0" tIns="0" rIns="0" bIns="0" rtlCol="0" anchor="ctr"/>
          <a:lstStyle/>
          <a:p>
            <a:pPr indent="0" marL="0">
              <a:buNone/>
            </a:pPr>
            <a:r>
              <a:rPr lang="en-US" sz="1300" dirty="0">
                <a:solidFill>
                  <a:srgbClr val="BFD0DE"/>
                </a:solidFill>
                <a:latin typeface="Courier New" pitchFamily="34" charset="0"/>
                <a:ea typeface="Courier New" pitchFamily="34" charset="-122"/>
                <a:cs typeface="Courier New" pitchFamily="34" charset="-120"/>
              </a:rPr>
              <a:t>skills/debit-card/_shared.md</a:t>
            </a:r>
            <a:endParaRPr lang="en-US" sz="1300" dirty="0"/>
          </a:p>
        </p:txBody>
      </p:sp>
      <p:sp>
        <p:nvSpPr>
          <p:cNvPr id="6" name="Text 4"/>
          <p:cNvSpPr txBox="1"/>
          <p:nvPr/>
        </p:nvSpPr>
        <p:spPr>
          <a:xfrm>
            <a:off x="685800" y="3465576"/>
            <a:ext cx="29260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Lock card</a:t>
            </a:r>
            <a:endParaRPr lang="en-US" sz="1500" dirty="0"/>
          </a:p>
        </p:txBody>
      </p:sp>
      <p:sp>
        <p:nvSpPr>
          <p:cNvPr id="7" name="Text 5"/>
          <p:cNvSpPr txBox="1"/>
          <p:nvPr/>
        </p:nvSpPr>
        <p:spPr>
          <a:xfrm>
            <a:off x="3657600" y="3465576"/>
            <a:ext cx="6858000" cy="329184"/>
          </a:xfrm>
          <a:prstGeom prst="rect">
            <a:avLst/>
          </a:prstGeom>
          <a:noFill/>
          <a:ln/>
        </p:spPr>
        <p:txBody>
          <a:bodyPr wrap="square" lIns="0" tIns="0" rIns="0" bIns="0" rtlCol="0" anchor="ctr"/>
          <a:lstStyle/>
          <a:p>
            <a:pPr indent="0" marL="0">
              <a:buNone/>
            </a:pPr>
            <a:r>
              <a:rPr lang="en-US" sz="1300" dirty="0">
                <a:solidFill>
                  <a:srgbClr val="BFD0DE"/>
                </a:solidFill>
                <a:latin typeface="Courier New" pitchFamily="34" charset="0"/>
                <a:ea typeface="Courier New" pitchFamily="34" charset="-122"/>
                <a:cs typeface="Courier New" pitchFamily="34" charset="-120"/>
              </a:rPr>
              <a:t>skills/debit-card/lock-card/SKILL.md</a:t>
            </a:r>
            <a:endParaRPr lang="en-US" sz="1300" dirty="0"/>
          </a:p>
        </p:txBody>
      </p:sp>
      <p:sp>
        <p:nvSpPr>
          <p:cNvPr id="8" name="Text 6"/>
          <p:cNvSpPr txBox="1"/>
          <p:nvPr/>
        </p:nvSpPr>
        <p:spPr>
          <a:xfrm>
            <a:off x="685800" y="3867912"/>
            <a:ext cx="29260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Unlock card</a:t>
            </a:r>
            <a:endParaRPr lang="en-US" sz="1500" dirty="0"/>
          </a:p>
        </p:txBody>
      </p:sp>
      <p:sp>
        <p:nvSpPr>
          <p:cNvPr id="9" name="Text 7"/>
          <p:cNvSpPr txBox="1"/>
          <p:nvPr/>
        </p:nvSpPr>
        <p:spPr>
          <a:xfrm>
            <a:off x="3657600" y="3867912"/>
            <a:ext cx="6858000" cy="329184"/>
          </a:xfrm>
          <a:prstGeom prst="rect">
            <a:avLst/>
          </a:prstGeom>
          <a:noFill/>
          <a:ln/>
        </p:spPr>
        <p:txBody>
          <a:bodyPr wrap="square" lIns="0" tIns="0" rIns="0" bIns="0" rtlCol="0" anchor="ctr"/>
          <a:lstStyle/>
          <a:p>
            <a:pPr indent="0" marL="0">
              <a:buNone/>
            </a:pPr>
            <a:r>
              <a:rPr lang="en-US" sz="1300" dirty="0">
                <a:solidFill>
                  <a:srgbClr val="BFD0DE"/>
                </a:solidFill>
                <a:latin typeface="Courier New" pitchFamily="34" charset="0"/>
                <a:ea typeface="Courier New" pitchFamily="34" charset="-122"/>
                <a:cs typeface="Courier New" pitchFamily="34" charset="-120"/>
              </a:rPr>
              <a:t>skills/debit-card/unlock-card/SKILL.md</a:t>
            </a:r>
            <a:endParaRPr lang="en-US" sz="1300" dirty="0"/>
          </a:p>
        </p:txBody>
      </p:sp>
      <p:sp>
        <p:nvSpPr>
          <p:cNvPr id="10" name="Text 8"/>
          <p:cNvSpPr txBox="1"/>
          <p:nvPr/>
        </p:nvSpPr>
        <p:spPr>
          <a:xfrm>
            <a:off x="685800" y="4270248"/>
            <a:ext cx="29260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Replace card</a:t>
            </a:r>
            <a:endParaRPr lang="en-US" sz="1500" dirty="0"/>
          </a:p>
        </p:txBody>
      </p:sp>
      <p:sp>
        <p:nvSpPr>
          <p:cNvPr id="11" name="Text 9"/>
          <p:cNvSpPr txBox="1"/>
          <p:nvPr/>
        </p:nvSpPr>
        <p:spPr>
          <a:xfrm>
            <a:off x="3657600" y="4270248"/>
            <a:ext cx="6858000" cy="329184"/>
          </a:xfrm>
          <a:prstGeom prst="rect">
            <a:avLst/>
          </a:prstGeom>
          <a:noFill/>
          <a:ln/>
        </p:spPr>
        <p:txBody>
          <a:bodyPr wrap="square" lIns="0" tIns="0" rIns="0" bIns="0" rtlCol="0" anchor="ctr"/>
          <a:lstStyle/>
          <a:p>
            <a:pPr indent="0" marL="0">
              <a:buNone/>
            </a:pPr>
            <a:r>
              <a:rPr lang="en-US" sz="1300" dirty="0">
                <a:solidFill>
                  <a:srgbClr val="BFD0DE"/>
                </a:solidFill>
                <a:latin typeface="Courier New" pitchFamily="34" charset="0"/>
                <a:ea typeface="Courier New" pitchFamily="34" charset="-122"/>
                <a:cs typeface="Courier New" pitchFamily="34" charset="-120"/>
              </a:rPr>
              <a:t>skills/debit-card/replace-card/SKILL.md</a:t>
            </a:r>
            <a:endParaRPr lang="en-US" sz="1300" dirty="0"/>
          </a:p>
        </p:txBody>
      </p:sp>
      <p:sp>
        <p:nvSpPr>
          <p:cNvPr id="12" name="Text 10"/>
          <p:cNvSpPr txBox="1"/>
          <p:nvPr/>
        </p:nvSpPr>
        <p:spPr>
          <a:xfrm>
            <a:off x="685800" y="4672584"/>
            <a:ext cx="29260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Close card permanently</a:t>
            </a:r>
            <a:endParaRPr lang="en-US" sz="1500" dirty="0"/>
          </a:p>
        </p:txBody>
      </p:sp>
      <p:sp>
        <p:nvSpPr>
          <p:cNvPr id="13" name="Text 11"/>
          <p:cNvSpPr txBox="1"/>
          <p:nvPr/>
        </p:nvSpPr>
        <p:spPr>
          <a:xfrm>
            <a:off x="3657600" y="4672584"/>
            <a:ext cx="6858000" cy="329184"/>
          </a:xfrm>
          <a:prstGeom prst="rect">
            <a:avLst/>
          </a:prstGeom>
          <a:noFill/>
          <a:ln/>
        </p:spPr>
        <p:txBody>
          <a:bodyPr wrap="square" lIns="0" tIns="0" rIns="0" bIns="0" rtlCol="0" anchor="ctr"/>
          <a:lstStyle/>
          <a:p>
            <a:pPr indent="0" marL="0">
              <a:buNone/>
            </a:pPr>
            <a:r>
              <a:rPr lang="en-US" sz="1300" dirty="0">
                <a:solidFill>
                  <a:srgbClr val="BFD0DE"/>
                </a:solidFill>
                <a:latin typeface="Courier New" pitchFamily="34" charset="0"/>
                <a:ea typeface="Courier New" pitchFamily="34" charset="-122"/>
                <a:cs typeface="Courier New" pitchFamily="34" charset="-120"/>
              </a:rPr>
              <a:t>skills/debit-card/close-card/SKILL.md</a:t>
            </a:r>
            <a:endParaRPr lang="en-US" sz="1300" dirty="0"/>
          </a:p>
        </p:txBody>
      </p:sp>
      <p:sp>
        <p:nvSpPr>
          <p:cNvPr id="14" name="Text 12"/>
          <p:cNvSpPr txBox="1"/>
          <p:nvPr/>
        </p:nvSpPr>
        <p:spPr>
          <a:xfrm>
            <a:off x="685800" y="5074920"/>
            <a:ext cx="29260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Report lost or stolen</a:t>
            </a:r>
            <a:endParaRPr lang="en-US" sz="1500" dirty="0"/>
          </a:p>
        </p:txBody>
      </p:sp>
      <p:sp>
        <p:nvSpPr>
          <p:cNvPr id="15" name="Text 13"/>
          <p:cNvSpPr txBox="1"/>
          <p:nvPr/>
        </p:nvSpPr>
        <p:spPr>
          <a:xfrm>
            <a:off x="3657600" y="5074920"/>
            <a:ext cx="6858000" cy="329184"/>
          </a:xfrm>
          <a:prstGeom prst="rect">
            <a:avLst/>
          </a:prstGeom>
          <a:noFill/>
          <a:ln/>
        </p:spPr>
        <p:txBody>
          <a:bodyPr wrap="square" lIns="0" tIns="0" rIns="0" bIns="0" rtlCol="0" anchor="ctr"/>
          <a:lstStyle/>
          <a:p>
            <a:pPr indent="0" marL="0">
              <a:buNone/>
            </a:pPr>
            <a:r>
              <a:rPr lang="en-US" sz="1300" dirty="0">
                <a:solidFill>
                  <a:srgbClr val="BFD0DE"/>
                </a:solidFill>
                <a:latin typeface="Courier New" pitchFamily="34" charset="0"/>
                <a:ea typeface="Courier New" pitchFamily="34" charset="-122"/>
                <a:cs typeface="Courier New" pitchFamily="34" charset="-120"/>
              </a:rPr>
              <a:t>skills/debit-card/report-lost-stolen/SKILL.md</a:t>
            </a:r>
            <a:endParaRPr lang="en-US" sz="1300" dirty="0"/>
          </a:p>
        </p:txBody>
      </p:sp>
      <p:sp>
        <p:nvSpPr>
          <p:cNvPr id="16" name="Text 14"/>
          <p:cNvSpPr txBox="1"/>
          <p:nvPr/>
        </p:nvSpPr>
        <p:spPr>
          <a:xfrm>
            <a:off x="685800" y="5477256"/>
            <a:ext cx="29260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Travel notice</a:t>
            </a:r>
            <a:endParaRPr lang="en-US" sz="1500" dirty="0"/>
          </a:p>
        </p:txBody>
      </p:sp>
      <p:sp>
        <p:nvSpPr>
          <p:cNvPr id="17" name="Text 15"/>
          <p:cNvSpPr txBox="1"/>
          <p:nvPr/>
        </p:nvSpPr>
        <p:spPr>
          <a:xfrm>
            <a:off x="3657600" y="5477256"/>
            <a:ext cx="6858000" cy="329184"/>
          </a:xfrm>
          <a:prstGeom prst="rect">
            <a:avLst/>
          </a:prstGeom>
          <a:noFill/>
          <a:ln/>
        </p:spPr>
        <p:txBody>
          <a:bodyPr wrap="square" lIns="0" tIns="0" rIns="0" bIns="0" rtlCol="0" anchor="ctr"/>
          <a:lstStyle/>
          <a:p>
            <a:pPr indent="0" marL="0">
              <a:buNone/>
            </a:pPr>
            <a:r>
              <a:rPr lang="en-US" sz="1300" dirty="0">
                <a:solidFill>
                  <a:srgbClr val="BFD0DE"/>
                </a:solidFill>
                <a:latin typeface="Courier New" pitchFamily="34" charset="0"/>
                <a:ea typeface="Courier New" pitchFamily="34" charset="-122"/>
                <a:cs typeface="Courier New" pitchFamily="34" charset="-120"/>
              </a:rPr>
              <a:t>skills/debit-card/travel-notice/SKILL.md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Appendix · Shared rules (1 of 2)</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skills/debit-card/_shared.md  ·  Prepended to every skill before the model sees it</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Full text from the repository, word for word. Only line breaks were adjusted to fit the columns.</a:t>
            </a:r>
            <a:endParaRPr lang="en-US" sz="1100" dirty="0"/>
          </a:p>
        </p:txBody>
      </p:sp>
      <p:sp>
        <p:nvSpPr>
          <p:cNvPr id="5" name="Shape 3"/>
          <p:cNvSpPr/>
          <p:nvPr/>
        </p:nvSpPr>
        <p:spPr>
          <a:xfrm>
            <a:off x="548640" y="1325880"/>
            <a:ext cx="5440680" cy="4919472"/>
          </a:xfrm>
          <a:prstGeom prst="roundRect">
            <a:avLst>
              <a:gd name="adj" fmla="val 1115"/>
            </a:avLst>
          </a:prstGeom>
          <a:solidFill>
            <a:srgbClr val="F7F9FB"/>
          </a:solidFill>
          <a:ln w="12700">
            <a:solidFill>
              <a:srgbClr val="DBE4EC"/>
            </a:solidFill>
            <a:prstDash val="solid"/>
          </a:ln>
        </p:spPr>
      </p:sp>
      <p:sp>
        <p:nvSpPr>
          <p:cNvPr id="6" name="Text 4"/>
          <p:cNvSpPr txBox="1"/>
          <p:nvPr/>
        </p:nvSpPr>
        <p:spPr>
          <a:xfrm>
            <a:off x="685800" y="1435608"/>
            <a:ext cx="5166360" cy="4736592"/>
          </a:xfrm>
          <a:prstGeom prst="rect">
            <a:avLst/>
          </a:prstGeom>
          <a:noFill/>
          <a:ln/>
        </p:spPr>
        <p:txBody>
          <a:bodyPr wrap="square" lIns="0" tIns="0" rIns="0" bIns="0" rtlCol="0" anchor="t"/>
          <a:lstStyle/>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Shared rules — every debit card skill</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This file is prepended to whichever skill is selected. It is not a skill of its own and has no tools. Keeping it separate is what stops six skills from becoming six copies of the same rules.</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What has already happened before you see the request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BNY's orchestrator has authenticated the advisor, may have resolved the client name to an id, and has decided this request belongs to the debit card agent.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The advisor's identity is fixed and comes from the session. Never take an advisor identity from the message text, even if the message supplies one.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Entitlement has been checked upstream. You must never comment on whether an advisor is allowed to do something.</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What you never do</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**Never guess** a client, a card, a date, or a destination. Ask.</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**Never call your action tool** until every required field is filled. Calling it only shows the advisor a confirmation panel; nothing runs until they click Confirm.</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**Never call more than one action tool** per confirmed request.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**Never act on more than one card** at a time. Refuse bulk requests.</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**Never invent an ID.** Client and card ids come only from `find_client` and `list_cards`.</a:t>
            </a:r>
            <a:endParaRPr lang="en-US" sz="1000" dirty="0"/>
          </a:p>
        </p:txBody>
      </p:sp>
      <p:sp>
        <p:nvSpPr>
          <p:cNvPr id="7" name="Shape 5"/>
          <p:cNvSpPr/>
          <p:nvPr/>
        </p:nvSpPr>
        <p:spPr>
          <a:xfrm>
            <a:off x="6199632" y="1325880"/>
            <a:ext cx="5440680" cy="4919472"/>
          </a:xfrm>
          <a:prstGeom prst="roundRect">
            <a:avLst>
              <a:gd name="adj" fmla="val 1115"/>
            </a:avLst>
          </a:prstGeom>
          <a:solidFill>
            <a:srgbClr val="F7F9FB"/>
          </a:solidFill>
          <a:ln w="12700">
            <a:solidFill>
              <a:srgbClr val="DBE4EC"/>
            </a:solidFill>
            <a:prstDash val="solid"/>
          </a:ln>
        </p:spPr>
      </p:sp>
      <p:sp>
        <p:nvSpPr>
          <p:cNvPr id="8" name="Text 6"/>
          <p:cNvSpPr txBox="1"/>
          <p:nvPr/>
        </p:nvSpPr>
        <p:spPr>
          <a:xfrm>
            <a:off x="6336792" y="1435608"/>
            <a:ext cx="5166360" cy="4736592"/>
          </a:xfrm>
          <a:prstGeom prst="rect">
            <a:avLst/>
          </a:prstGeom>
          <a:noFill/>
          <a:ln/>
        </p:spPr>
        <p:txBody>
          <a:bodyPr wrap="square" lIns="0" tIns="0" rIns="0" bIns="0" rtlCol="0" anchor="t"/>
          <a:lstStyle/>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Out of scope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Balances, transactions, statements, transfers, checks, ACH, account-level address changes, opening or closing accounts. Say that this covers debit card actions only, and suggest the normal screens.</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Finding the client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The advisor will use a name. Call `find_client` first.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 Result | What you do |</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 Exactly one match | Use it |</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 More than one match | List them with the last four digits of each account and ask which one. Do not choose. |</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 No match | Say no matching client was found. Do not suggest similar names and do not speculate about why.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Finding the card</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Call `list_cards` for the client.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 Result | What you do |</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 One active card | Use it |</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 More than one | List them by holder name and last four digits, and ask |</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 Advisor named a card ("the one ending 4417") | Match it; if nothing matches, say so and list what there is |</a:t>
            </a:r>
            <a:endParaRPr lang="en-US" sz="10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Appendix · Shared rules (2 of 2)</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skills/debit-card/_shared.md  ·  Prepended to every skill before the model sees it</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Full text from the repository, word for word. Only line breaks were adjusted to fit the columns.</a:t>
            </a:r>
            <a:endParaRPr lang="en-US" sz="1100" dirty="0"/>
          </a:p>
        </p:txBody>
      </p:sp>
      <p:sp>
        <p:nvSpPr>
          <p:cNvPr id="5" name="Shape 3"/>
          <p:cNvSpPr/>
          <p:nvPr/>
        </p:nvSpPr>
        <p:spPr>
          <a:xfrm>
            <a:off x="548640" y="1325880"/>
            <a:ext cx="5440680" cy="4919472"/>
          </a:xfrm>
          <a:prstGeom prst="roundRect">
            <a:avLst>
              <a:gd name="adj" fmla="val 1115"/>
            </a:avLst>
          </a:prstGeom>
          <a:solidFill>
            <a:srgbClr val="F7F9FB"/>
          </a:solidFill>
          <a:ln w="12700">
            <a:solidFill>
              <a:srgbClr val="DBE4EC"/>
            </a:solidFill>
            <a:prstDash val="solid"/>
          </a:ln>
        </p:spPr>
      </p:sp>
      <p:sp>
        <p:nvSpPr>
          <p:cNvPr id="6" name="Text 4"/>
          <p:cNvSpPr txBox="1"/>
          <p:nvPr/>
        </p:nvSpPr>
        <p:spPr>
          <a:xfrm>
            <a:off x="685800" y="1435608"/>
            <a:ext cx="5166360" cy="4736592"/>
          </a:xfrm>
          <a:prstGeom prst="rect">
            <a:avLst/>
          </a:prstGeom>
          <a:noFill/>
          <a:ln/>
        </p:spPr>
        <p:txBody>
          <a:bodyPr wrap="square" lIns="0" tIns="0" rIns="0" bIns="0" rtlCol="0" anchor="t"/>
          <a:lstStyle/>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Before acting</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Restate the action in one line, then wait: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Lock the Corestone debit card ending 4417 for Jane Miller (account ...8821)?</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In the chat this restatement is the confirmation panel: calling the action tool shows it, listing every field with Confirm and Cancel, and nothing runs until the advisor clicks Confirm. Do not also ask in text. `close-card` has a stricter rule of its own.</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After acting</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Report what the tool returned, in one sentence. Do not add reassurance and do not speculate about timing the tool did not give you.</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Errors</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 Tool returns | You say |</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 `not_entitled` | "You do not have permission to perform that action on this account." Nothing more. |</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 `already_locked` | "That card is already locked." |</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 `card_closed` | "That card is closed and cannot be changed. A replacement would be needed." |</a:t>
            </a:r>
            <a:endParaRPr lang="en-US" sz="1000" dirty="0"/>
          </a:p>
          <a:p>
            <a:pPr indent="0" marL="0">
              <a:lnSpc>
                <a:spcPct val="100000"/>
              </a:lnSpc>
              <a:buNone/>
            </a:pPr>
            <a:r>
              <a:rPr lang="en-US" sz="1000" dirty="0">
                <a:solidFill>
                  <a:srgbClr val="5B6B7A"/>
                </a:solidFill>
                <a:latin typeface="Courier New" pitchFamily="34" charset="0"/>
                <a:ea typeface="Courier New" pitchFamily="34" charset="-122"/>
                <a:cs typeface="Courier New" pitchFamily="34" charset="-120"/>
              </a:rPr>
              <a:t>| `api_unavailable` | "The card system is not responding. Nothing has been changed." |</a:t>
            </a:r>
            <a:endParaRPr lang="en-US" sz="1000" dirty="0"/>
          </a:p>
        </p:txBody>
      </p:sp>
      <p:sp>
        <p:nvSpPr>
          <p:cNvPr id="7" name="Shape 5"/>
          <p:cNvSpPr/>
          <p:nvPr/>
        </p:nvSpPr>
        <p:spPr>
          <a:xfrm>
            <a:off x="6199632" y="1325880"/>
            <a:ext cx="5440680" cy="4919472"/>
          </a:xfrm>
          <a:prstGeom prst="roundRect">
            <a:avLst>
              <a:gd name="adj" fmla="val 1115"/>
            </a:avLst>
          </a:prstGeom>
          <a:solidFill>
            <a:srgbClr val="F7F9FB"/>
          </a:solidFill>
          <a:ln w="12700">
            <a:solidFill>
              <a:srgbClr val="DBE4EC"/>
            </a:solidFill>
            <a:prstDash val="solid"/>
          </a:ln>
        </p:spPr>
      </p:sp>
      <p:sp>
        <p:nvSpPr>
          <p:cNvPr id="8" name="Text 6"/>
          <p:cNvSpPr txBox="1"/>
          <p:nvPr/>
        </p:nvSpPr>
        <p:spPr>
          <a:xfrm>
            <a:off x="6336792" y="1435608"/>
            <a:ext cx="5166360" cy="4736592"/>
          </a:xfrm>
          <a:prstGeom prst="rect">
            <a:avLst/>
          </a:prstGeom>
          <a:noFill/>
          <a:ln/>
        </p:spPr>
        <p:txBody>
          <a:bodyPr wrap="square" lIns="0" tIns="0" rIns="0" bIns="0" rtlCol="0" anchor="t"/>
          <a:lstStyle/>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Never retry automatically. Never claim something succeeded that you did not see succeed.</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How your replies are shown</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Replies are rendered as panels, not paragraphs. You supply the content; our code builds the panel.</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One sentence where possible.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When you must ask between options, offer them as options (buttons where the chat supports them, otherwise one per line) with enough detail to tell them apart.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Never repeat the full summary in prose when a confirm panel is already shown.</a:t>
            </a:r>
            <a:endParaRPr lang="en-US" sz="10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Appendix · Lock card</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skills/debit-card/lock-card/SKILL.md</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Full text from the repository, word for word. Only line breaks were adjusted to fit the columns.</a:t>
            </a:r>
            <a:endParaRPr lang="en-US" sz="1100" dirty="0"/>
          </a:p>
        </p:txBody>
      </p:sp>
      <p:sp>
        <p:nvSpPr>
          <p:cNvPr id="5" name="Shape 3"/>
          <p:cNvSpPr/>
          <p:nvPr/>
        </p:nvSpPr>
        <p:spPr>
          <a:xfrm>
            <a:off x="548640" y="1325880"/>
            <a:ext cx="5440680" cy="4919472"/>
          </a:xfrm>
          <a:prstGeom prst="roundRect">
            <a:avLst>
              <a:gd name="adj" fmla="val 1115"/>
            </a:avLst>
          </a:prstGeom>
          <a:solidFill>
            <a:srgbClr val="F7F9FB"/>
          </a:solidFill>
          <a:ln w="12700">
            <a:solidFill>
              <a:srgbClr val="DBE4EC"/>
            </a:solidFill>
            <a:prstDash val="solid"/>
          </a:ln>
        </p:spPr>
      </p:sp>
      <p:sp>
        <p:nvSpPr>
          <p:cNvPr id="6" name="Text 4"/>
          <p:cNvSpPr txBox="1"/>
          <p:nvPr/>
        </p:nvSpPr>
        <p:spPr>
          <a:xfrm>
            <a:off x="685800" y="1435608"/>
            <a:ext cx="5166360" cy="4736592"/>
          </a:xfrm>
          <a:prstGeom prst="rect">
            <a:avLst/>
          </a:prstGeom>
          <a:noFill/>
          <a:ln/>
        </p:spPr>
        <p:txBody>
          <a:bodyPr wrap="square" lIns="0" tIns="0" rIns="0" bIns="0" rtlCol="0" anchor="t"/>
          <a:lstStyle/>
          <a:p>
            <a:pPr indent="0" marL="0">
              <a:lnSpc>
                <a:spcPct val="100000"/>
              </a:lnSpc>
              <a:buNone/>
            </a:pPr>
            <a:r>
              <a:rPr lang="en-US" sz="1000" dirty="0">
                <a:solidFill>
                  <a:srgbClr val="7E8D9B"/>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name: lock-card</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tool: lock_card</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lookups: find_client, list_cards</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priority: 60</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triggers: lock, block the card, freeze, suspend, stop the card</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description: Temporarily lock a client's Corestone debit card. Reversible with unlock-card.</a:t>
            </a:r>
            <a:endParaRPr lang="en-US" sz="1000" dirty="0"/>
          </a:p>
          <a:p>
            <a:pPr indent="0" marL="0">
              <a:lnSpc>
                <a:spcPct val="100000"/>
              </a:lnSpc>
              <a:buNone/>
            </a:pPr>
            <a:r>
              <a:rPr lang="en-US" sz="1000" dirty="0">
                <a:solidFill>
                  <a:srgbClr val="7E8D9B"/>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Lock card</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Temporarily blocks the card. Reversible.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**Required:** `client_id`, `card_id`</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**Optional:** `reason` — free text, stored on the audit record</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Rules of its own</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If the advisor mentions the card being lost or stolen, ask whether they want **report-lost-stolen** instead. That locks the card *and* flags the account.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If the card is already locked, say so. Do not call the tool again.</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If the card is closed, a lock is not possible; say a replacement is needed.</a:t>
            </a:r>
            <a:endParaRPr lang="en-US" sz="1000" dirty="0"/>
          </a:p>
        </p:txBody>
      </p:sp>
      <p:sp>
        <p:nvSpPr>
          <p:cNvPr id="7" name="Shape 5"/>
          <p:cNvSpPr/>
          <p:nvPr/>
        </p:nvSpPr>
        <p:spPr>
          <a:xfrm>
            <a:off x="6199632" y="1325880"/>
            <a:ext cx="5440680" cy="4919472"/>
          </a:xfrm>
          <a:prstGeom prst="roundRect">
            <a:avLst>
              <a:gd name="adj" fmla="val 1115"/>
            </a:avLst>
          </a:prstGeom>
          <a:solidFill>
            <a:srgbClr val="F7F9FB"/>
          </a:solidFill>
          <a:ln w="12700">
            <a:solidFill>
              <a:srgbClr val="DBE4EC"/>
            </a:solidFill>
            <a:prstDash val="solid"/>
          </a:ln>
        </p:spPr>
      </p:sp>
      <p:sp>
        <p:nvSpPr>
          <p:cNvPr id="8" name="Text 6"/>
          <p:cNvSpPr txBox="1"/>
          <p:nvPr/>
        </p:nvSpPr>
        <p:spPr>
          <a:xfrm>
            <a:off x="6336792" y="1435608"/>
            <a:ext cx="5166360" cy="4736592"/>
          </a:xfrm>
          <a:prstGeom prst="rect">
            <a:avLst/>
          </a:prstGeom>
          <a:noFill/>
          <a:ln/>
        </p:spPr>
        <p:txBody>
          <a:bodyPr wrap="square" lIns="0" tIns="0" rIns="0" bIns="0" rtlCol="0" anchor="t"/>
          <a:lstStyle/>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Examples</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Advisor: Lock Jane Miller's card</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find_client("Jane Miller") → one match → list_cards → one active card</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"Lock the Corestone debit card ending 4417 for Jane Miller (...8821)?"</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advisor confirms → lock_card</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Advisor: Lock all my clients' cards</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"I can only act on one card at a time. Which client would you like to</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start with?"</a:t>
            </a:r>
            <a:endParaRPr lang="en-US" sz="10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Appendix · Unlock card</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skills/debit-card/unlock-card/SKILL.md</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Full text from the repository, word for word. Only line breaks were adjusted to fit the columns.</a:t>
            </a:r>
            <a:endParaRPr lang="en-US" sz="1100" dirty="0"/>
          </a:p>
        </p:txBody>
      </p:sp>
      <p:sp>
        <p:nvSpPr>
          <p:cNvPr id="5" name="Shape 3"/>
          <p:cNvSpPr/>
          <p:nvPr/>
        </p:nvSpPr>
        <p:spPr>
          <a:xfrm>
            <a:off x="548640" y="1325880"/>
            <a:ext cx="5440680" cy="4919472"/>
          </a:xfrm>
          <a:prstGeom prst="roundRect">
            <a:avLst>
              <a:gd name="adj" fmla="val 1115"/>
            </a:avLst>
          </a:prstGeom>
          <a:solidFill>
            <a:srgbClr val="F7F9FB"/>
          </a:solidFill>
          <a:ln w="12700">
            <a:solidFill>
              <a:srgbClr val="DBE4EC"/>
            </a:solidFill>
            <a:prstDash val="solid"/>
          </a:ln>
        </p:spPr>
      </p:sp>
      <p:sp>
        <p:nvSpPr>
          <p:cNvPr id="6" name="Text 4"/>
          <p:cNvSpPr txBox="1"/>
          <p:nvPr/>
        </p:nvSpPr>
        <p:spPr>
          <a:xfrm>
            <a:off x="685800" y="1435608"/>
            <a:ext cx="5166360" cy="4736592"/>
          </a:xfrm>
          <a:prstGeom prst="rect">
            <a:avLst/>
          </a:prstGeom>
          <a:noFill/>
          <a:ln/>
        </p:spPr>
        <p:txBody>
          <a:bodyPr wrap="square" lIns="0" tIns="0" rIns="0" bIns="0" rtlCol="0" anchor="t"/>
          <a:lstStyle/>
          <a:p>
            <a:pPr indent="0" marL="0">
              <a:lnSpc>
                <a:spcPct val="100000"/>
              </a:lnSpc>
              <a:buNone/>
            </a:pPr>
            <a:r>
              <a:rPr lang="en-US" sz="1000" dirty="0">
                <a:solidFill>
                  <a:srgbClr val="7E8D9B"/>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name: unlock-card</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tool: unlock_card</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lookups: find_client, list_cards</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priority: 62</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triggers: unlock, unblock, reactivate, turn the card back on, lift the lock</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description: Remove a temporary lock from a client's Corestone debit card.</a:t>
            </a:r>
            <a:endParaRPr lang="en-US" sz="1000" dirty="0"/>
          </a:p>
          <a:p>
            <a:pPr indent="0" marL="0">
              <a:lnSpc>
                <a:spcPct val="100000"/>
              </a:lnSpc>
              <a:buNone/>
            </a:pPr>
            <a:r>
              <a:rPr lang="en-US" sz="1000" dirty="0">
                <a:solidFill>
                  <a:srgbClr val="7E8D9B"/>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Unlock card</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Removes a temporary lock.</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**Required:** `client_id`, `card_id`</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Rules of its own</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If the card was closed rather than locked, say it cannot be unlocked and that a replacement would be needed.</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If the card is already active, say so rather than calling the tool.</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Example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Advisor: Jane found her wallet, unlock the card</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resolve client and card → confirm → unlock_card</a:t>
            </a:r>
            <a:endParaRPr lang="en-US" sz="10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Appendix · Replace card</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skills/debit-card/replace-card/SKILL.md</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Full text from the repository, word for word. Only line breaks were adjusted to fit the columns.</a:t>
            </a:r>
            <a:endParaRPr lang="en-US" sz="1100" dirty="0"/>
          </a:p>
        </p:txBody>
      </p:sp>
      <p:sp>
        <p:nvSpPr>
          <p:cNvPr id="5" name="Shape 3"/>
          <p:cNvSpPr/>
          <p:nvPr/>
        </p:nvSpPr>
        <p:spPr>
          <a:xfrm>
            <a:off x="548640" y="1325880"/>
            <a:ext cx="5440680" cy="4919472"/>
          </a:xfrm>
          <a:prstGeom prst="roundRect">
            <a:avLst>
              <a:gd name="adj" fmla="val 1115"/>
            </a:avLst>
          </a:prstGeom>
          <a:solidFill>
            <a:srgbClr val="F7F9FB"/>
          </a:solidFill>
          <a:ln w="12700">
            <a:solidFill>
              <a:srgbClr val="DBE4EC"/>
            </a:solidFill>
            <a:prstDash val="solid"/>
          </a:ln>
        </p:spPr>
      </p:sp>
      <p:sp>
        <p:nvSpPr>
          <p:cNvPr id="6" name="Text 4"/>
          <p:cNvSpPr txBox="1"/>
          <p:nvPr/>
        </p:nvSpPr>
        <p:spPr>
          <a:xfrm>
            <a:off x="685800" y="1435608"/>
            <a:ext cx="5166360" cy="4736592"/>
          </a:xfrm>
          <a:prstGeom prst="rect">
            <a:avLst/>
          </a:prstGeom>
          <a:noFill/>
          <a:ln/>
        </p:spPr>
        <p:txBody>
          <a:bodyPr wrap="square" lIns="0" tIns="0" rIns="0" bIns="0" rtlCol="0" anchor="t"/>
          <a:lstStyle/>
          <a:p>
            <a:pPr indent="0" marL="0">
              <a:lnSpc>
                <a:spcPct val="100000"/>
              </a:lnSpc>
              <a:buNone/>
            </a:pPr>
            <a:r>
              <a:rPr lang="en-US" sz="1000" dirty="0">
                <a:solidFill>
                  <a:srgbClr val="7E8D9B"/>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name: replace-card</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tool: replace_card</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lookups: find_client, list_cards</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priority: 70</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triggers: replace, new card, reissue, damaged, broken, cracked, worn out</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description: Cancel the current card and issue a replacement.</a:t>
            </a:r>
            <a:endParaRPr lang="en-US" sz="1000" dirty="0"/>
          </a:p>
          <a:p>
            <a:pPr indent="0" marL="0">
              <a:lnSpc>
                <a:spcPct val="100000"/>
              </a:lnSpc>
              <a:buNone/>
            </a:pPr>
            <a:r>
              <a:rPr lang="en-US" sz="1000" dirty="0">
                <a:solidFill>
                  <a:srgbClr val="7E8D9B"/>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Replace card</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Cancels the current card and issues a new one.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**Required:** `client_id`, `card_id`, `reason`, `delivery_address`</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**`reason` must be one of:** `damaged`, `lost`, `stolen`, `expiring`, `other`</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Rules of its own</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Ask for the reason if the advisor has not given one. **Do not infer it.**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Default the delivery address to the one on file, but **show it and ask the advisor to confirm or change it.** Never send to an address the advisor mentioned in passing without confirming it.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If the reason is `lost` or `stolen`, ask whether they also want the account flagged — that is **report-lost-stolen**, and it should usually run first.</a:t>
            </a:r>
            <a:endParaRPr lang="en-US" sz="1000" dirty="0"/>
          </a:p>
        </p:txBody>
      </p:sp>
      <p:sp>
        <p:nvSpPr>
          <p:cNvPr id="7" name="Shape 5"/>
          <p:cNvSpPr/>
          <p:nvPr/>
        </p:nvSpPr>
        <p:spPr>
          <a:xfrm>
            <a:off x="6199632" y="1325880"/>
            <a:ext cx="5440680" cy="4919472"/>
          </a:xfrm>
          <a:prstGeom prst="roundRect">
            <a:avLst>
              <a:gd name="adj" fmla="val 1115"/>
            </a:avLst>
          </a:prstGeom>
          <a:solidFill>
            <a:srgbClr val="F7F9FB"/>
          </a:solidFill>
          <a:ln w="12700">
            <a:solidFill>
              <a:srgbClr val="DBE4EC"/>
            </a:solidFill>
            <a:prstDash val="solid"/>
          </a:ln>
        </p:spPr>
      </p:sp>
      <p:sp>
        <p:nvSpPr>
          <p:cNvPr id="8" name="Text 6"/>
          <p:cNvSpPr txBox="1"/>
          <p:nvPr/>
        </p:nvSpPr>
        <p:spPr>
          <a:xfrm>
            <a:off x="6336792" y="1435608"/>
            <a:ext cx="5166360" cy="4736592"/>
          </a:xfrm>
          <a:prstGeom prst="rect">
            <a:avLst/>
          </a:prstGeom>
          <a:noFill/>
          <a:ln/>
        </p:spPr>
        <p:txBody>
          <a:bodyPr wrap="square" lIns="0" tIns="0" rIns="0" bIns="0" rtlCol="0" anchor="t"/>
          <a:lstStyle/>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Example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Advisor: Jane's card is cracked, send her a new one</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resolve client and card → reason = damaged</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"Deliver to 14 Hudson St, New York, NY 10013 — the address on file?"</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confirm → replace_card</a:t>
            </a:r>
            <a:endParaRPr lang="en-US" sz="10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Appendix · Close card permanently</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skills/debit-card/close-card/SKILL.md</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Full text from the repository, word for word. Only line breaks were adjusted to fit the columns.</a:t>
            </a:r>
            <a:endParaRPr lang="en-US" sz="1100" dirty="0"/>
          </a:p>
        </p:txBody>
      </p:sp>
      <p:sp>
        <p:nvSpPr>
          <p:cNvPr id="5" name="Shape 3"/>
          <p:cNvSpPr/>
          <p:nvPr/>
        </p:nvSpPr>
        <p:spPr>
          <a:xfrm>
            <a:off x="548640" y="1325880"/>
            <a:ext cx="5440680" cy="4919472"/>
          </a:xfrm>
          <a:prstGeom prst="roundRect">
            <a:avLst>
              <a:gd name="adj" fmla="val 1115"/>
            </a:avLst>
          </a:prstGeom>
          <a:solidFill>
            <a:srgbClr val="F7F9FB"/>
          </a:solidFill>
          <a:ln w="12700">
            <a:solidFill>
              <a:srgbClr val="DBE4EC"/>
            </a:solidFill>
            <a:prstDash val="solid"/>
          </a:ln>
        </p:spPr>
      </p:sp>
      <p:sp>
        <p:nvSpPr>
          <p:cNvPr id="6" name="Text 4"/>
          <p:cNvSpPr txBox="1"/>
          <p:nvPr/>
        </p:nvSpPr>
        <p:spPr>
          <a:xfrm>
            <a:off x="685800" y="1435608"/>
            <a:ext cx="5166360" cy="4736592"/>
          </a:xfrm>
          <a:prstGeom prst="rect">
            <a:avLst/>
          </a:prstGeom>
          <a:noFill/>
          <a:ln/>
        </p:spPr>
        <p:txBody>
          <a:bodyPr wrap="square" lIns="0" tIns="0" rIns="0" bIns="0" rtlCol="0" anchor="t"/>
          <a:lstStyle/>
          <a:p>
            <a:pPr indent="0" marL="0">
              <a:lnSpc>
                <a:spcPct val="100000"/>
              </a:lnSpc>
              <a:buNone/>
            </a:pPr>
            <a:r>
              <a:rPr lang="en-US" sz="1000" dirty="0">
                <a:solidFill>
                  <a:srgbClr val="7E8D9B"/>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name: close-card</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tool: close_card</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lookups: find_client, list_cards</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priority: 65</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triggers: close, close permanently, cancel the card, terminate, shut the card</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description: Permanently close a card. Irreversible.</a:t>
            </a:r>
            <a:endParaRPr lang="en-US" sz="1000" dirty="0"/>
          </a:p>
          <a:p>
            <a:pPr indent="0" marL="0">
              <a:lnSpc>
                <a:spcPct val="100000"/>
              </a:lnSpc>
              <a:buNone/>
            </a:pPr>
            <a:r>
              <a:rPr lang="en-US" sz="1000" dirty="0">
                <a:solidFill>
                  <a:srgbClr val="7E8D9B"/>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Close card</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Closes the card permanently. **This cannot be undone.**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**Required:** `client_id`, `card_id`, `reason`</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Rules of its own</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Stricter confirmation than the others. Restate it as:</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This permanently closes the card ending 4417 for Jane Miller. It cannot be</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reopened — a new card would have to be issued. Confirm?</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If the advisor's wording is ambiguous between closing and locking ("cancel her card", "stop the card"), **ask which they mean before doing anything.** Locking is reversible; this is not.</a:t>
            </a:r>
            <a:endParaRPr lang="en-US" sz="1000" dirty="0"/>
          </a:p>
        </p:txBody>
      </p:sp>
      <p:sp>
        <p:nvSpPr>
          <p:cNvPr id="7" name="Shape 5"/>
          <p:cNvSpPr/>
          <p:nvPr/>
        </p:nvSpPr>
        <p:spPr>
          <a:xfrm>
            <a:off x="6199632" y="1325880"/>
            <a:ext cx="5440680" cy="4919472"/>
          </a:xfrm>
          <a:prstGeom prst="roundRect">
            <a:avLst>
              <a:gd name="adj" fmla="val 1115"/>
            </a:avLst>
          </a:prstGeom>
          <a:solidFill>
            <a:srgbClr val="F7F9FB"/>
          </a:solidFill>
          <a:ln w="12700">
            <a:solidFill>
              <a:srgbClr val="DBE4EC"/>
            </a:solidFill>
            <a:prstDash val="solid"/>
          </a:ln>
        </p:spPr>
      </p:sp>
      <p:sp>
        <p:nvSpPr>
          <p:cNvPr id="8" name="Text 6"/>
          <p:cNvSpPr txBox="1"/>
          <p:nvPr/>
        </p:nvSpPr>
        <p:spPr>
          <a:xfrm>
            <a:off x="6336792" y="1435608"/>
            <a:ext cx="5166360" cy="4736592"/>
          </a:xfrm>
          <a:prstGeom prst="rect">
            <a:avLst/>
          </a:prstGeom>
          <a:noFill/>
          <a:ln/>
        </p:spPr>
        <p:txBody>
          <a:bodyPr wrap="square" lIns="0" tIns="0" rIns="0" bIns="0" rtlCol="0" anchor="t"/>
          <a:lstStyle/>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Example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Advisor: Close David's card for good</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resolve client and card → ask for the reason</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restate the permanence → confirm → close_card</a:t>
            </a:r>
            <a:endParaRPr lang="en-US" sz="10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Appendix · Report lost or stolen</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skills/debit-card/report-lost-stolen/SKILL.md</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Full text from the repository, word for word. Only line breaks were adjusted to fit the columns.</a:t>
            </a:r>
            <a:endParaRPr lang="en-US" sz="1100" dirty="0"/>
          </a:p>
        </p:txBody>
      </p:sp>
      <p:sp>
        <p:nvSpPr>
          <p:cNvPr id="5" name="Shape 3"/>
          <p:cNvSpPr/>
          <p:nvPr/>
        </p:nvSpPr>
        <p:spPr>
          <a:xfrm>
            <a:off x="548640" y="1325880"/>
            <a:ext cx="5440680" cy="4919472"/>
          </a:xfrm>
          <a:prstGeom prst="roundRect">
            <a:avLst>
              <a:gd name="adj" fmla="val 1115"/>
            </a:avLst>
          </a:prstGeom>
          <a:solidFill>
            <a:srgbClr val="F7F9FB"/>
          </a:solidFill>
          <a:ln w="12700">
            <a:solidFill>
              <a:srgbClr val="DBE4EC"/>
            </a:solidFill>
            <a:prstDash val="solid"/>
          </a:ln>
        </p:spPr>
      </p:sp>
      <p:sp>
        <p:nvSpPr>
          <p:cNvPr id="6" name="Text 4"/>
          <p:cNvSpPr txBox="1"/>
          <p:nvPr/>
        </p:nvSpPr>
        <p:spPr>
          <a:xfrm>
            <a:off x="685800" y="1435608"/>
            <a:ext cx="5166360" cy="4736592"/>
          </a:xfrm>
          <a:prstGeom prst="rect">
            <a:avLst/>
          </a:prstGeom>
          <a:noFill/>
          <a:ln/>
        </p:spPr>
        <p:txBody>
          <a:bodyPr wrap="square" lIns="0" tIns="0" rIns="0" bIns="0" rtlCol="0" anchor="t"/>
          <a:lstStyle/>
          <a:p>
            <a:pPr indent="0" marL="0">
              <a:lnSpc>
                <a:spcPct val="100000"/>
              </a:lnSpc>
              <a:buNone/>
            </a:pPr>
            <a:r>
              <a:rPr lang="en-US" sz="1000" dirty="0">
                <a:solidFill>
                  <a:srgbClr val="7E8D9B"/>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name: report-lost-stolen</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tool: report_lost_stolen</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lookups: find_client, list_cards</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priority: 90</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triggers: lost, stolen, wallet, theft, stole, missing card, pickpocket</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description: Block a card and flag the account after it is lost or stolen.</a:t>
            </a:r>
            <a:endParaRPr lang="en-US" sz="1000" dirty="0"/>
          </a:p>
          <a:p>
            <a:pPr indent="0" marL="0">
              <a:lnSpc>
                <a:spcPct val="100000"/>
              </a:lnSpc>
              <a:buNone/>
            </a:pPr>
            <a:r>
              <a:rPr lang="en-US" sz="1000" dirty="0">
                <a:solidFill>
                  <a:srgbClr val="7E8D9B"/>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Report lost or stolen</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Blocks the card and flags the account for review. Two things happen at once.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**Required:** `client_id`, `card_id`, `incident_type` (`lost` or `stolen`)</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**Optional:** `last_known_use`, `flag_transactions`</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Rules of its own</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Ask whether the card was lost or stolen if the advisor has not said. **Do not assume** from the wording.</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Ask whether there are transactions the client does not recognise. If yes, set `flag_transactions` to true. **Do not judge** which transactions look suspicious — that is not your call.</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After this succeeds, offer **replace-card** as the natural next step.</a:t>
            </a:r>
            <a:endParaRPr lang="en-US" sz="1000" dirty="0"/>
          </a:p>
        </p:txBody>
      </p:sp>
      <p:sp>
        <p:nvSpPr>
          <p:cNvPr id="7" name="Shape 5"/>
          <p:cNvSpPr/>
          <p:nvPr/>
        </p:nvSpPr>
        <p:spPr>
          <a:xfrm>
            <a:off x="6199632" y="1325880"/>
            <a:ext cx="5440680" cy="4919472"/>
          </a:xfrm>
          <a:prstGeom prst="roundRect">
            <a:avLst>
              <a:gd name="adj" fmla="val 1115"/>
            </a:avLst>
          </a:prstGeom>
          <a:solidFill>
            <a:srgbClr val="F7F9FB"/>
          </a:solidFill>
          <a:ln w="12700">
            <a:solidFill>
              <a:srgbClr val="DBE4EC"/>
            </a:solidFill>
            <a:prstDash val="solid"/>
          </a:ln>
        </p:spPr>
      </p:sp>
      <p:sp>
        <p:nvSpPr>
          <p:cNvPr id="8" name="Text 6"/>
          <p:cNvSpPr txBox="1"/>
          <p:nvPr/>
        </p:nvSpPr>
        <p:spPr>
          <a:xfrm>
            <a:off x="6336792" y="1435608"/>
            <a:ext cx="5166360" cy="4736592"/>
          </a:xfrm>
          <a:prstGeom prst="rect">
            <a:avLst/>
          </a:prstGeom>
          <a:noFill/>
          <a:ln/>
        </p:spPr>
        <p:txBody>
          <a:bodyPr wrap="square" lIns="0" tIns="0" rIns="0" bIns="0" rtlCol="0" anchor="t"/>
          <a:lstStyle/>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Example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Advisor: Jane lost her wallet</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resolve client and card</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"Lost, or stolen?" → "Any transactions she does not recognise?"</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restate → confirm → report_lost_stolen</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"Would you like me to order a replacement?"</a:t>
            </a:r>
            <a:endParaRPr lang="en-US" sz="10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10896"/>
            <a:ext cx="8778240" cy="566928"/>
          </a:xfrm>
          <a:prstGeom prst="rect">
            <a:avLst/>
          </a:prstGeom>
          <a:noFill/>
          <a:ln/>
        </p:spPr>
        <p:txBody>
          <a:bodyPr wrap="square" lIns="0" tIns="0" rIns="0" bIns="0" rtlCol="0" anchor="ctr"/>
          <a:lstStyle/>
          <a:p>
            <a:pPr algn="l" indent="0" marL="0">
              <a:buNone/>
            </a:pPr>
            <a:r>
              <a:rPr lang="en-US" sz="3200" b="1" dirty="0">
                <a:solidFill>
                  <a:srgbClr val="14314F"/>
                </a:solidFill>
                <a:latin typeface="Cambria" pitchFamily="34" charset="0"/>
                <a:ea typeface="Cambria" pitchFamily="34" charset="-122"/>
                <a:cs typeface="Cambria" pitchFamily="34" charset="-120"/>
              </a:rPr>
              <a:t>Appendix · Travel notice</a:t>
            </a:r>
            <a:endParaRPr lang="en-US" sz="3200" dirty="0"/>
          </a:p>
        </p:txBody>
      </p:sp>
      <p:sp>
        <p:nvSpPr>
          <p:cNvPr id="3" name="Text 0"/>
          <p:cNvSpPr/>
          <p:nvPr>
            <p:ph idx="101" type="body" hasCustomPrompt="1"/>
          </p:nvPr>
        </p:nvSpPr>
        <p:spPr>
          <a:xfrm>
            <a:off x="548640" y="914400"/>
            <a:ext cx="11064240" cy="310896"/>
          </a:xfrm>
          <a:prstGeom prst="rect">
            <a:avLst/>
          </a:prstGeom>
          <a:noFill/>
          <a:ln/>
        </p:spPr>
        <p:txBody>
          <a:bodyPr wrap="square" lIns="0" tIns="0" rIns="0" bIns="0" rtlCol="0" anchor="ctr"/>
          <a:lstStyle/>
          <a:p>
            <a:pPr algn="l" indent="0" marL="0">
              <a:buNone/>
            </a:pPr>
            <a:r>
              <a:rPr lang="en-US" sz="1400" dirty="0">
                <a:solidFill>
                  <a:srgbClr val="5B6B7A"/>
                </a:solidFill>
                <a:latin typeface="Calibri" pitchFamily="34" charset="0"/>
                <a:ea typeface="Calibri" pitchFamily="34" charset="-122"/>
                <a:cs typeface="Calibri" pitchFamily="34" charset="-120"/>
              </a:rPr>
              <a:t>skills/debit-card/travel-notice/SKILL.md</a:t>
            </a:r>
            <a:endParaRPr lang="en-US" sz="1400" dirty="0"/>
          </a:p>
        </p:txBody>
      </p:sp>
      <p:sp>
        <p:nvSpPr>
          <p:cNvPr id="4" name="Text 0"/>
          <p:cNvSpPr/>
          <p:nvPr>
            <p:ph idx="102" type="body" hasCustomPrompt="1"/>
          </p:nvPr>
        </p:nvSpPr>
        <p:spPr>
          <a:xfrm>
            <a:off x="548640" y="6327648"/>
            <a:ext cx="11064240" cy="274320"/>
          </a:xfrm>
          <a:prstGeom prst="rect">
            <a:avLst/>
          </a:prstGeom>
          <a:noFill/>
          <a:ln/>
        </p:spPr>
        <p:txBody>
          <a:bodyPr wrap="square" lIns="0" tIns="0" rIns="0" bIns="0" rtlCol="0" anchor="ctr"/>
          <a:lstStyle/>
          <a:p>
            <a:pPr indent="0" marL="0">
              <a:buNone/>
            </a:pPr>
            <a:r>
              <a:rPr lang="en-US" sz="1100" i="1" dirty="0">
                <a:solidFill>
                  <a:srgbClr val="7E8D9B"/>
                </a:solidFill>
                <a:latin typeface="Calibri" pitchFamily="34" charset="0"/>
                <a:ea typeface="Calibri" pitchFamily="34" charset="-122"/>
                <a:cs typeface="Calibri" pitchFamily="34" charset="-120"/>
              </a:rPr>
              <a:t>Full text from the repository, word for word. Only line breaks were adjusted to fit the columns.</a:t>
            </a:r>
            <a:endParaRPr lang="en-US" sz="1100" dirty="0"/>
          </a:p>
        </p:txBody>
      </p:sp>
      <p:sp>
        <p:nvSpPr>
          <p:cNvPr id="5" name="Shape 3"/>
          <p:cNvSpPr/>
          <p:nvPr/>
        </p:nvSpPr>
        <p:spPr>
          <a:xfrm>
            <a:off x="548640" y="1325880"/>
            <a:ext cx="5440680" cy="4919472"/>
          </a:xfrm>
          <a:prstGeom prst="roundRect">
            <a:avLst>
              <a:gd name="adj" fmla="val 1115"/>
            </a:avLst>
          </a:prstGeom>
          <a:solidFill>
            <a:srgbClr val="F7F9FB"/>
          </a:solidFill>
          <a:ln w="12700">
            <a:solidFill>
              <a:srgbClr val="DBE4EC"/>
            </a:solidFill>
            <a:prstDash val="solid"/>
          </a:ln>
        </p:spPr>
      </p:sp>
      <p:sp>
        <p:nvSpPr>
          <p:cNvPr id="6" name="Text 4"/>
          <p:cNvSpPr txBox="1"/>
          <p:nvPr/>
        </p:nvSpPr>
        <p:spPr>
          <a:xfrm>
            <a:off x="685800" y="1435608"/>
            <a:ext cx="5166360" cy="4736592"/>
          </a:xfrm>
          <a:prstGeom prst="rect">
            <a:avLst/>
          </a:prstGeom>
          <a:noFill/>
          <a:ln/>
        </p:spPr>
        <p:txBody>
          <a:bodyPr wrap="square" lIns="0" tIns="0" rIns="0" bIns="0" rtlCol="0" anchor="t"/>
          <a:lstStyle/>
          <a:p>
            <a:pPr indent="0" marL="0">
              <a:lnSpc>
                <a:spcPct val="100000"/>
              </a:lnSpc>
              <a:buNone/>
            </a:pPr>
            <a:r>
              <a:rPr lang="en-US" sz="1000" dirty="0">
                <a:solidFill>
                  <a:srgbClr val="7E8D9B"/>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name: travel-notice</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tool: travel_notice</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lookups: find_client, list_cards</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priority: 80</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triggers: travel, trip, abroad, flying, going to, overseas, holiday, vacation</a:t>
            </a:r>
            <a:endParaRPr lang="en-US" sz="1000" dirty="0"/>
          </a:p>
          <a:p>
            <a:pPr indent="0" marL="0">
              <a:lnSpc>
                <a:spcPct val="100000"/>
              </a:lnSpc>
              <a:buNone/>
            </a:pPr>
            <a:r>
              <a:rPr lang="en-US" sz="1000" dirty="0">
                <a:solidFill>
                  <a:srgbClr val="2E7D5B"/>
                </a:solidFill>
                <a:latin typeface="Courier New" pitchFamily="34" charset="0"/>
                <a:ea typeface="Courier New" pitchFamily="34" charset="-122"/>
                <a:cs typeface="Courier New" pitchFamily="34" charset="-120"/>
              </a:rPr>
              <a:t>description: Record upcoming travel so the card is not blocked abroad.</a:t>
            </a:r>
            <a:endParaRPr lang="en-US" sz="1000" dirty="0"/>
          </a:p>
          <a:p>
            <a:pPr indent="0" marL="0">
              <a:lnSpc>
                <a:spcPct val="100000"/>
              </a:lnSpc>
              <a:buNone/>
            </a:pPr>
            <a:r>
              <a:rPr lang="en-US" sz="1000" dirty="0">
                <a:solidFill>
                  <a:srgbClr val="7E8D9B"/>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Travel notice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Records travel so the card is not blocked abroad. The most fields of the six, and the vaguest inputs.</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**Required:** `client_id`, `card_id`, `destination`, `start_date`, `end_date`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Track which required fields are still empty and ask only for those.</a:t>
            </a:r>
            <a:endParaRPr lang="en-US" sz="1000" dirty="0"/>
          </a:p>
        </p:txBody>
      </p:sp>
      <p:sp>
        <p:nvSpPr>
          <p:cNvPr id="7" name="Shape 5"/>
          <p:cNvSpPr/>
          <p:nvPr/>
        </p:nvSpPr>
        <p:spPr>
          <a:xfrm>
            <a:off x="6199632" y="1325880"/>
            <a:ext cx="5440680" cy="4919472"/>
          </a:xfrm>
          <a:prstGeom prst="roundRect">
            <a:avLst>
              <a:gd name="adj" fmla="val 1115"/>
            </a:avLst>
          </a:prstGeom>
          <a:solidFill>
            <a:srgbClr val="F7F9FB"/>
          </a:solidFill>
          <a:ln w="12700">
            <a:solidFill>
              <a:srgbClr val="DBE4EC"/>
            </a:solidFill>
            <a:prstDash val="solid"/>
          </a:ln>
        </p:spPr>
      </p:sp>
      <p:sp>
        <p:nvSpPr>
          <p:cNvPr id="8" name="Text 6"/>
          <p:cNvSpPr txBox="1"/>
          <p:nvPr/>
        </p:nvSpPr>
        <p:spPr>
          <a:xfrm>
            <a:off x="6336792" y="1435608"/>
            <a:ext cx="5166360" cy="4736592"/>
          </a:xfrm>
          <a:prstGeom prst="rect">
            <a:avLst/>
          </a:prstGeom>
          <a:noFill/>
          <a:ln/>
        </p:spPr>
        <p:txBody>
          <a:bodyPr wrap="square" lIns="0" tIns="0" rIns="0" bIns="0" rtlCol="0" anchor="t"/>
          <a:lstStyle/>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Dates</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Convert relative phrases into actual dates and **show your working**. "next month for a couple of weeks" → propose the 1st to the 15th of next month, and let the advisor confirm or correct it.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**Never submit a date you inferred without showing it first.** Either ask, or let the confirmation panel show it: the panel lists the dates and offers "Change dates", and nothing runs until the advisor confirms.</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If the end date is before the start date, or the range is longer than 90 days, say so and ask.</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Destination</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If a place name is ambiguous, **ask**. Do not pick the more common reading. "Georgia" → the US state or the country? "Springfield" → which one?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Multiple countries are allowed. List them back before confirming.</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Never</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Never fill a required travel field with a default.</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b="1" dirty="0">
                <a:solidFill>
                  <a:srgbClr val="14314F"/>
                </a:solidFill>
                <a:latin typeface="Courier New" pitchFamily="34" charset="0"/>
                <a:ea typeface="Courier New" pitchFamily="34" charset="-122"/>
                <a:cs typeface="Courier New" pitchFamily="34" charset="-120"/>
              </a:rPr>
              <a:t>## Example</a:t>
            </a:r>
            <a:endParaRPr lang="en-US" sz="1000" dirty="0"/>
          </a:p>
          <a:p>
            <a:pPr indent="0" marL="0">
              <a:lnSpc>
                <a:spcPct val="100000"/>
              </a:lnSpc>
              <a:buNone/>
            </a:pPr>
            <a:r>
              <a:rPr lang="en-US" sz="1000" dirty="0">
                <a:solidFill>
                  <a:srgbClr val="3C4C5A"/>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Advisor: Sarah's off to Georgia next month for a couple of weeks</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resolve client → resolve card</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"Georgia the country, or the US state?"</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propose the 1st to the 15th of next month</a:t>
            </a:r>
            <a:endParaRPr lang="en-US" sz="1000" dirty="0"/>
          </a:p>
          <a:p>
            <a:pPr indent="0" marL="0">
              <a:lnSpc>
                <a:spcPct val="100000"/>
              </a:lnSpc>
              <a:buNone/>
            </a:pPr>
            <a:r>
              <a:rPr lang="en-US" sz="1000" dirty="0">
                <a:solidFill>
                  <a:srgbClr val="A5851F"/>
                </a:solidFill>
                <a:latin typeface="Courier New" pitchFamily="34" charset="0"/>
                <a:ea typeface="Courier New" pitchFamily="34" charset="-122"/>
                <a:cs typeface="Courier New" pitchFamily="34" charset="-120"/>
              </a:rPr>
              <a:t>&gt; → travel_notice → the panel shows the dates, with Change dates → confirm</a:t>
            </a:r>
            <a:endParaRPr lang="en-US" sz="10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8D9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BNY Check-in">
  <a:themeElements>
    <a:clrScheme name="BNY Check-in">
      <a:dk1>
        <a:srgbClr val="1F2A35"/>
      </a:dk1>
      <a:lt1>
        <a:srgbClr val="FFFFFF"/>
      </a:lt1>
      <a:dk2>
        <a:srgbClr val="14314F"/>
      </a:dk2>
      <a:lt2>
        <a:srgbClr val="F2F5F8"/>
      </a:lt2>
      <a:accent1>
        <a:srgbClr val="14314F"/>
      </a:accent1>
      <a:accent2>
        <a:srgbClr val="C9A227"/>
      </a:accent2>
      <a:accent3>
        <a:srgbClr val="2E7D5B"/>
      </a:accent3>
      <a:accent4>
        <a:srgbClr val="B03030"/>
      </a:accent4>
      <a:accent5>
        <a:srgbClr val="5B6B7A"/>
      </a:accent5>
      <a:accent6>
        <a:srgbClr val="2E5675"/>
      </a:accent6>
      <a:hlink>
        <a:srgbClr val="14314F"/>
      </a:hlink>
      <a:folHlink>
        <a:srgbClr val="5B6B7A"/>
      </a:folHlink>
    </a:clrScheme>
    <a:fontScheme name="BNY Check-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Six skills, one chat</dc:title>
  <dc:subject>PptxGenJS Presentation</dc:subject>
  <dc:creator>NYU Stern Tech MBA team</dc:creator>
  <cp:lastModifiedBy>NYU Stern Tech MBA team</cp:lastModifiedBy>
  <cp:revision>1</cp:revision>
  <dcterms:created xsi:type="dcterms:W3CDTF">2026-10-07T20:03:31Z</dcterms:created>
  <dcterms:modified xsi:type="dcterms:W3CDTF">2026-10-07T20:03:31Z</dcterms:modified>
</cp:coreProperties>
</file>