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today an advisor needs many clicks to lock a client card. We want them to just ask for it. Our recommendation is a skill, not a separate agent — we will explain what that means in plain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roadmap. Discover was the kickoff and the recordings. Describe is the problem as we now understand it, including the constraint that the model must not judge permissions. We are entering ideate and prototype — the architecture recommendation plus the mock. Test is the awkward cases and the midpoint visit. Implement is swapping the mocks for BNY systems, gated by their AI approval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with the lost-wallet call. The advisor is competent and the system works — the problem is purely the number of steps. That friction is what pushes advisors to phone the call centre. Ask Ben to confirm the real click count from the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2 is the only AI. Step 3 is the same permission question NetX360 already asks when an advisor opens a card screen. Step 4 reuses the existing lock function — we build no banking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plain: a skill is a new job for an assistant that already exists; an agent is a whole new assistant. Our six actions are fixed and simple, so there is nothing for an agent to plan. Show the three examples as where an agent would genuinely earn its place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two files we write once. The markdown tells the chat how to behave; the schema is a blank form with named fields, two of them required. Right side: each time an advisor asks for something, the chat fills that same form in. It is checked against the schema before it reaches us, and only then does our code run the five steps. The chat never writes code and never calls an API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kept the scope tight on purpose so that something actually ships. Our suggestions are in that same spirit: small, routine, unambiguous. Read-only ones are the safest possible additions and give us something to demo before any action is wired up. Ask Ben whether the underlying functions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Left: what we took from the kickoff and are building on — please correct anything wrong. Right: what we still need. The first question is the one that matters most, because if the entitlement check is locked inside the screen, exposing it becomes BNY work and changes our timeline. Close with the one-line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337"/>
        </a:solidFill>
      </p:bgPr>
    </p:bg>
    <p:spTree>
      <p:nvGrpSpPr>
        <p:cNvPr id="1" name=""/>
        <p:cNvGrpSpPr/>
        <p:nvPr/>
      </p:nvGrpSpPr>
      <p:grpSpPr>
        <a:xfrm>
          <a:off x="0" y="0"/>
          <a:ext cx="0" cy="0"/>
          <a:chOff x="0" y="0"/>
          <a:chExt cx="0" cy="0"/>
        </a:xfrm>
      </p:grpSpPr>
      <p:sp>
        <p:nvSpPr>
          <p:cNvPr id="2" name="Text 0"/>
          <p:cNvSpPr txBox="1"/>
          <p:nvPr/>
        </p:nvSpPr>
        <p:spPr>
          <a:xfrm>
            <a:off x="777240" y="1874520"/>
            <a:ext cx="1060704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Debit Card Management by Chat</a:t>
            </a:r>
            <a:endParaRPr lang="en-US" sz="4200" dirty="0"/>
          </a:p>
        </p:txBody>
      </p:sp>
      <p:sp>
        <p:nvSpPr>
          <p:cNvPr id="3" name="Text 1"/>
          <p:cNvSpPr txBox="1"/>
          <p:nvPr/>
        </p:nvSpPr>
        <p:spPr>
          <a:xfrm>
            <a:off x="777240" y="2743200"/>
            <a:ext cx="10607040" cy="365760"/>
          </a:xfrm>
          <a:prstGeom prst="rect">
            <a:avLst/>
          </a:prstGeom>
          <a:noFill/>
          <a:ln/>
        </p:spPr>
        <p:txBody>
          <a:bodyPr wrap="square" lIns="0" tIns="0" rIns="0" bIns="0" rtlCol="0" anchor="ctr"/>
          <a:lstStyle/>
          <a:p>
            <a:pPr indent="0" marL="0">
              <a:buNone/>
            </a:pPr>
            <a:r>
              <a:rPr lang="en-US" sz="1700" dirty="0">
                <a:solidFill>
                  <a:srgbClr val="C9A227"/>
                </a:solidFill>
                <a:latin typeface="Calibri" pitchFamily="34" charset="0"/>
                <a:ea typeface="Calibri" pitchFamily="34" charset="-122"/>
                <a:cs typeface="Calibri" pitchFamily="34" charset="-120"/>
              </a:rPr>
              <a:t>BNY Pershing  ·  NetX360, advisor side  ·  First check-in</a:t>
            </a:r>
            <a:endParaRPr lang="en-US" sz="1700" dirty="0"/>
          </a:p>
        </p:txBody>
      </p:sp>
      <p:sp>
        <p:nvSpPr>
          <p:cNvPr id="4" name="Shape 2"/>
          <p:cNvSpPr/>
          <p:nvPr/>
        </p:nvSpPr>
        <p:spPr>
          <a:xfrm>
            <a:off x="777240" y="3611880"/>
            <a:ext cx="5852160" cy="868680"/>
          </a:xfrm>
          <a:prstGeom prst="roundRect">
            <a:avLst>
              <a:gd name="adj" fmla="val 12632"/>
            </a:avLst>
          </a:prstGeom>
          <a:solidFill>
            <a:srgbClr val="1B3A56"/>
          </a:solidFill>
          <a:ln w="12700">
            <a:solidFill>
              <a:srgbClr val="2E5675"/>
            </a:solidFill>
            <a:prstDash val="solid"/>
          </a:ln>
        </p:spPr>
      </p:sp>
      <p:sp>
        <p:nvSpPr>
          <p:cNvPr id="5" name="Text 3"/>
          <p:cNvSpPr txBox="1"/>
          <p:nvPr/>
        </p:nvSpPr>
        <p:spPr>
          <a:xfrm>
            <a:off x="1005840" y="3767328"/>
            <a:ext cx="5394960" cy="3200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“Lock Jane Miller’s debit card”</a:t>
            </a:r>
            <a:endParaRPr lang="en-US" sz="1700" dirty="0"/>
          </a:p>
        </p:txBody>
      </p:sp>
      <p:sp>
        <p:nvSpPr>
          <p:cNvPr id="6" name="Text 4"/>
          <p:cNvSpPr txBox="1"/>
          <p:nvPr/>
        </p:nvSpPr>
        <p:spPr>
          <a:xfrm>
            <a:off x="1005840" y="4114800"/>
            <a:ext cx="5394960" cy="274320"/>
          </a:xfrm>
          <a:prstGeom prst="rect">
            <a:avLst/>
          </a:prstGeom>
          <a:noFill/>
          <a:ln/>
        </p:spPr>
        <p:txBody>
          <a:bodyPr wrap="square" lIns="0" tIns="0" rIns="0" bIns="0" rtlCol="0" anchor="ctr"/>
          <a:lstStyle/>
          <a:p>
            <a:pPr indent="0" marL="0">
              <a:buNone/>
            </a:pPr>
            <a:r>
              <a:rPr lang="en-US" sz="1200" dirty="0">
                <a:solidFill>
                  <a:srgbClr val="8FA6BA"/>
                </a:solidFill>
                <a:latin typeface="Calibri" pitchFamily="34" charset="0"/>
                <a:ea typeface="Calibri" pitchFamily="34" charset="-122"/>
                <a:cs typeface="Calibri" pitchFamily="34" charset="-120"/>
              </a:rPr>
              <a:t>one sentence, instead of a dozen clicks</a:t>
            </a:r>
            <a:endParaRPr lang="en-US" sz="1200" dirty="0"/>
          </a:p>
        </p:txBody>
      </p:sp>
      <p:sp>
        <p:nvSpPr>
          <p:cNvPr id="7" name="Text 5"/>
          <p:cNvSpPr txBox="1"/>
          <p:nvPr/>
        </p:nvSpPr>
        <p:spPr>
          <a:xfrm>
            <a:off x="777240" y="5029200"/>
            <a:ext cx="10607040" cy="365760"/>
          </a:xfrm>
          <a:prstGeom prst="rect">
            <a:avLst/>
          </a:prstGeom>
          <a:noFill/>
          <a:ln/>
        </p:spPr>
        <p:txBody>
          <a:bodyPr wrap="square" lIns="0" tIns="0" rIns="0" bIns="0" rtlCol="0" anchor="ctr"/>
          <a:lstStyle/>
          <a:p>
            <a:pPr indent="0" marL="0">
              <a:buNone/>
            </a:pPr>
            <a:r>
              <a:rPr lang="en-US" sz="1500" i="1" dirty="0">
                <a:solidFill>
                  <a:srgbClr val="BFD0DE"/>
                </a:solidFill>
                <a:latin typeface="Calibri" pitchFamily="34" charset="0"/>
                <a:ea typeface="Calibri" pitchFamily="34" charset="-122"/>
                <a:cs typeface="Calibri" pitchFamily="34" charset="-120"/>
              </a:rPr>
              <a:t>Our recommendation: a skill — six tools inside the chat NetX360 already has, on BNY’s internal model.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How we are running this project</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The design thinking process, applied to the debit card skill.</a:t>
            </a:r>
            <a:endParaRPr lang="en-US" sz="1400" dirty="0"/>
          </a:p>
        </p:txBody>
      </p:sp>
      <p:sp>
        <p:nvSpPr>
          <p:cNvPr id="4" name="Shape 2"/>
          <p:cNvSpPr/>
          <p:nvPr/>
        </p:nvSpPr>
        <p:spPr>
          <a:xfrm>
            <a:off x="850392" y="1481328"/>
            <a:ext cx="1426464" cy="1426464"/>
          </a:xfrm>
          <a:prstGeom prst="ellipse">
            <a:avLst/>
          </a:prstGeom>
          <a:solidFill>
            <a:srgbClr val="C9A227"/>
          </a:solidFill>
          <a:ln w="12700">
            <a:solidFill>
              <a:srgbClr val="C9A227"/>
            </a:solidFill>
            <a:prstDash val="solid"/>
          </a:ln>
        </p:spPr>
      </p:sp>
      <p:sp>
        <p:nvSpPr>
          <p:cNvPr id="5" name="Text 3"/>
          <p:cNvSpPr txBox="1"/>
          <p:nvPr/>
        </p:nvSpPr>
        <p:spPr>
          <a:xfrm>
            <a:off x="786384" y="1883664"/>
            <a:ext cx="1554480" cy="640080"/>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DISCOVER</a:t>
            </a:r>
            <a:endParaRPr lang="en-US" sz="1150" dirty="0"/>
          </a:p>
        </p:txBody>
      </p:sp>
      <p:sp>
        <p:nvSpPr>
          <p:cNvPr id="6" name="Text 4"/>
          <p:cNvSpPr txBox="1"/>
          <p:nvPr/>
        </p:nvSpPr>
        <p:spPr>
          <a:xfrm>
            <a:off x="2350008" y="2029968"/>
            <a:ext cx="457200" cy="329184"/>
          </a:xfrm>
          <a:prstGeom prst="rect">
            <a:avLst/>
          </a:prstGeom>
          <a:noFill/>
          <a:ln/>
        </p:spPr>
        <p:txBody>
          <a:bodyPr wrap="square" lIns="0" tIns="0" rIns="0" bIns="0" rtlCol="0" anchor="ctr"/>
          <a:lstStyle/>
          <a:p>
            <a:pPr algn="ctr" indent="0" marL="0">
              <a:buNone/>
            </a:pPr>
            <a:r>
              <a:rPr lang="en-US" sz="2000" dirty="0">
                <a:solidFill>
                  <a:srgbClr val="9AA7B4"/>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548640" y="3456432"/>
            <a:ext cx="2029968" cy="45720"/>
          </a:xfrm>
          <a:prstGeom prst="rect">
            <a:avLst/>
          </a:prstGeom>
          <a:solidFill>
            <a:srgbClr val="C9A227"/>
          </a:solidFill>
          <a:ln w="12700">
            <a:solidFill>
              <a:srgbClr val="C9A227"/>
            </a:solidFill>
            <a:prstDash val="solid"/>
          </a:ln>
        </p:spPr>
      </p:sp>
      <p:sp>
        <p:nvSpPr>
          <p:cNvPr id="8" name="Text 6"/>
          <p:cNvSpPr txBox="1"/>
          <p:nvPr/>
        </p:nvSpPr>
        <p:spPr>
          <a:xfrm>
            <a:off x="548640" y="3611880"/>
            <a:ext cx="210312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Kickoff with Ben at BNY Pershing</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Advisors cross several screens for one routine action — so they call the call centre</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Next: count the real clicks from the screen recordings</a:t>
            </a:r>
            <a:endParaRPr lang="en-US" sz="1050" dirty="0"/>
          </a:p>
        </p:txBody>
      </p:sp>
      <p:sp>
        <p:nvSpPr>
          <p:cNvPr id="9" name="Shape 7"/>
          <p:cNvSpPr/>
          <p:nvPr/>
        </p:nvSpPr>
        <p:spPr>
          <a:xfrm>
            <a:off x="3063240" y="1481328"/>
            <a:ext cx="1426464" cy="1426464"/>
          </a:xfrm>
          <a:prstGeom prst="ellipse">
            <a:avLst/>
          </a:prstGeom>
          <a:solidFill>
            <a:srgbClr val="7AA33F"/>
          </a:solidFill>
          <a:ln w="12700">
            <a:solidFill>
              <a:srgbClr val="7AA33F"/>
            </a:solidFill>
            <a:prstDash val="solid"/>
          </a:ln>
        </p:spPr>
      </p:sp>
      <p:sp>
        <p:nvSpPr>
          <p:cNvPr id="10" name="Text 8"/>
          <p:cNvSpPr txBox="1"/>
          <p:nvPr/>
        </p:nvSpPr>
        <p:spPr>
          <a:xfrm>
            <a:off x="2999232" y="1883664"/>
            <a:ext cx="1554480" cy="640080"/>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DESCRIBE</a:t>
            </a:r>
            <a:endParaRPr lang="en-US" sz="1150" dirty="0"/>
          </a:p>
        </p:txBody>
      </p:sp>
      <p:sp>
        <p:nvSpPr>
          <p:cNvPr id="11" name="Text 9"/>
          <p:cNvSpPr txBox="1"/>
          <p:nvPr/>
        </p:nvSpPr>
        <p:spPr>
          <a:xfrm>
            <a:off x="4562856" y="2029968"/>
            <a:ext cx="457200" cy="329184"/>
          </a:xfrm>
          <a:prstGeom prst="rect">
            <a:avLst/>
          </a:prstGeom>
          <a:noFill/>
          <a:ln/>
        </p:spPr>
        <p:txBody>
          <a:bodyPr wrap="square" lIns="0" tIns="0" rIns="0" bIns="0" rtlCol="0" anchor="ctr"/>
          <a:lstStyle/>
          <a:p>
            <a:pPr algn="ctr" indent="0" marL="0">
              <a:buNone/>
            </a:pPr>
            <a:r>
              <a:rPr lang="en-US" sz="2000" dirty="0">
                <a:solidFill>
                  <a:srgbClr val="9AA7B4"/>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2761488" y="3456432"/>
            <a:ext cx="2029968" cy="45720"/>
          </a:xfrm>
          <a:prstGeom prst="rect">
            <a:avLst/>
          </a:prstGeom>
          <a:solidFill>
            <a:srgbClr val="7AA33F"/>
          </a:solidFill>
          <a:ln w="12700">
            <a:solidFill>
              <a:srgbClr val="7AA33F"/>
            </a:solidFill>
            <a:prstDash val="solid"/>
          </a:ln>
        </p:spPr>
      </p:sp>
      <p:sp>
        <p:nvSpPr>
          <p:cNvPr id="13" name="Text 11"/>
          <p:cNvSpPr txBox="1"/>
          <p:nvPr/>
        </p:nvSpPr>
        <p:spPr>
          <a:xfrm>
            <a:off x="2761488" y="3611880"/>
            <a:ext cx="210312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Six routine actions buried in a dense UI</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The model must never judge who is allowed to act</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Success = fewer clicks and fewer inbound calls</a:t>
            </a:r>
            <a:endParaRPr lang="en-US" sz="1050" dirty="0"/>
          </a:p>
        </p:txBody>
      </p:sp>
      <p:sp>
        <p:nvSpPr>
          <p:cNvPr id="14" name="Shape 12"/>
          <p:cNvSpPr/>
          <p:nvPr/>
        </p:nvSpPr>
        <p:spPr>
          <a:xfrm>
            <a:off x="5184648" y="1389888"/>
            <a:ext cx="1609344" cy="1609344"/>
          </a:xfrm>
          <a:prstGeom prst="ellipse">
            <a:avLst/>
          </a:prstGeom>
          <a:solidFill>
            <a:srgbClr val="FFFFFF"/>
          </a:solidFill>
          <a:ln w="31750">
            <a:solidFill>
              <a:srgbClr val="C9A227"/>
            </a:solidFill>
            <a:prstDash val="solid"/>
          </a:ln>
        </p:spPr>
      </p:sp>
      <p:sp>
        <p:nvSpPr>
          <p:cNvPr id="15" name="Shape 13"/>
          <p:cNvSpPr/>
          <p:nvPr/>
        </p:nvSpPr>
        <p:spPr>
          <a:xfrm>
            <a:off x="5276088" y="1481328"/>
            <a:ext cx="1426464" cy="1426464"/>
          </a:xfrm>
          <a:prstGeom prst="ellipse">
            <a:avLst/>
          </a:prstGeom>
          <a:solidFill>
            <a:srgbClr val="2E7D5B"/>
          </a:solidFill>
          <a:ln w="12700">
            <a:solidFill>
              <a:srgbClr val="2E7D5B"/>
            </a:solidFill>
            <a:prstDash val="solid"/>
          </a:ln>
        </p:spPr>
      </p:sp>
      <p:sp>
        <p:nvSpPr>
          <p:cNvPr id="16" name="Text 14"/>
          <p:cNvSpPr txBox="1"/>
          <p:nvPr/>
        </p:nvSpPr>
        <p:spPr>
          <a:xfrm>
            <a:off x="5212080" y="1883664"/>
            <a:ext cx="1554480" cy="640080"/>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IDEATE  +</a:t>
            </a:r>
            <a:endParaRPr lang="en-US" sz="1150" dirty="0"/>
          </a:p>
          <a:p>
            <a:pPr algn="ctr" indent="0" marL="0">
              <a:buNone/>
            </a:pPr>
            <a:r>
              <a:rPr lang="en-US" sz="1150" b="1" spc="50" kern="0" dirty="0">
                <a:solidFill>
                  <a:srgbClr val="FFFFFF"/>
                </a:solidFill>
                <a:latin typeface="Calibri" pitchFamily="34" charset="0"/>
                <a:ea typeface="Calibri" pitchFamily="34" charset="-122"/>
                <a:cs typeface="Calibri" pitchFamily="34" charset="-120"/>
              </a:rPr>
              <a:t>PROTOTYPE</a:t>
            </a:r>
            <a:endParaRPr lang="en-US" sz="1150" dirty="0"/>
          </a:p>
        </p:txBody>
      </p:sp>
      <p:sp>
        <p:nvSpPr>
          <p:cNvPr id="17" name="Text 15"/>
          <p:cNvSpPr txBox="1"/>
          <p:nvPr/>
        </p:nvSpPr>
        <p:spPr>
          <a:xfrm>
            <a:off x="6775704" y="2029968"/>
            <a:ext cx="457200" cy="329184"/>
          </a:xfrm>
          <a:prstGeom prst="rect">
            <a:avLst/>
          </a:prstGeom>
          <a:noFill/>
          <a:ln/>
        </p:spPr>
        <p:txBody>
          <a:bodyPr wrap="square" lIns="0" tIns="0" rIns="0" bIns="0" rtlCol="0" anchor="ctr"/>
          <a:lstStyle/>
          <a:p>
            <a:pPr algn="ctr" indent="0" marL="0">
              <a:buNone/>
            </a:pPr>
            <a:r>
              <a:rPr lang="en-US" sz="2000" dirty="0">
                <a:solidFill>
                  <a:srgbClr val="9AA7B4"/>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5074920" y="3054096"/>
            <a:ext cx="1828800" cy="237744"/>
          </a:xfrm>
          <a:prstGeom prst="rect">
            <a:avLst/>
          </a:prstGeom>
          <a:noFill/>
          <a:ln/>
        </p:spPr>
        <p:txBody>
          <a:bodyPr wrap="square" lIns="0" tIns="0" rIns="0" bIns="0" rtlCol="0" anchor="ctr"/>
          <a:lstStyle/>
          <a:p>
            <a:pPr algn="ctr" indent="0" marL="0">
              <a:buNone/>
            </a:pPr>
            <a:r>
              <a:rPr lang="en-US" sz="1000" b="1" spc="80" kern="0" dirty="0">
                <a:solidFill>
                  <a:srgbClr val="8A6E17"/>
                </a:solidFill>
                <a:latin typeface="Calibri" pitchFamily="34" charset="0"/>
                <a:ea typeface="Calibri" pitchFamily="34" charset="-122"/>
                <a:cs typeface="Calibri" pitchFamily="34" charset="-120"/>
              </a:rPr>
              <a:t>WE ARE HERE</a:t>
            </a:r>
            <a:endParaRPr lang="en-US" sz="1000" dirty="0"/>
          </a:p>
        </p:txBody>
      </p:sp>
      <p:sp>
        <p:nvSpPr>
          <p:cNvPr id="19" name="Shape 17"/>
          <p:cNvSpPr/>
          <p:nvPr/>
        </p:nvSpPr>
        <p:spPr>
          <a:xfrm>
            <a:off x="4974336" y="3456432"/>
            <a:ext cx="2029968" cy="45720"/>
          </a:xfrm>
          <a:prstGeom prst="rect">
            <a:avLst/>
          </a:prstGeom>
          <a:solidFill>
            <a:srgbClr val="2E7D5B"/>
          </a:solidFill>
          <a:ln w="12700">
            <a:solidFill>
              <a:srgbClr val="2E7D5B"/>
            </a:solidFill>
            <a:prstDash val="solid"/>
          </a:ln>
        </p:spPr>
      </p:sp>
      <p:sp>
        <p:nvSpPr>
          <p:cNvPr id="20" name="Text 18"/>
          <p:cNvSpPr txBox="1"/>
          <p:nvPr/>
        </p:nvSpPr>
        <p:spPr>
          <a:xfrm>
            <a:off x="4974336" y="3611880"/>
            <a:ext cx="210312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A skill, not a standalone agent</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One skill, six tools, one guardrail layer</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Mock NetX360 screen and stubbed APIs</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Travel notice first — the hardest of the six</a:t>
            </a:r>
            <a:endParaRPr lang="en-US" sz="1050" dirty="0"/>
          </a:p>
        </p:txBody>
      </p:sp>
      <p:sp>
        <p:nvSpPr>
          <p:cNvPr id="21" name="Shape 19"/>
          <p:cNvSpPr/>
          <p:nvPr/>
        </p:nvSpPr>
        <p:spPr>
          <a:xfrm>
            <a:off x="7488936" y="1481328"/>
            <a:ext cx="1426464" cy="1426464"/>
          </a:xfrm>
          <a:prstGeom prst="ellipse">
            <a:avLst/>
          </a:prstGeom>
          <a:solidFill>
            <a:srgbClr val="2E5E8A"/>
          </a:solidFill>
          <a:ln w="12700">
            <a:solidFill>
              <a:srgbClr val="2E5E8A"/>
            </a:solidFill>
            <a:prstDash val="solid"/>
          </a:ln>
        </p:spPr>
      </p:sp>
      <p:sp>
        <p:nvSpPr>
          <p:cNvPr id="22" name="Text 20"/>
          <p:cNvSpPr txBox="1"/>
          <p:nvPr/>
        </p:nvSpPr>
        <p:spPr>
          <a:xfrm>
            <a:off x="7424928" y="1883664"/>
            <a:ext cx="1554480" cy="640080"/>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TEST</a:t>
            </a:r>
            <a:endParaRPr lang="en-US" sz="1150" dirty="0"/>
          </a:p>
        </p:txBody>
      </p:sp>
      <p:sp>
        <p:nvSpPr>
          <p:cNvPr id="23" name="Text 21"/>
          <p:cNvSpPr txBox="1"/>
          <p:nvPr/>
        </p:nvSpPr>
        <p:spPr>
          <a:xfrm>
            <a:off x="8988552" y="2029968"/>
            <a:ext cx="457200" cy="329184"/>
          </a:xfrm>
          <a:prstGeom prst="rect">
            <a:avLst/>
          </a:prstGeom>
          <a:noFill/>
          <a:ln/>
        </p:spPr>
        <p:txBody>
          <a:bodyPr wrap="square" lIns="0" tIns="0" rIns="0" bIns="0" rtlCol="0" anchor="ctr"/>
          <a:lstStyle/>
          <a:p>
            <a:pPr algn="ctr" indent="0" marL="0">
              <a:buNone/>
            </a:pPr>
            <a:r>
              <a:rPr lang="en-US" sz="2000" dirty="0">
                <a:solidFill>
                  <a:srgbClr val="9AA7B4"/>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7187184" y="3456432"/>
            <a:ext cx="2029968" cy="45720"/>
          </a:xfrm>
          <a:prstGeom prst="rect">
            <a:avLst/>
          </a:prstGeom>
          <a:solidFill>
            <a:srgbClr val="2E5E8A"/>
          </a:solidFill>
          <a:ln w="12700">
            <a:solidFill>
              <a:srgbClr val="2E5E8A"/>
            </a:solidFill>
            <a:prstDash val="solid"/>
          </a:ln>
        </p:spPr>
      </p:sp>
      <p:sp>
        <p:nvSpPr>
          <p:cNvPr id="25" name="Text 23"/>
          <p:cNvSpPr txBox="1"/>
          <p:nvPr/>
        </p:nvSpPr>
        <p:spPr>
          <a:xfrm>
            <a:off x="7187184" y="3611880"/>
            <a:ext cx="210312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The awkward cases: two clients with one name, not entitled, impossible dates</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Show Ben at the midpoint visit</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Check the confirmation wording with advisors</a:t>
            </a:r>
            <a:endParaRPr lang="en-US" sz="1050" dirty="0"/>
          </a:p>
        </p:txBody>
      </p:sp>
      <p:sp>
        <p:nvSpPr>
          <p:cNvPr id="26" name="Shape 24"/>
          <p:cNvSpPr/>
          <p:nvPr/>
        </p:nvSpPr>
        <p:spPr>
          <a:xfrm>
            <a:off x="9701784" y="1481328"/>
            <a:ext cx="1426464" cy="1426464"/>
          </a:xfrm>
          <a:prstGeom prst="ellipse">
            <a:avLst/>
          </a:prstGeom>
          <a:solidFill>
            <a:srgbClr val="14314F"/>
          </a:solidFill>
          <a:ln w="12700">
            <a:solidFill>
              <a:srgbClr val="14314F"/>
            </a:solidFill>
            <a:prstDash val="solid"/>
          </a:ln>
        </p:spPr>
      </p:sp>
      <p:sp>
        <p:nvSpPr>
          <p:cNvPr id="27" name="Text 25"/>
          <p:cNvSpPr txBox="1"/>
          <p:nvPr/>
        </p:nvSpPr>
        <p:spPr>
          <a:xfrm>
            <a:off x="9637776" y="1883664"/>
            <a:ext cx="1554480" cy="640080"/>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IMPLEMENT</a:t>
            </a:r>
            <a:endParaRPr lang="en-US" sz="1150" dirty="0"/>
          </a:p>
        </p:txBody>
      </p:sp>
      <p:sp>
        <p:nvSpPr>
          <p:cNvPr id="28" name="Shape 26"/>
          <p:cNvSpPr/>
          <p:nvPr/>
        </p:nvSpPr>
        <p:spPr>
          <a:xfrm>
            <a:off x="9400032" y="3456432"/>
            <a:ext cx="2029968" cy="45720"/>
          </a:xfrm>
          <a:prstGeom prst="rect">
            <a:avLst/>
          </a:prstGeom>
          <a:solidFill>
            <a:srgbClr val="14314F"/>
          </a:solidFill>
          <a:ln w="12700">
            <a:solidFill>
              <a:srgbClr val="14314F"/>
            </a:solidFill>
            <a:prstDash val="solid"/>
          </a:ln>
        </p:spPr>
      </p:sp>
      <p:sp>
        <p:nvSpPr>
          <p:cNvPr id="29" name="Text 27"/>
          <p:cNvSpPr txBox="1"/>
          <p:nvPr/>
        </p:nvSpPr>
        <p:spPr>
          <a:xfrm>
            <a:off x="9400032" y="3611880"/>
            <a:ext cx="210312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Swap the mocks for BNY’s entitlement service and real card APIs</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Skill file and schemas move across unchanged</a:t>
            </a:r>
            <a:endParaRPr lang="en-US" sz="1050" dirty="0"/>
          </a:p>
          <a:p>
            <a:pPr marL="342900" indent="-342900">
              <a:spcAft>
                <a:spcPts val="700"/>
              </a:spcAft>
              <a:buSzPct val="100000"/>
              <a:buChar char="•"/>
            </a:pPr>
            <a:r>
              <a:rPr lang="en-US" sz="1050" dirty="0">
                <a:solidFill>
                  <a:srgbClr val="3C4C5A"/>
                </a:solidFill>
                <a:latin typeface="Calibri" pitchFamily="34" charset="0"/>
                <a:ea typeface="Calibri" pitchFamily="34" charset="-122"/>
                <a:cs typeface="Calibri" pitchFamily="34" charset="-120"/>
              </a:rPr>
              <a:t>Gated by BNY’s AI approval process</a:t>
            </a:r>
            <a:endParaRPr lang="en-US" sz="1050" dirty="0"/>
          </a:p>
        </p:txBody>
      </p:sp>
      <p:sp>
        <p:nvSpPr>
          <p:cNvPr id="30" name="Text 28"/>
          <p:cNvSpPr txBox="1"/>
          <p:nvPr/>
        </p:nvSpPr>
        <p:spPr>
          <a:xfrm>
            <a:off x="548640" y="5897880"/>
            <a:ext cx="11064240" cy="27432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Discover and Describe are behind us. Today is about agreeing the architecture before we build — and correcting our assumptions.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The problem: too many steps for a 30-second job</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A client calls their advisor — “I’ve lost my wallet.” Here is what the advisor does while the client waits on the phone.</a:t>
            </a:r>
            <a:endParaRPr lang="en-US" sz="1400" dirty="0"/>
          </a:p>
        </p:txBody>
      </p:sp>
      <p:sp>
        <p:nvSpPr>
          <p:cNvPr id="4" name="Shape 2"/>
          <p:cNvSpPr/>
          <p:nvPr/>
        </p:nvSpPr>
        <p:spPr>
          <a:xfrm>
            <a:off x="548640" y="1600200"/>
            <a:ext cx="1371600" cy="914400"/>
          </a:xfrm>
          <a:prstGeom prst="roundRect">
            <a:avLst>
              <a:gd name="adj" fmla="val 8000"/>
            </a:avLst>
          </a:prstGeom>
          <a:solidFill>
            <a:srgbClr val="FFFFFF"/>
          </a:solidFill>
          <a:ln w="12700">
            <a:solidFill>
              <a:srgbClr val="C7D2DC"/>
            </a:solidFill>
            <a:prstDash val="solid"/>
          </a:ln>
        </p:spPr>
      </p:sp>
      <p:sp>
        <p:nvSpPr>
          <p:cNvPr id="5" name="Text 3"/>
          <p:cNvSpPr txBox="1"/>
          <p:nvPr/>
        </p:nvSpPr>
        <p:spPr>
          <a:xfrm>
            <a:off x="548640"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Search for</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the client</a:t>
            </a:r>
            <a:endParaRPr lang="en-US" sz="1050" dirty="0"/>
          </a:p>
        </p:txBody>
      </p:sp>
      <p:sp>
        <p:nvSpPr>
          <p:cNvPr id="6" name="Text 4"/>
          <p:cNvSpPr txBox="1"/>
          <p:nvPr/>
        </p:nvSpPr>
        <p:spPr>
          <a:xfrm>
            <a:off x="1947672"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093976" y="1600200"/>
            <a:ext cx="1371600" cy="914400"/>
          </a:xfrm>
          <a:prstGeom prst="roundRect">
            <a:avLst>
              <a:gd name="adj" fmla="val 8000"/>
            </a:avLst>
          </a:prstGeom>
          <a:solidFill>
            <a:srgbClr val="FFFFFF"/>
          </a:solidFill>
          <a:ln w="12700">
            <a:solidFill>
              <a:srgbClr val="C7D2DC"/>
            </a:solidFill>
            <a:prstDash val="solid"/>
          </a:ln>
        </p:spPr>
      </p:sp>
      <p:sp>
        <p:nvSpPr>
          <p:cNvPr id="8" name="Text 6"/>
          <p:cNvSpPr txBox="1"/>
          <p:nvPr/>
        </p:nvSpPr>
        <p:spPr>
          <a:xfrm>
            <a:off x="2093976"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Open the right</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account</a:t>
            </a:r>
            <a:endParaRPr lang="en-US" sz="1050" dirty="0"/>
          </a:p>
        </p:txBody>
      </p:sp>
      <p:sp>
        <p:nvSpPr>
          <p:cNvPr id="9" name="Text 7"/>
          <p:cNvSpPr txBox="1"/>
          <p:nvPr/>
        </p:nvSpPr>
        <p:spPr>
          <a:xfrm>
            <a:off x="3493008"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639312" y="1600200"/>
            <a:ext cx="1371600" cy="914400"/>
          </a:xfrm>
          <a:prstGeom prst="roundRect">
            <a:avLst>
              <a:gd name="adj" fmla="val 8000"/>
            </a:avLst>
          </a:prstGeom>
          <a:solidFill>
            <a:srgbClr val="FFFFFF"/>
          </a:solidFill>
          <a:ln w="12700">
            <a:solidFill>
              <a:srgbClr val="C7D2DC"/>
            </a:solidFill>
            <a:prstDash val="solid"/>
          </a:ln>
        </p:spPr>
      </p:sp>
      <p:sp>
        <p:nvSpPr>
          <p:cNvPr id="11" name="Text 9"/>
          <p:cNvSpPr txBox="1"/>
          <p:nvPr/>
        </p:nvSpPr>
        <p:spPr>
          <a:xfrm>
            <a:off x="3639312"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Find the AMA</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Suite area</a:t>
            </a:r>
            <a:endParaRPr lang="en-US" sz="1050" dirty="0"/>
          </a:p>
        </p:txBody>
      </p:sp>
      <p:sp>
        <p:nvSpPr>
          <p:cNvPr id="12" name="Text 10"/>
          <p:cNvSpPr txBox="1"/>
          <p:nvPr/>
        </p:nvSpPr>
        <p:spPr>
          <a:xfrm>
            <a:off x="5038344"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184648" y="1600200"/>
            <a:ext cx="1371600" cy="914400"/>
          </a:xfrm>
          <a:prstGeom prst="roundRect">
            <a:avLst>
              <a:gd name="adj" fmla="val 8000"/>
            </a:avLst>
          </a:prstGeom>
          <a:solidFill>
            <a:srgbClr val="FFFFFF"/>
          </a:solidFill>
          <a:ln w="12700">
            <a:solidFill>
              <a:srgbClr val="C7D2DC"/>
            </a:solidFill>
            <a:prstDash val="solid"/>
          </a:ln>
        </p:spPr>
      </p:sp>
      <p:sp>
        <p:nvSpPr>
          <p:cNvPr id="14" name="Text 12"/>
          <p:cNvSpPr txBox="1"/>
          <p:nvPr/>
        </p:nvSpPr>
        <p:spPr>
          <a:xfrm>
            <a:off x="5184648"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Open the card</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section</a:t>
            </a:r>
            <a:endParaRPr lang="en-US" sz="1050" dirty="0"/>
          </a:p>
        </p:txBody>
      </p:sp>
      <p:sp>
        <p:nvSpPr>
          <p:cNvPr id="15" name="Text 13"/>
          <p:cNvSpPr txBox="1"/>
          <p:nvPr/>
        </p:nvSpPr>
        <p:spPr>
          <a:xfrm>
            <a:off x="6583680"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729984" y="1600200"/>
            <a:ext cx="1371600" cy="914400"/>
          </a:xfrm>
          <a:prstGeom prst="roundRect">
            <a:avLst>
              <a:gd name="adj" fmla="val 8000"/>
            </a:avLst>
          </a:prstGeom>
          <a:solidFill>
            <a:srgbClr val="FFFFFF"/>
          </a:solidFill>
          <a:ln w="12700">
            <a:solidFill>
              <a:srgbClr val="C7D2DC"/>
            </a:solidFill>
            <a:prstDash val="solid"/>
          </a:ln>
        </p:spPr>
      </p:sp>
      <p:sp>
        <p:nvSpPr>
          <p:cNvPr id="17" name="Text 15"/>
          <p:cNvSpPr txBox="1"/>
          <p:nvPr/>
        </p:nvSpPr>
        <p:spPr>
          <a:xfrm>
            <a:off x="6729984"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Pick the right</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card</a:t>
            </a:r>
            <a:endParaRPr lang="en-US" sz="1050" dirty="0"/>
          </a:p>
        </p:txBody>
      </p:sp>
      <p:sp>
        <p:nvSpPr>
          <p:cNvPr id="18" name="Text 16"/>
          <p:cNvSpPr txBox="1"/>
          <p:nvPr/>
        </p:nvSpPr>
        <p:spPr>
          <a:xfrm>
            <a:off x="8129016"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275320" y="1600200"/>
            <a:ext cx="1371600" cy="914400"/>
          </a:xfrm>
          <a:prstGeom prst="roundRect">
            <a:avLst>
              <a:gd name="adj" fmla="val 8000"/>
            </a:avLst>
          </a:prstGeom>
          <a:solidFill>
            <a:srgbClr val="FFFFFF"/>
          </a:solidFill>
          <a:ln w="12700">
            <a:solidFill>
              <a:srgbClr val="C7D2DC"/>
            </a:solidFill>
            <a:prstDash val="solid"/>
          </a:ln>
        </p:spPr>
      </p:sp>
      <p:sp>
        <p:nvSpPr>
          <p:cNvPr id="20" name="Text 18"/>
          <p:cNvSpPr txBox="1"/>
          <p:nvPr/>
        </p:nvSpPr>
        <p:spPr>
          <a:xfrm>
            <a:off x="8275320"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Find the lock</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option</a:t>
            </a:r>
            <a:endParaRPr lang="en-US" sz="1050" dirty="0"/>
          </a:p>
        </p:txBody>
      </p:sp>
      <p:sp>
        <p:nvSpPr>
          <p:cNvPr id="21" name="Text 19"/>
          <p:cNvSpPr txBox="1"/>
          <p:nvPr/>
        </p:nvSpPr>
        <p:spPr>
          <a:xfrm>
            <a:off x="9674352" y="192024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820656" y="1600200"/>
            <a:ext cx="1371600" cy="914400"/>
          </a:xfrm>
          <a:prstGeom prst="roundRect">
            <a:avLst>
              <a:gd name="adj" fmla="val 8000"/>
            </a:avLst>
          </a:prstGeom>
          <a:solidFill>
            <a:srgbClr val="FFFFFF"/>
          </a:solidFill>
          <a:ln w="12700">
            <a:solidFill>
              <a:srgbClr val="C7D2DC"/>
            </a:solidFill>
            <a:prstDash val="solid"/>
          </a:ln>
        </p:spPr>
      </p:sp>
      <p:sp>
        <p:nvSpPr>
          <p:cNvPr id="23" name="Text 21"/>
          <p:cNvSpPr txBox="1"/>
          <p:nvPr/>
        </p:nvSpPr>
        <p:spPr>
          <a:xfrm>
            <a:off x="9820656" y="1691640"/>
            <a:ext cx="1371600" cy="731520"/>
          </a:xfrm>
          <a:prstGeom prst="rect">
            <a:avLst/>
          </a:prstGeom>
          <a:noFill/>
          <a:ln/>
        </p:spPr>
        <p:txBody>
          <a:bodyPr wrap="square" lIns="0" tIns="0" rIns="0" bIns="0" rtlCol="0" anchor="ctr"/>
          <a:lstStyle/>
          <a:p>
            <a:pPr algn="ctr" indent="0" marL="0">
              <a:buNone/>
            </a:pPr>
            <a:r>
              <a:rPr lang="en-US" sz="1050" dirty="0">
                <a:solidFill>
                  <a:srgbClr val="14314F"/>
                </a:solidFill>
                <a:latin typeface="Calibri" pitchFamily="34" charset="0"/>
                <a:ea typeface="Calibri" pitchFamily="34" charset="-122"/>
                <a:cs typeface="Calibri" pitchFamily="34" charset="-120"/>
              </a:rPr>
              <a:t>Fill the form,</a:t>
            </a:r>
            <a:endParaRPr lang="en-US" sz="1050" dirty="0"/>
          </a:p>
          <a:p>
            <a:pPr algn="ctr" indent="0" marL="0">
              <a:buNone/>
            </a:pPr>
            <a:r>
              <a:rPr lang="en-US" sz="1050" dirty="0">
                <a:solidFill>
                  <a:srgbClr val="14314F"/>
                </a:solidFill>
                <a:latin typeface="Calibri" pitchFamily="34" charset="0"/>
                <a:ea typeface="Calibri" pitchFamily="34" charset="-122"/>
                <a:cs typeface="Calibri" pitchFamily="34" charset="-120"/>
              </a:rPr>
              <a:t>submit</a:t>
            </a:r>
            <a:endParaRPr lang="en-US" sz="1050" dirty="0"/>
          </a:p>
        </p:txBody>
      </p:sp>
      <p:sp>
        <p:nvSpPr>
          <p:cNvPr id="24" name="Shape 22"/>
          <p:cNvSpPr/>
          <p:nvPr/>
        </p:nvSpPr>
        <p:spPr>
          <a:xfrm>
            <a:off x="548640" y="2743200"/>
            <a:ext cx="11064240" cy="566928"/>
          </a:xfrm>
          <a:prstGeom prst="roundRect">
            <a:avLst>
              <a:gd name="adj" fmla="val 12903"/>
            </a:avLst>
          </a:prstGeom>
          <a:solidFill>
            <a:srgbClr val="FBEEEE"/>
          </a:solidFill>
          <a:ln w="12700">
            <a:solidFill>
              <a:srgbClr val="E7C4C4"/>
            </a:solidFill>
            <a:prstDash val="solid"/>
          </a:ln>
        </p:spPr>
      </p:sp>
      <p:sp>
        <p:nvSpPr>
          <p:cNvPr id="25" name="Text 23"/>
          <p:cNvSpPr txBox="1"/>
          <p:nvPr/>
        </p:nvSpPr>
        <p:spPr>
          <a:xfrm>
            <a:off x="777240" y="2852928"/>
            <a:ext cx="10607040" cy="365760"/>
          </a:xfrm>
          <a:prstGeom prst="rect">
            <a:avLst/>
          </a:prstGeom>
          <a:noFill/>
          <a:ln/>
        </p:spPr>
        <p:txBody>
          <a:bodyPr wrap="square" lIns="0" tIns="0" rIns="0" bIns="0" rtlCol="0" anchor="ctr"/>
          <a:lstStyle/>
          <a:p>
            <a:pPr indent="0" marL="0">
              <a:buNone/>
            </a:pPr>
            <a:r>
              <a:rPr lang="en-US" sz="1400" b="1" dirty="0">
                <a:solidFill>
                  <a:srgbClr val="B03030"/>
                </a:solidFill>
                <a:latin typeface="Calibri" pitchFamily="34" charset="0"/>
                <a:ea typeface="Calibri" pitchFamily="34" charset="-122"/>
                <a:cs typeface="Calibri" pitchFamily="34" charset="-120"/>
              </a:rPr>
              <a:t>Several screens and menus for one routine action — and this is the friction that sends advisors to the call centre instead.</a:t>
            </a:r>
            <a:endParaRPr lang="en-US" sz="1400" dirty="0"/>
          </a:p>
        </p:txBody>
      </p:sp>
      <p:sp>
        <p:nvSpPr>
          <p:cNvPr id="26" name="Text 24"/>
          <p:cNvSpPr txBox="1"/>
          <p:nvPr/>
        </p:nvSpPr>
        <p:spPr>
          <a:xfrm>
            <a:off x="548640" y="3703320"/>
            <a:ext cx="3657600" cy="274320"/>
          </a:xfrm>
          <a:prstGeom prst="rect">
            <a:avLst/>
          </a:prstGeom>
          <a:noFill/>
          <a:ln/>
        </p:spPr>
        <p:txBody>
          <a:bodyPr wrap="square" lIns="0" tIns="0" rIns="0" bIns="0" rtlCol="0" anchor="ctr"/>
          <a:lstStyle/>
          <a:p>
            <a:pPr indent="0" marL="0">
              <a:buNone/>
            </a:pPr>
            <a:r>
              <a:rPr lang="en-US" sz="1200" b="1" spc="100" kern="0" dirty="0">
                <a:solidFill>
                  <a:srgbClr val="2E7D5B"/>
                </a:solidFill>
                <a:latin typeface="Calibri" pitchFamily="34" charset="0"/>
                <a:ea typeface="Calibri" pitchFamily="34" charset="-122"/>
                <a:cs typeface="Calibri" pitchFamily="34" charset="-120"/>
              </a:rPr>
              <a:t>WITH THIS PROJECT</a:t>
            </a:r>
            <a:endParaRPr lang="en-US" sz="1200" dirty="0"/>
          </a:p>
        </p:txBody>
      </p:sp>
      <p:sp>
        <p:nvSpPr>
          <p:cNvPr id="27" name="Shape 25"/>
          <p:cNvSpPr/>
          <p:nvPr/>
        </p:nvSpPr>
        <p:spPr>
          <a:xfrm>
            <a:off x="548640" y="4069080"/>
            <a:ext cx="6035040" cy="1143000"/>
          </a:xfrm>
          <a:prstGeom prst="roundRect">
            <a:avLst>
              <a:gd name="adj" fmla="val 8000"/>
            </a:avLst>
          </a:prstGeom>
          <a:solidFill>
            <a:srgbClr val="EAF1F7"/>
          </a:solidFill>
          <a:ln w="19050">
            <a:solidFill>
              <a:srgbClr val="14314F"/>
            </a:solidFill>
            <a:prstDash val="solid"/>
          </a:ln>
        </p:spPr>
      </p:sp>
      <p:sp>
        <p:nvSpPr>
          <p:cNvPr id="28" name="Text 26"/>
          <p:cNvSpPr txBox="1"/>
          <p:nvPr/>
        </p:nvSpPr>
        <p:spPr>
          <a:xfrm>
            <a:off x="822960" y="4297680"/>
            <a:ext cx="5486400" cy="365760"/>
          </a:xfrm>
          <a:prstGeom prst="rect">
            <a:avLst/>
          </a:prstGeom>
          <a:noFill/>
          <a:ln/>
        </p:spPr>
        <p:txBody>
          <a:bodyPr wrap="square" lIns="0" tIns="0" rIns="0" bIns="0" rtlCol="0" anchor="ctr"/>
          <a:lstStyle/>
          <a:p>
            <a:pPr indent="0" marL="0">
              <a:buNone/>
            </a:pPr>
            <a:r>
              <a:rPr lang="en-US" sz="1900" dirty="0">
                <a:solidFill>
                  <a:srgbClr val="14314F"/>
                </a:solidFill>
                <a:latin typeface="Calibri" pitchFamily="34" charset="0"/>
                <a:ea typeface="Calibri" pitchFamily="34" charset="-122"/>
                <a:cs typeface="Calibri" pitchFamily="34" charset="-120"/>
              </a:rPr>
              <a:t>“Lock Jane Miller’s debit card”</a:t>
            </a:r>
            <a:endParaRPr lang="en-US" sz="1900" dirty="0"/>
          </a:p>
        </p:txBody>
      </p:sp>
      <p:sp>
        <p:nvSpPr>
          <p:cNvPr id="29" name="Text 27"/>
          <p:cNvSpPr txBox="1"/>
          <p:nvPr/>
        </p:nvSpPr>
        <p:spPr>
          <a:xfrm>
            <a:off x="822960" y="4709160"/>
            <a:ext cx="548640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typed into the chat panel already sitting in NetX360</a:t>
            </a:r>
            <a:endParaRPr lang="en-US" sz="1200" dirty="0"/>
          </a:p>
        </p:txBody>
      </p:sp>
      <p:sp>
        <p:nvSpPr>
          <p:cNvPr id="30" name="Text 28"/>
          <p:cNvSpPr txBox="1"/>
          <p:nvPr/>
        </p:nvSpPr>
        <p:spPr>
          <a:xfrm>
            <a:off x="6812280" y="452628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7406640" y="4069080"/>
            <a:ext cx="4206240" cy="1143000"/>
          </a:xfrm>
          <a:prstGeom prst="roundRect">
            <a:avLst>
              <a:gd name="adj" fmla="val 8000"/>
            </a:avLst>
          </a:prstGeom>
          <a:solidFill>
            <a:srgbClr val="EEF4F2"/>
          </a:solidFill>
          <a:ln w="19050">
            <a:solidFill>
              <a:srgbClr val="2E7D5B"/>
            </a:solidFill>
            <a:prstDash val="solid"/>
          </a:ln>
        </p:spPr>
      </p:sp>
      <p:sp>
        <p:nvSpPr>
          <p:cNvPr id="32" name="Text 30"/>
          <p:cNvSpPr txBox="1"/>
          <p:nvPr/>
        </p:nvSpPr>
        <p:spPr>
          <a:xfrm>
            <a:off x="7406640" y="4315968"/>
            <a:ext cx="4206240" cy="365760"/>
          </a:xfrm>
          <a:prstGeom prst="rect">
            <a:avLst/>
          </a:prstGeom>
          <a:noFill/>
          <a:ln/>
        </p:spPr>
        <p:txBody>
          <a:bodyPr wrap="square" lIns="0" tIns="0" rIns="0" bIns="0" rtlCol="0" anchor="ctr"/>
          <a:lstStyle/>
          <a:p>
            <a:pPr algn="ctr" indent="0" marL="0">
              <a:buNone/>
            </a:pPr>
            <a:r>
              <a:rPr lang="en-US" sz="2100" b="1" dirty="0">
                <a:solidFill>
                  <a:srgbClr val="2E7D5B"/>
                </a:solidFill>
                <a:latin typeface="Cambria" pitchFamily="34" charset="0"/>
                <a:ea typeface="Cambria" pitchFamily="34" charset="-122"/>
                <a:cs typeface="Cambria" pitchFamily="34" charset="-120"/>
              </a:rPr>
              <a:t>Card locked</a:t>
            </a:r>
            <a:endParaRPr lang="en-US" sz="2100" dirty="0"/>
          </a:p>
        </p:txBody>
      </p:sp>
      <p:sp>
        <p:nvSpPr>
          <p:cNvPr id="33" name="Text 31"/>
          <p:cNvSpPr txBox="1"/>
          <p:nvPr/>
        </p:nvSpPr>
        <p:spPr>
          <a:xfrm>
            <a:off x="7406640" y="4727448"/>
            <a:ext cx="4206240" cy="274320"/>
          </a:xfrm>
          <a:prstGeom prst="rect">
            <a:avLst/>
          </a:prstGeom>
          <a:noFill/>
          <a:ln/>
        </p:spPr>
        <p:txBody>
          <a:bodyPr wrap="square" lIns="0" tIns="0" rIns="0" bIns="0" rtlCol="0" anchor="ctr"/>
          <a:lstStyle/>
          <a:p>
            <a:pPr algn="ctr" indent="0" marL="0">
              <a:buNone/>
            </a:pPr>
            <a:r>
              <a:rPr lang="en-US" sz="1200" dirty="0">
                <a:solidFill>
                  <a:srgbClr val="3C4C5A"/>
                </a:solidFill>
                <a:latin typeface="Calibri" pitchFamily="34" charset="0"/>
                <a:ea typeface="Calibri" pitchFamily="34" charset="-122"/>
                <a:cs typeface="Calibri" pitchFamily="34" charset="-120"/>
              </a:rPr>
              <a:t>while the client is still on the phone</a:t>
            </a:r>
            <a:endParaRPr lang="en-US" sz="1200" dirty="0"/>
          </a:p>
        </p:txBody>
      </p:sp>
      <p:sp>
        <p:nvSpPr>
          <p:cNvPr id="34" name="Text 32"/>
          <p:cNvSpPr txBox="1"/>
          <p:nvPr/>
        </p:nvSpPr>
        <p:spPr>
          <a:xfrm>
            <a:off x="548640" y="5623560"/>
            <a:ext cx="11064240" cy="274320"/>
          </a:xfrm>
          <a:prstGeom prst="rect">
            <a:avLst/>
          </a:prstGeom>
          <a:noFill/>
          <a:ln/>
        </p:spPr>
        <p:txBody>
          <a:bodyPr wrap="square" lIns="0" tIns="0" rIns="0" bIns="0" rtlCol="0" anchor="ctr"/>
          <a:lstStyle/>
          <a:p>
            <a:pPr indent="0" marL="0">
              <a:buNone/>
            </a:pPr>
            <a:r>
              <a:rPr lang="en-US" sz="1100" i="1" dirty="0">
                <a:solidFill>
                  <a:srgbClr val="8A94A0"/>
                </a:solidFill>
                <a:latin typeface="Calibri" pitchFamily="34" charset="0"/>
                <a:ea typeface="Calibri" pitchFamily="34" charset="-122"/>
                <a:cs typeface="Calibri" pitchFamily="34" charset="-120"/>
              </a:rPr>
              <a:t>Exact click counts to be confirmed from the screen recordings Ben is sending.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The solution: teach the chat one new job</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The advisor types a normal sentence. Four things happen behind it.</a:t>
            </a:r>
            <a:endParaRPr lang="en-US" sz="1400" dirty="0"/>
          </a:p>
        </p:txBody>
      </p:sp>
      <p:sp>
        <p:nvSpPr>
          <p:cNvPr id="4" name="Shape 2"/>
          <p:cNvSpPr/>
          <p:nvPr/>
        </p:nvSpPr>
        <p:spPr>
          <a:xfrm>
            <a:off x="3154680" y="1554480"/>
            <a:ext cx="2697480" cy="2697480"/>
          </a:xfrm>
          <a:prstGeom prst="roundRect">
            <a:avLst>
              <a:gd name="adj" fmla="val 3390"/>
            </a:avLst>
          </a:prstGeom>
          <a:solidFill>
            <a:srgbClr val="FDF8E8"/>
          </a:solidFill>
          <a:ln w="12700">
            <a:solidFill>
              <a:srgbClr val="C9A227"/>
            </a:solidFill>
            <a:prstDash val="dash"/>
          </a:ln>
        </p:spPr>
      </p:sp>
      <p:sp>
        <p:nvSpPr>
          <p:cNvPr id="5" name="Shape 3"/>
          <p:cNvSpPr/>
          <p:nvPr/>
        </p:nvSpPr>
        <p:spPr>
          <a:xfrm>
            <a:off x="6035040" y="1554480"/>
            <a:ext cx="5623560" cy="2697480"/>
          </a:xfrm>
          <a:prstGeom prst="roundRect">
            <a:avLst>
              <a:gd name="adj" fmla="val 3390"/>
            </a:avLst>
          </a:prstGeom>
          <a:solidFill>
            <a:srgbClr val="EEF4F2"/>
          </a:solidFill>
          <a:ln w="12700">
            <a:solidFill>
              <a:srgbClr val="2E7D5B"/>
            </a:solidFill>
            <a:prstDash val="dash"/>
          </a:ln>
        </p:spPr>
      </p:sp>
      <p:sp>
        <p:nvSpPr>
          <p:cNvPr id="6" name="Shape 4"/>
          <p:cNvSpPr/>
          <p:nvPr/>
        </p:nvSpPr>
        <p:spPr>
          <a:xfrm>
            <a:off x="548640" y="1691640"/>
            <a:ext cx="2514600" cy="2377440"/>
          </a:xfrm>
          <a:prstGeom prst="roundRect">
            <a:avLst>
              <a:gd name="adj" fmla="val 3846"/>
            </a:avLst>
          </a:prstGeom>
          <a:solidFill>
            <a:srgbClr val="14314F"/>
          </a:solidFill>
          <a:ln w="20320">
            <a:solidFill>
              <a:srgbClr val="14314F"/>
            </a:solidFill>
            <a:prstDash val="solid"/>
          </a:ln>
        </p:spPr>
      </p:sp>
      <p:sp>
        <p:nvSpPr>
          <p:cNvPr id="7" name="Shape 5"/>
          <p:cNvSpPr/>
          <p:nvPr/>
        </p:nvSpPr>
        <p:spPr>
          <a:xfrm>
            <a:off x="749808" y="1901952"/>
            <a:ext cx="329184" cy="329184"/>
          </a:xfrm>
          <a:prstGeom prst="ellipse">
            <a:avLst/>
          </a:prstGeom>
          <a:solidFill>
            <a:srgbClr val="C9A227"/>
          </a:solidFill>
          <a:ln/>
        </p:spPr>
      </p:sp>
      <p:sp>
        <p:nvSpPr>
          <p:cNvPr id="8" name="Text 6"/>
          <p:cNvSpPr txBox="1"/>
          <p:nvPr/>
        </p:nvSpPr>
        <p:spPr>
          <a:xfrm>
            <a:off x="749808" y="1947672"/>
            <a:ext cx="329184" cy="256032"/>
          </a:xfrm>
          <a:prstGeom prst="rect">
            <a:avLst/>
          </a:prstGeom>
          <a:noFill/>
          <a:ln/>
        </p:spPr>
        <p:txBody>
          <a:bodyPr wrap="square" lIns="0" tIns="0" rIns="0" bIns="0" rtlCol="0" anchor="ctr"/>
          <a:lstStyle/>
          <a:p>
            <a:pPr algn="ctr" indent="0" marL="0">
              <a:buNone/>
            </a:pPr>
            <a:r>
              <a:rPr lang="en-US" sz="1300" b="1" dirty="0">
                <a:solidFill>
                  <a:srgbClr val="14314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70432" y="1929384"/>
            <a:ext cx="18288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Advisor types</a:t>
            </a:r>
            <a:endParaRPr lang="en-US" sz="1500" dirty="0"/>
          </a:p>
        </p:txBody>
      </p:sp>
      <p:sp>
        <p:nvSpPr>
          <p:cNvPr id="10" name="Text 8"/>
          <p:cNvSpPr txBox="1"/>
          <p:nvPr/>
        </p:nvSpPr>
        <p:spPr>
          <a:xfrm>
            <a:off x="749808" y="2487168"/>
            <a:ext cx="2194560" cy="301752"/>
          </a:xfrm>
          <a:prstGeom prst="rect">
            <a:avLst/>
          </a:prstGeom>
          <a:noFill/>
          <a:ln/>
        </p:spPr>
        <p:txBody>
          <a:bodyPr wrap="square" lIns="0" tIns="0" rIns="0" bIns="0" rtlCol="0" anchor="ctr"/>
          <a:lstStyle/>
          <a:p>
            <a:pPr indent="0" marL="0">
              <a:buNone/>
            </a:pPr>
            <a:r>
              <a:rPr lang="en-US" sz="1250" dirty="0">
                <a:solidFill>
                  <a:srgbClr val="DBE4EC"/>
                </a:solidFill>
                <a:latin typeface="Calibri" pitchFamily="34" charset="0"/>
                <a:ea typeface="Calibri" pitchFamily="34" charset="-122"/>
                <a:cs typeface="Calibri" pitchFamily="34" charset="-120"/>
              </a:rPr>
              <a:t>“Lock Jane Miller’s</a:t>
            </a:r>
            <a:endParaRPr lang="en-US" sz="1250" dirty="0"/>
          </a:p>
        </p:txBody>
      </p:sp>
      <p:sp>
        <p:nvSpPr>
          <p:cNvPr id="11" name="Text 9"/>
          <p:cNvSpPr txBox="1"/>
          <p:nvPr/>
        </p:nvSpPr>
        <p:spPr>
          <a:xfrm>
            <a:off x="749808" y="2816352"/>
            <a:ext cx="2194560" cy="301752"/>
          </a:xfrm>
          <a:prstGeom prst="rect">
            <a:avLst/>
          </a:prstGeom>
          <a:noFill/>
          <a:ln/>
        </p:spPr>
        <p:txBody>
          <a:bodyPr wrap="square" lIns="0" tIns="0" rIns="0" bIns="0" rtlCol="0" anchor="ctr"/>
          <a:lstStyle/>
          <a:p>
            <a:pPr indent="0" marL="0">
              <a:buNone/>
            </a:pPr>
            <a:r>
              <a:rPr lang="en-US" sz="1250" dirty="0">
                <a:solidFill>
                  <a:srgbClr val="DBE4EC"/>
                </a:solidFill>
                <a:latin typeface="Calibri" pitchFamily="34" charset="0"/>
                <a:ea typeface="Calibri" pitchFamily="34" charset="-122"/>
                <a:cs typeface="Calibri" pitchFamily="34" charset="-120"/>
              </a:rPr>
              <a:t>debit card”</a:t>
            </a:r>
            <a:endParaRPr lang="en-US" sz="1250" dirty="0"/>
          </a:p>
        </p:txBody>
      </p:sp>
      <p:sp>
        <p:nvSpPr>
          <p:cNvPr id="12" name="Text 10"/>
          <p:cNvSpPr txBox="1"/>
          <p:nvPr/>
        </p:nvSpPr>
        <p:spPr>
          <a:xfrm>
            <a:off x="749808" y="3145536"/>
            <a:ext cx="2194560" cy="301752"/>
          </a:xfrm>
          <a:prstGeom prst="rect">
            <a:avLst/>
          </a:prstGeom>
          <a:noFill/>
          <a:ln/>
        </p:spPr>
        <p:txBody>
          <a:bodyPr wrap="square" lIns="0" tIns="0" rIns="0" bIns="0" rtlCol="0" anchor="ctr"/>
          <a:lstStyle/>
          <a:p>
            <a:pPr indent="0" marL="0">
              <a:buNone/>
            </a:pPr>
            <a:r>
              <a:rPr lang="en-US" sz="1250" dirty="0">
                <a:solidFill>
                  <a:srgbClr val="DBE4EC"/>
                </a:solidFill>
                <a:latin typeface="Calibri" pitchFamily="34" charset="0"/>
                <a:ea typeface="Calibri" pitchFamily="34" charset="-122"/>
                <a:cs typeface="Calibri" pitchFamily="34" charset="-120"/>
              </a:rPr>
              <a:t>in the NetX360 chat</a:t>
            </a:r>
            <a:endParaRPr lang="en-US" sz="1250" dirty="0"/>
          </a:p>
        </p:txBody>
      </p:sp>
      <p:sp>
        <p:nvSpPr>
          <p:cNvPr id="13" name="Shape 11"/>
          <p:cNvSpPr/>
          <p:nvPr/>
        </p:nvSpPr>
        <p:spPr>
          <a:xfrm>
            <a:off x="3337560" y="1691640"/>
            <a:ext cx="2514600" cy="2377440"/>
          </a:xfrm>
          <a:prstGeom prst="roundRect">
            <a:avLst>
              <a:gd name="adj" fmla="val 3846"/>
            </a:avLst>
          </a:prstGeom>
          <a:solidFill>
            <a:srgbClr val="FFFFFF"/>
          </a:solidFill>
          <a:ln w="20320">
            <a:solidFill>
              <a:srgbClr val="C9A227"/>
            </a:solidFill>
            <a:prstDash val="solid"/>
          </a:ln>
        </p:spPr>
      </p:sp>
      <p:sp>
        <p:nvSpPr>
          <p:cNvPr id="14" name="Shape 12"/>
          <p:cNvSpPr/>
          <p:nvPr/>
        </p:nvSpPr>
        <p:spPr>
          <a:xfrm>
            <a:off x="3538728" y="1901952"/>
            <a:ext cx="329184" cy="329184"/>
          </a:xfrm>
          <a:prstGeom prst="ellipse">
            <a:avLst/>
          </a:prstGeom>
          <a:solidFill>
            <a:srgbClr val="C9A227"/>
          </a:solidFill>
          <a:ln/>
        </p:spPr>
      </p:sp>
      <p:sp>
        <p:nvSpPr>
          <p:cNvPr id="15" name="Text 13"/>
          <p:cNvSpPr txBox="1"/>
          <p:nvPr/>
        </p:nvSpPr>
        <p:spPr>
          <a:xfrm>
            <a:off x="3538728" y="1947672"/>
            <a:ext cx="329184"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3959352" y="1929384"/>
            <a:ext cx="1828800" cy="292608"/>
          </a:xfrm>
          <a:prstGeom prst="rect">
            <a:avLst/>
          </a:prstGeom>
          <a:noFill/>
          <a:ln/>
        </p:spPr>
        <p:txBody>
          <a:bodyPr wrap="square" lIns="0" tIns="0" rIns="0" bIns="0" rtlCol="0" anchor="ctr"/>
          <a:lstStyle/>
          <a:p>
            <a:pPr indent="0" marL="0">
              <a:buNone/>
            </a:pPr>
            <a:r>
              <a:rPr lang="en-US" sz="1500" b="1" dirty="0">
                <a:solidFill>
                  <a:srgbClr val="14314F"/>
                </a:solidFill>
                <a:latin typeface="Cambria" pitchFamily="34" charset="0"/>
                <a:ea typeface="Cambria" pitchFamily="34" charset="-122"/>
                <a:cs typeface="Cambria" pitchFamily="34" charset="-120"/>
              </a:rPr>
              <a:t>Skill reads it</a:t>
            </a:r>
            <a:endParaRPr lang="en-US" sz="1500" dirty="0"/>
          </a:p>
        </p:txBody>
      </p:sp>
      <p:sp>
        <p:nvSpPr>
          <p:cNvPr id="17" name="Text 15"/>
          <p:cNvSpPr txBox="1"/>
          <p:nvPr/>
        </p:nvSpPr>
        <p:spPr>
          <a:xfrm>
            <a:off x="3538728" y="2487168"/>
            <a:ext cx="2194560" cy="301752"/>
          </a:xfrm>
          <a:prstGeom prst="rect">
            <a:avLst/>
          </a:prstGeom>
          <a:noFill/>
          <a:ln/>
        </p:spPr>
        <p:txBody>
          <a:bodyPr wrap="square" lIns="0" tIns="0" rIns="0" bIns="0" rtlCol="0" anchor="ctr"/>
          <a:lstStyle/>
          <a:p>
            <a:pPr indent="0" marL="0">
              <a:buNone/>
            </a:pPr>
            <a:r>
              <a:rPr lang="en-US" sz="1250" dirty="0">
                <a:solidFill>
                  <a:srgbClr val="3C4C5A"/>
                </a:solidFill>
                <a:latin typeface="Calibri" pitchFamily="34" charset="0"/>
                <a:ea typeface="Calibri" pitchFamily="34" charset="-122"/>
                <a:cs typeface="Calibri" pitchFamily="34" charset="-120"/>
              </a:rPr>
              <a:t>Extracts the intent</a:t>
            </a:r>
            <a:endParaRPr lang="en-US" sz="1250" dirty="0"/>
          </a:p>
        </p:txBody>
      </p:sp>
      <p:sp>
        <p:nvSpPr>
          <p:cNvPr id="18" name="Text 16"/>
          <p:cNvSpPr txBox="1"/>
          <p:nvPr/>
        </p:nvSpPr>
        <p:spPr>
          <a:xfrm>
            <a:off x="3538728" y="2816352"/>
            <a:ext cx="2194560" cy="301752"/>
          </a:xfrm>
          <a:prstGeom prst="rect">
            <a:avLst/>
          </a:prstGeom>
          <a:noFill/>
          <a:ln/>
        </p:spPr>
        <p:txBody>
          <a:bodyPr wrap="square" lIns="0" tIns="0" rIns="0" bIns="0"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lock_card</a:t>
            </a:r>
            <a:endParaRPr lang="en-US" sz="1300" dirty="0"/>
          </a:p>
        </p:txBody>
      </p:sp>
      <p:sp>
        <p:nvSpPr>
          <p:cNvPr id="19" name="Text 17"/>
          <p:cNvSpPr txBox="1"/>
          <p:nvPr/>
        </p:nvSpPr>
        <p:spPr>
          <a:xfrm>
            <a:off x="3538728" y="3145536"/>
            <a:ext cx="2194560" cy="301752"/>
          </a:xfrm>
          <a:prstGeom prst="rect">
            <a:avLst/>
          </a:prstGeom>
          <a:noFill/>
          <a:ln/>
        </p:spPr>
        <p:txBody>
          <a:bodyPr wrap="square" lIns="0" tIns="0" rIns="0" bIns="0" rtlCol="0" anchor="ctr"/>
          <a:lstStyle/>
          <a:p>
            <a:pPr indent="0" marL="0">
              <a:buNone/>
            </a:pPr>
            <a:r>
              <a:rPr lang="en-US" sz="1250" b="1" dirty="0">
                <a:solidFill>
                  <a:srgbClr val="C9A227"/>
                </a:solidFill>
                <a:latin typeface="Calibri" pitchFamily="34" charset="0"/>
                <a:ea typeface="Calibri" pitchFamily="34" charset="-122"/>
                <a:cs typeface="Calibri" pitchFamily="34" charset="-120"/>
              </a:rPr>
              <a:t>+ client parameter</a:t>
            </a:r>
            <a:endParaRPr lang="en-US" sz="1250" dirty="0"/>
          </a:p>
        </p:txBody>
      </p:sp>
      <p:sp>
        <p:nvSpPr>
          <p:cNvPr id="20" name="Shape 18"/>
          <p:cNvSpPr/>
          <p:nvPr/>
        </p:nvSpPr>
        <p:spPr>
          <a:xfrm>
            <a:off x="6217920" y="1691640"/>
            <a:ext cx="2514600" cy="2377440"/>
          </a:xfrm>
          <a:prstGeom prst="roundRect">
            <a:avLst>
              <a:gd name="adj" fmla="val 3846"/>
            </a:avLst>
          </a:prstGeom>
          <a:solidFill>
            <a:srgbClr val="FFFFFF"/>
          </a:solidFill>
          <a:ln w="20320">
            <a:solidFill>
              <a:srgbClr val="2E7D5B"/>
            </a:solidFill>
            <a:prstDash val="solid"/>
          </a:ln>
        </p:spPr>
      </p:sp>
      <p:sp>
        <p:nvSpPr>
          <p:cNvPr id="21" name="Shape 19"/>
          <p:cNvSpPr/>
          <p:nvPr/>
        </p:nvSpPr>
        <p:spPr>
          <a:xfrm>
            <a:off x="6419088" y="1901952"/>
            <a:ext cx="329184" cy="329184"/>
          </a:xfrm>
          <a:prstGeom prst="ellipse">
            <a:avLst/>
          </a:prstGeom>
          <a:solidFill>
            <a:srgbClr val="2E7D5B"/>
          </a:solidFill>
          <a:ln/>
        </p:spPr>
      </p:sp>
      <p:sp>
        <p:nvSpPr>
          <p:cNvPr id="22" name="Text 20"/>
          <p:cNvSpPr txBox="1"/>
          <p:nvPr/>
        </p:nvSpPr>
        <p:spPr>
          <a:xfrm>
            <a:off x="6419088" y="1947672"/>
            <a:ext cx="329184"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6839712" y="1929384"/>
            <a:ext cx="1828800" cy="292608"/>
          </a:xfrm>
          <a:prstGeom prst="rect">
            <a:avLst/>
          </a:prstGeom>
          <a:noFill/>
          <a:ln/>
        </p:spPr>
        <p:txBody>
          <a:bodyPr wrap="square" lIns="0" tIns="0" rIns="0" bIns="0" rtlCol="0" anchor="ctr"/>
          <a:lstStyle/>
          <a:p>
            <a:pPr indent="0" marL="0">
              <a:buNone/>
            </a:pPr>
            <a:r>
              <a:rPr lang="en-US" sz="1500" b="1" dirty="0">
                <a:solidFill>
                  <a:srgbClr val="14314F"/>
                </a:solidFill>
                <a:latin typeface="Cambria" pitchFamily="34" charset="0"/>
                <a:ea typeface="Cambria" pitchFamily="34" charset="-122"/>
                <a:cs typeface="Cambria" pitchFamily="34" charset="-120"/>
              </a:rPr>
              <a:t>Entitlement check</a:t>
            </a:r>
            <a:endParaRPr lang="en-US" sz="1500" dirty="0"/>
          </a:p>
        </p:txBody>
      </p:sp>
      <p:sp>
        <p:nvSpPr>
          <p:cNvPr id="24" name="Text 22"/>
          <p:cNvSpPr txBox="1"/>
          <p:nvPr/>
        </p:nvSpPr>
        <p:spPr>
          <a:xfrm>
            <a:off x="6419088" y="2487168"/>
            <a:ext cx="2194560" cy="301752"/>
          </a:xfrm>
          <a:prstGeom prst="rect">
            <a:avLst/>
          </a:prstGeom>
          <a:noFill/>
          <a:ln/>
        </p:spPr>
        <p:txBody>
          <a:bodyPr wrap="square" lIns="0" tIns="0" rIns="0" bIns="0" rtlCol="0" anchor="ctr"/>
          <a:lstStyle/>
          <a:p>
            <a:pPr indent="0" marL="0">
              <a:buNone/>
            </a:pPr>
            <a:r>
              <a:rPr lang="en-US" sz="1250" dirty="0">
                <a:solidFill>
                  <a:srgbClr val="3C4C5A"/>
                </a:solidFill>
                <a:latin typeface="Calibri" pitchFamily="34" charset="0"/>
                <a:ea typeface="Calibri" pitchFamily="34" charset="-122"/>
                <a:cs typeface="Calibri" pitchFamily="34" charset="-120"/>
              </a:rPr>
              <a:t>Is this account the</a:t>
            </a:r>
            <a:endParaRPr lang="en-US" sz="1250" dirty="0"/>
          </a:p>
        </p:txBody>
      </p:sp>
      <p:sp>
        <p:nvSpPr>
          <p:cNvPr id="25" name="Text 23"/>
          <p:cNvSpPr txBox="1"/>
          <p:nvPr/>
        </p:nvSpPr>
        <p:spPr>
          <a:xfrm>
            <a:off x="6419088" y="2816352"/>
            <a:ext cx="2194560" cy="301752"/>
          </a:xfrm>
          <a:prstGeom prst="rect">
            <a:avLst/>
          </a:prstGeom>
          <a:noFill/>
          <a:ln/>
        </p:spPr>
        <p:txBody>
          <a:bodyPr wrap="square" lIns="0" tIns="0" rIns="0" bIns="0" rtlCol="0" anchor="ctr"/>
          <a:lstStyle/>
          <a:p>
            <a:pPr indent="0" marL="0">
              <a:buNone/>
            </a:pPr>
            <a:r>
              <a:rPr lang="en-US" sz="1250" dirty="0">
                <a:solidFill>
                  <a:srgbClr val="3C4C5A"/>
                </a:solidFill>
                <a:latin typeface="Calibri" pitchFamily="34" charset="0"/>
                <a:ea typeface="Calibri" pitchFamily="34" charset="-122"/>
                <a:cs typeface="Calibri" pitchFamily="34" charset="-120"/>
              </a:rPr>
              <a:t>advisor’s to act on?</a:t>
            </a:r>
            <a:endParaRPr lang="en-US" sz="1250" dirty="0"/>
          </a:p>
        </p:txBody>
      </p:sp>
      <p:sp>
        <p:nvSpPr>
          <p:cNvPr id="26" name="Text 24"/>
          <p:cNvSpPr txBox="1"/>
          <p:nvPr/>
        </p:nvSpPr>
        <p:spPr>
          <a:xfrm>
            <a:off x="6419088" y="3145536"/>
            <a:ext cx="2194560" cy="301752"/>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A yes / no lookup</a:t>
            </a:r>
            <a:endParaRPr lang="en-US" sz="1250" dirty="0"/>
          </a:p>
        </p:txBody>
      </p:sp>
      <p:sp>
        <p:nvSpPr>
          <p:cNvPr id="27" name="Shape 25"/>
          <p:cNvSpPr/>
          <p:nvPr/>
        </p:nvSpPr>
        <p:spPr>
          <a:xfrm>
            <a:off x="8915400" y="1691640"/>
            <a:ext cx="2514600" cy="2377440"/>
          </a:xfrm>
          <a:prstGeom prst="roundRect">
            <a:avLst>
              <a:gd name="adj" fmla="val 3846"/>
            </a:avLst>
          </a:prstGeom>
          <a:solidFill>
            <a:srgbClr val="FFFFFF"/>
          </a:solidFill>
          <a:ln w="20320">
            <a:solidFill>
              <a:srgbClr val="2E7D5B"/>
            </a:solidFill>
            <a:prstDash val="solid"/>
          </a:ln>
        </p:spPr>
      </p:sp>
      <p:sp>
        <p:nvSpPr>
          <p:cNvPr id="28" name="Shape 26"/>
          <p:cNvSpPr/>
          <p:nvPr/>
        </p:nvSpPr>
        <p:spPr>
          <a:xfrm>
            <a:off x="9116568" y="1901952"/>
            <a:ext cx="329184" cy="329184"/>
          </a:xfrm>
          <a:prstGeom prst="ellipse">
            <a:avLst/>
          </a:prstGeom>
          <a:solidFill>
            <a:srgbClr val="2E7D5B"/>
          </a:solidFill>
          <a:ln/>
        </p:spPr>
      </p:sp>
      <p:sp>
        <p:nvSpPr>
          <p:cNvPr id="29" name="Text 27"/>
          <p:cNvSpPr txBox="1"/>
          <p:nvPr/>
        </p:nvSpPr>
        <p:spPr>
          <a:xfrm>
            <a:off x="9116568" y="1947672"/>
            <a:ext cx="329184"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txBox="1"/>
          <p:nvPr/>
        </p:nvSpPr>
        <p:spPr>
          <a:xfrm>
            <a:off x="9537192" y="1929384"/>
            <a:ext cx="1828800" cy="292608"/>
          </a:xfrm>
          <a:prstGeom prst="rect">
            <a:avLst/>
          </a:prstGeom>
          <a:noFill/>
          <a:ln/>
        </p:spPr>
        <p:txBody>
          <a:bodyPr wrap="square" lIns="0" tIns="0" rIns="0" bIns="0" rtlCol="0" anchor="ctr"/>
          <a:lstStyle/>
          <a:p>
            <a:pPr indent="0" marL="0">
              <a:buNone/>
            </a:pPr>
            <a:r>
              <a:rPr lang="en-US" sz="1500" b="1" dirty="0">
                <a:solidFill>
                  <a:srgbClr val="14314F"/>
                </a:solidFill>
                <a:latin typeface="Cambria" pitchFamily="34" charset="0"/>
                <a:ea typeface="Cambria" pitchFamily="34" charset="-122"/>
                <a:cs typeface="Cambria" pitchFamily="34" charset="-120"/>
              </a:rPr>
              <a:t>API call runs</a:t>
            </a:r>
            <a:endParaRPr lang="en-US" sz="1500" dirty="0"/>
          </a:p>
        </p:txBody>
      </p:sp>
      <p:sp>
        <p:nvSpPr>
          <p:cNvPr id="31" name="Text 29"/>
          <p:cNvSpPr txBox="1"/>
          <p:nvPr/>
        </p:nvSpPr>
        <p:spPr>
          <a:xfrm>
            <a:off x="9116568" y="2487168"/>
            <a:ext cx="2194560" cy="301752"/>
          </a:xfrm>
          <a:prstGeom prst="rect">
            <a:avLst/>
          </a:prstGeom>
          <a:noFill/>
          <a:ln/>
        </p:spPr>
        <p:txBody>
          <a:bodyPr wrap="square" lIns="0" tIns="0" rIns="0" bIns="0" rtlCol="0" anchor="ctr"/>
          <a:lstStyle/>
          <a:p>
            <a:pPr indent="0" marL="0">
              <a:buNone/>
            </a:pPr>
            <a:r>
              <a:rPr lang="en-US" sz="1250" dirty="0">
                <a:solidFill>
                  <a:srgbClr val="3C4C5A"/>
                </a:solidFill>
                <a:latin typeface="Calibri" pitchFamily="34" charset="0"/>
                <a:ea typeface="Calibri" pitchFamily="34" charset="-122"/>
                <a:cs typeface="Calibri" pitchFamily="34" charset="-120"/>
              </a:rPr>
              <a:t>Calls the existing</a:t>
            </a:r>
            <a:endParaRPr lang="en-US" sz="1250" dirty="0"/>
          </a:p>
        </p:txBody>
      </p:sp>
      <p:sp>
        <p:nvSpPr>
          <p:cNvPr id="32" name="Text 30"/>
          <p:cNvSpPr txBox="1"/>
          <p:nvPr/>
        </p:nvSpPr>
        <p:spPr>
          <a:xfrm>
            <a:off x="9116568" y="2816352"/>
            <a:ext cx="2194560" cy="301752"/>
          </a:xfrm>
          <a:prstGeom prst="rect">
            <a:avLst/>
          </a:prstGeom>
          <a:noFill/>
          <a:ln/>
        </p:spPr>
        <p:txBody>
          <a:bodyPr wrap="square" lIns="0" tIns="0" rIns="0" bIns="0" rtlCol="0" anchor="ctr"/>
          <a:lstStyle/>
          <a:p>
            <a:pPr indent="0" marL="0">
              <a:buNone/>
            </a:pPr>
            <a:r>
              <a:rPr lang="en-US" sz="1300" b="1" dirty="0">
                <a:solidFill>
                  <a:srgbClr val="2E7D5B"/>
                </a:solidFill>
                <a:latin typeface="Courier New" pitchFamily="34" charset="0"/>
                <a:ea typeface="Courier New" pitchFamily="34" charset="-122"/>
                <a:cs typeface="Courier New" pitchFamily="34" charset="-120"/>
              </a:rPr>
              <a:t>lock_card API</a:t>
            </a:r>
            <a:endParaRPr lang="en-US" sz="1300" dirty="0"/>
          </a:p>
        </p:txBody>
      </p:sp>
      <p:sp>
        <p:nvSpPr>
          <p:cNvPr id="33" name="Text 31"/>
          <p:cNvSpPr txBox="1"/>
          <p:nvPr/>
        </p:nvSpPr>
        <p:spPr>
          <a:xfrm>
            <a:off x="9116568" y="3145536"/>
            <a:ext cx="2194560" cy="301752"/>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 writes the audit log</a:t>
            </a:r>
            <a:endParaRPr lang="en-US" sz="1250" dirty="0"/>
          </a:p>
        </p:txBody>
      </p:sp>
      <p:sp>
        <p:nvSpPr>
          <p:cNvPr id="34" name="Text 32"/>
          <p:cNvSpPr txBox="1"/>
          <p:nvPr/>
        </p:nvSpPr>
        <p:spPr>
          <a:xfrm>
            <a:off x="3127248" y="274320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35" name="Text 33"/>
          <p:cNvSpPr txBox="1"/>
          <p:nvPr/>
        </p:nvSpPr>
        <p:spPr>
          <a:xfrm>
            <a:off x="5961888" y="274320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686800" y="2743200"/>
            <a:ext cx="274320" cy="274320"/>
          </a:xfrm>
          <a:prstGeom prst="rect">
            <a:avLst/>
          </a:prstGeom>
          <a:noFill/>
          <a:ln/>
        </p:spPr>
        <p:txBody>
          <a:bodyPr wrap="square" lIns="0" tIns="0" rIns="0" bIns="0" rtlCol="0" anchor="ctr"/>
          <a:lstStyle/>
          <a:p>
            <a:pPr algn="ctr" indent="0" marL="0">
              <a:buNone/>
            </a:pPr>
            <a:r>
              <a:rPr lang="en-US" sz="2000" dirty="0">
                <a:solidFill>
                  <a:srgbClr val="7E8D9B"/>
                </a:solidFill>
                <a:latin typeface="Calibri" pitchFamily="34" charset="0"/>
                <a:ea typeface="Calibri" pitchFamily="34" charset="-122"/>
                <a:cs typeface="Calibri" pitchFamily="34" charset="-120"/>
              </a:rPr>
              <a:t>→</a:t>
            </a:r>
            <a:endParaRPr lang="en-US" sz="2000" dirty="0"/>
          </a:p>
        </p:txBody>
      </p:sp>
      <p:sp>
        <p:nvSpPr>
          <p:cNvPr id="37" name="Text 35"/>
          <p:cNvSpPr txBox="1"/>
          <p:nvPr/>
        </p:nvSpPr>
        <p:spPr>
          <a:xfrm>
            <a:off x="3154680" y="4297680"/>
            <a:ext cx="2697480" cy="274320"/>
          </a:xfrm>
          <a:prstGeom prst="rect">
            <a:avLst/>
          </a:prstGeom>
          <a:noFill/>
          <a:ln/>
        </p:spPr>
        <p:txBody>
          <a:bodyPr wrap="square" lIns="0" tIns="0" rIns="0" bIns="0" rtlCol="0" anchor="ctr"/>
          <a:lstStyle/>
          <a:p>
            <a:pPr algn="ctr" indent="0" marL="0">
              <a:buNone/>
            </a:pPr>
            <a:r>
              <a:rPr lang="en-US" sz="1300" b="1" dirty="0">
                <a:solidFill>
                  <a:srgbClr val="A5851F"/>
                </a:solidFill>
                <a:latin typeface="Calibri" pitchFamily="34" charset="0"/>
                <a:ea typeface="Calibri" pitchFamily="34" charset="-122"/>
                <a:cs typeface="Calibri" pitchFamily="34" charset="-120"/>
              </a:rPr>
              <a:t>the only place AI is used</a:t>
            </a:r>
            <a:endParaRPr lang="en-US" sz="1300" dirty="0"/>
          </a:p>
        </p:txBody>
      </p:sp>
      <p:sp>
        <p:nvSpPr>
          <p:cNvPr id="38" name="Text 36"/>
          <p:cNvSpPr txBox="1"/>
          <p:nvPr/>
        </p:nvSpPr>
        <p:spPr>
          <a:xfrm>
            <a:off x="6035040" y="4297680"/>
            <a:ext cx="5623560" cy="274320"/>
          </a:xfrm>
          <a:prstGeom prst="rect">
            <a:avLst/>
          </a:prstGeom>
          <a:noFill/>
          <a:ln/>
        </p:spPr>
        <p:txBody>
          <a:bodyPr wrap="square" lIns="0" tIns="0" rIns="0" bIns="0" rtlCol="0" anchor="ctr"/>
          <a:lstStyle/>
          <a:p>
            <a:pPr algn="ctr" indent="0" marL="0">
              <a:buNone/>
            </a:pPr>
            <a:r>
              <a:rPr lang="en-US" sz="1300" b="1" dirty="0">
                <a:solidFill>
                  <a:srgbClr val="2E7D5B"/>
                </a:solidFill>
                <a:latin typeface="Calibri" pitchFamily="34" charset="0"/>
                <a:ea typeface="Calibri" pitchFamily="34" charset="-122"/>
                <a:cs typeface="Calibri" pitchFamily="34" charset="-120"/>
              </a:rPr>
              <a:t>plain code — no AI involved</a:t>
            </a:r>
            <a:endParaRPr lang="en-US" sz="1300" dirty="0"/>
          </a:p>
        </p:txBody>
      </p:sp>
      <p:sp>
        <p:nvSpPr>
          <p:cNvPr id="39" name="Shape 37"/>
          <p:cNvSpPr/>
          <p:nvPr/>
        </p:nvSpPr>
        <p:spPr>
          <a:xfrm>
            <a:off x="2743200" y="4892040"/>
            <a:ext cx="6675120" cy="594360"/>
          </a:xfrm>
          <a:prstGeom prst="roundRect">
            <a:avLst>
              <a:gd name="adj" fmla="val 15385"/>
            </a:avLst>
          </a:prstGeom>
          <a:solidFill>
            <a:srgbClr val="F2F5F8"/>
          </a:solidFill>
          <a:ln w="12700">
            <a:solidFill>
              <a:srgbClr val="C7D2DC"/>
            </a:solidFill>
            <a:prstDash val="solid"/>
          </a:ln>
        </p:spPr>
      </p:sp>
      <p:sp>
        <p:nvSpPr>
          <p:cNvPr id="40" name="Text 38"/>
          <p:cNvSpPr txBox="1"/>
          <p:nvPr/>
        </p:nvSpPr>
        <p:spPr>
          <a:xfrm>
            <a:off x="2743200" y="5029200"/>
            <a:ext cx="6675120" cy="329184"/>
          </a:xfrm>
          <a:prstGeom prst="rect">
            <a:avLst/>
          </a:prstGeom>
          <a:noFill/>
          <a:ln/>
        </p:spPr>
        <p:txBody>
          <a:bodyPr wrap="square" lIns="0" tIns="0" rIns="0" bIns="0" rtlCol="0" anchor="ctr"/>
          <a:lstStyle/>
          <a:p>
            <a:pPr algn="ctr" indent="0" marL="0">
              <a:buNone/>
            </a:pPr>
            <a:r>
              <a:rPr lang="en-US" sz="1400" dirty="0">
                <a:solidFill>
                  <a:srgbClr val="3C4C5A"/>
                </a:solidFill>
                <a:latin typeface="Calibri" pitchFamily="34" charset="0"/>
                <a:ea typeface="Calibri" pitchFamily="34" charset="-122"/>
                <a:cs typeface="Calibri" pitchFamily="34" charset="-120"/>
              </a:rPr>
              <a:t>“Card ending 4417 is locked. Logged to the account.”</a:t>
            </a:r>
            <a:endParaRPr lang="en-US" sz="1400" dirty="0"/>
          </a:p>
        </p:txBody>
      </p:sp>
      <p:sp>
        <p:nvSpPr>
          <p:cNvPr id="41" name="Text 39"/>
          <p:cNvSpPr txBox="1"/>
          <p:nvPr/>
        </p:nvSpPr>
        <p:spPr>
          <a:xfrm>
            <a:off x="548640" y="5806440"/>
            <a:ext cx="11064240" cy="27432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Six actions = six tools. Each maps to one existing API call. The model extracts intent and parameters — it never evaluates entitlements.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Why a skill now — and when an agent would make sense</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Two very different things. Only one of them fits this project.</a:t>
            </a:r>
            <a:endParaRPr lang="en-US" sz="1400" dirty="0"/>
          </a:p>
        </p:txBody>
      </p:sp>
      <p:sp>
        <p:nvSpPr>
          <p:cNvPr id="4" name="Shape 2"/>
          <p:cNvSpPr/>
          <p:nvPr/>
        </p:nvSpPr>
        <p:spPr>
          <a:xfrm>
            <a:off x="548640" y="1481328"/>
            <a:ext cx="5440680" cy="2011680"/>
          </a:xfrm>
          <a:prstGeom prst="roundRect">
            <a:avLst>
              <a:gd name="adj" fmla="val 4545"/>
            </a:avLst>
          </a:prstGeom>
          <a:solidFill>
            <a:srgbClr val="F4FAF6"/>
          </a:solidFill>
          <a:ln w="20320">
            <a:solidFill>
              <a:srgbClr val="2E7D5B"/>
            </a:solidFill>
            <a:prstDash val="solid"/>
          </a:ln>
        </p:spPr>
      </p:sp>
      <p:sp>
        <p:nvSpPr>
          <p:cNvPr id="5" name="Text 3"/>
          <p:cNvSpPr txBox="1"/>
          <p:nvPr/>
        </p:nvSpPr>
        <p:spPr>
          <a:xfrm>
            <a:off x="822960" y="1645920"/>
            <a:ext cx="4937760" cy="292608"/>
          </a:xfrm>
          <a:prstGeom prst="rect">
            <a:avLst/>
          </a:prstGeom>
          <a:noFill/>
          <a:ln/>
        </p:spPr>
        <p:txBody>
          <a:bodyPr wrap="square" lIns="0" tIns="0" rIns="0" bIns="0" rtlCol="0" anchor="ctr"/>
          <a:lstStyle/>
          <a:p>
            <a:pPr indent="0" marL="0">
              <a:buNone/>
            </a:pPr>
            <a:r>
              <a:rPr lang="en-US" sz="1600" b="1" dirty="0">
                <a:solidFill>
                  <a:srgbClr val="2E7D5B"/>
                </a:solidFill>
                <a:latin typeface="Cambria" pitchFamily="34" charset="0"/>
                <a:ea typeface="Cambria" pitchFamily="34" charset="-122"/>
                <a:cs typeface="Cambria" pitchFamily="34" charset="-120"/>
              </a:rPr>
              <a:t>A SKILL — our recommendation</a:t>
            </a:r>
            <a:endParaRPr lang="en-US" sz="1600" dirty="0"/>
          </a:p>
        </p:txBody>
      </p:sp>
      <p:sp>
        <p:nvSpPr>
          <p:cNvPr id="6" name="Text 4"/>
          <p:cNvSpPr txBox="1"/>
          <p:nvPr/>
        </p:nvSpPr>
        <p:spPr>
          <a:xfrm>
            <a:off x="868680" y="2057400"/>
            <a:ext cx="4846320" cy="13258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343F"/>
                </a:solidFill>
                <a:latin typeface="Calibri" pitchFamily="34" charset="0"/>
                <a:ea typeface="Calibri" pitchFamily="34" charset="-122"/>
                <a:cs typeface="Calibri" pitchFamily="34" charset="-120"/>
              </a:rPr>
              <a:t>A markdown skill definition plus six tool calls, loaded into the existing NetX360 chat</a:t>
            </a:r>
            <a:endParaRPr lang="en-US" sz="1300" dirty="0"/>
          </a:p>
          <a:p>
            <a:pPr marL="342900" indent="-342900">
              <a:spcAft>
                <a:spcPts val="600"/>
              </a:spcAft>
              <a:buSzPct val="100000"/>
              <a:buChar char="•"/>
            </a:pPr>
            <a:r>
              <a:rPr lang="en-US" sz="1300" dirty="0">
                <a:solidFill>
                  <a:srgbClr val="23343F"/>
                </a:solidFill>
                <a:latin typeface="Calibri" pitchFamily="34" charset="0"/>
                <a:ea typeface="Calibri" pitchFamily="34" charset="-122"/>
                <a:cs typeface="Calibri" pitchFamily="34" charset="-120"/>
              </a:rPr>
              <a:t>Reuses the platform’s login, entitlements and audit trail</a:t>
            </a:r>
            <a:endParaRPr lang="en-US" sz="1300" dirty="0"/>
          </a:p>
          <a:p>
            <a:pPr marL="342900" indent="-342900">
              <a:spcAft>
                <a:spcPts val="600"/>
              </a:spcAft>
              <a:buSzPct val="100000"/>
              <a:buChar char="•"/>
            </a:pPr>
            <a:r>
              <a:rPr lang="en-US" sz="1300" dirty="0">
                <a:solidFill>
                  <a:srgbClr val="23343F"/>
                </a:solidFill>
                <a:latin typeface="Calibri" pitchFamily="34" charset="0"/>
                <a:ea typeface="Calibri" pitchFamily="34" charset="-122"/>
                <a:cs typeface="Calibri" pitchFamily="34" charset="-120"/>
              </a:rPr>
              <a:t>Weeks of work — and the skill file lifts straight into BNY’s environment</a:t>
            </a:r>
            <a:endParaRPr lang="en-US" sz="1300" dirty="0"/>
          </a:p>
        </p:txBody>
      </p:sp>
      <p:sp>
        <p:nvSpPr>
          <p:cNvPr id="7" name="Shape 5"/>
          <p:cNvSpPr/>
          <p:nvPr/>
        </p:nvSpPr>
        <p:spPr>
          <a:xfrm>
            <a:off x="6217920" y="1481328"/>
            <a:ext cx="5440680" cy="2011680"/>
          </a:xfrm>
          <a:prstGeom prst="roundRect">
            <a:avLst>
              <a:gd name="adj" fmla="val 4545"/>
            </a:avLst>
          </a:prstGeom>
          <a:solidFill>
            <a:srgbClr val="FAFAFA"/>
          </a:solidFill>
          <a:ln w="20320">
            <a:solidFill>
              <a:srgbClr val="B9C2CB"/>
            </a:solidFill>
            <a:prstDash val="solid"/>
          </a:ln>
        </p:spPr>
      </p:sp>
      <p:sp>
        <p:nvSpPr>
          <p:cNvPr id="8" name="Text 6"/>
          <p:cNvSpPr txBox="1"/>
          <p:nvPr/>
        </p:nvSpPr>
        <p:spPr>
          <a:xfrm>
            <a:off x="6492240" y="1645920"/>
            <a:ext cx="4937760" cy="292608"/>
          </a:xfrm>
          <a:prstGeom prst="rect">
            <a:avLst/>
          </a:prstGeom>
          <a:noFill/>
          <a:ln/>
        </p:spPr>
        <p:txBody>
          <a:bodyPr wrap="square" lIns="0" tIns="0" rIns="0" bIns="0" rtlCol="0" anchor="ctr"/>
          <a:lstStyle/>
          <a:p>
            <a:pPr indent="0" marL="0">
              <a:buNone/>
            </a:pPr>
            <a:r>
              <a:rPr lang="en-US" sz="1600" b="1" dirty="0">
                <a:solidFill>
                  <a:srgbClr val="6B7783"/>
                </a:solidFill>
                <a:latin typeface="Cambria" pitchFamily="34" charset="0"/>
                <a:ea typeface="Cambria" pitchFamily="34" charset="-122"/>
                <a:cs typeface="Cambria" pitchFamily="34" charset="-120"/>
              </a:rPr>
              <a:t>AN AGENT — not needed here</a:t>
            </a:r>
            <a:endParaRPr lang="en-US" sz="1600" dirty="0"/>
          </a:p>
        </p:txBody>
      </p:sp>
      <p:sp>
        <p:nvSpPr>
          <p:cNvPr id="9" name="Text 7"/>
          <p:cNvSpPr txBox="1"/>
          <p:nvPr/>
        </p:nvSpPr>
        <p:spPr>
          <a:xfrm>
            <a:off x="6537960" y="2057400"/>
            <a:ext cx="4846320" cy="13258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5B6B7A"/>
                </a:solidFill>
                <a:latin typeface="Calibri" pitchFamily="34" charset="0"/>
                <a:ea typeface="Calibri" pitchFamily="34" charset="-122"/>
                <a:cs typeface="Calibri" pitchFamily="34" charset="-120"/>
              </a:rPr>
              <a:t>A separate assistant that plans its own steps — for jobs where the sequence of calls is not known in advance</a:t>
            </a:r>
            <a:endParaRPr lang="en-US" sz="1300" dirty="0"/>
          </a:p>
          <a:p>
            <a:pPr marL="342900" indent="-342900">
              <a:spcAft>
                <a:spcPts val="600"/>
              </a:spcAft>
              <a:buSzPct val="100000"/>
              <a:buChar char="•"/>
            </a:pPr>
            <a:r>
              <a:rPr lang="en-US" sz="1300" dirty="0">
                <a:solidFill>
                  <a:srgbClr val="5B6B7A"/>
                </a:solidFill>
                <a:latin typeface="Calibri" pitchFamily="34" charset="0"/>
                <a:ea typeface="Calibri" pitchFamily="34" charset="-122"/>
                <a:cs typeface="Calibri" pitchFamily="34" charset="-120"/>
              </a:rPr>
              <a:t>Our six actions are fixed: each is a single API call, so there is nothing for it to plan</a:t>
            </a:r>
            <a:endParaRPr lang="en-US" sz="1300" dirty="0"/>
          </a:p>
          <a:p>
            <a:pPr marL="342900" indent="-342900">
              <a:spcAft>
                <a:spcPts val="600"/>
              </a:spcAft>
              <a:buSzPct val="100000"/>
              <a:buChar char="•"/>
            </a:pPr>
            <a:r>
              <a:rPr lang="en-US" sz="1300" dirty="0">
                <a:solidFill>
                  <a:srgbClr val="5B6B7A"/>
                </a:solidFill>
                <a:latin typeface="Calibri" pitchFamily="34" charset="0"/>
                <a:ea typeface="Calibri" pitchFamily="34" charset="-122"/>
                <a:cs typeface="Calibri" pitchFamily="34" charset="-120"/>
              </a:rPr>
              <a:t>It sits outside NetX360 — login, entitlements and audit all rebuilt, months not weeks, and advisors face two chat boxes</a:t>
            </a:r>
            <a:endParaRPr lang="en-US" sz="1300" dirty="0"/>
          </a:p>
        </p:txBody>
      </p:sp>
      <p:sp>
        <p:nvSpPr>
          <p:cNvPr id="10" name="Text 8"/>
          <p:cNvSpPr txBox="1"/>
          <p:nvPr/>
        </p:nvSpPr>
        <p:spPr>
          <a:xfrm>
            <a:off x="548640" y="3703320"/>
            <a:ext cx="11064240" cy="274320"/>
          </a:xfrm>
          <a:prstGeom prst="rect">
            <a:avLst/>
          </a:prstGeom>
          <a:noFill/>
          <a:ln/>
        </p:spPr>
        <p:txBody>
          <a:bodyPr wrap="square" lIns="0" tIns="0" rIns="0" bIns="0" rtlCol="0" anchor="ctr"/>
          <a:lstStyle/>
          <a:p>
            <a:pPr indent="0" marL="0">
              <a:buNone/>
            </a:pPr>
            <a:r>
              <a:rPr lang="en-US" sz="1350" b="1" dirty="0">
                <a:solidFill>
                  <a:srgbClr val="14314F"/>
                </a:solidFill>
                <a:latin typeface="Calibri" pitchFamily="34" charset="0"/>
                <a:ea typeface="Calibri" pitchFamily="34" charset="-122"/>
                <a:cs typeface="Calibri" pitchFamily="34" charset="-120"/>
              </a:rPr>
              <a:t>An agent earns its keep when the sequence of calls cannot be defined in advance. Three examples from this same area:</a:t>
            </a:r>
            <a:endParaRPr lang="en-US" sz="1350" dirty="0"/>
          </a:p>
        </p:txBody>
      </p:sp>
      <p:sp>
        <p:nvSpPr>
          <p:cNvPr id="11" name="Shape 9"/>
          <p:cNvSpPr/>
          <p:nvPr/>
        </p:nvSpPr>
        <p:spPr>
          <a:xfrm>
            <a:off x="548640" y="4114800"/>
            <a:ext cx="3511296" cy="1691640"/>
          </a:xfrm>
          <a:prstGeom prst="roundRect">
            <a:avLst>
              <a:gd name="adj" fmla="val 5405"/>
            </a:avLst>
          </a:prstGeom>
          <a:solidFill>
            <a:srgbClr val="FFFFFF"/>
          </a:solidFill>
          <a:ln w="15240">
            <a:solidFill>
              <a:srgbClr val="C9A227"/>
            </a:solidFill>
            <a:prstDash val="solid"/>
          </a:ln>
        </p:spPr>
      </p:sp>
      <p:sp>
        <p:nvSpPr>
          <p:cNvPr id="12" name="Text 10"/>
          <p:cNvSpPr txBox="1"/>
          <p:nvPr/>
        </p:nvSpPr>
        <p:spPr>
          <a:xfrm>
            <a:off x="777240" y="4279392"/>
            <a:ext cx="3063240" cy="502920"/>
          </a:xfrm>
          <a:prstGeom prst="rect">
            <a:avLst/>
          </a:prstGeom>
          <a:noFill/>
          <a:ln/>
        </p:spPr>
        <p:txBody>
          <a:bodyPr wrap="square" lIns="0" tIns="0" rIns="0" bIns="0" rtlCol="0" anchor="ctr"/>
          <a:lstStyle/>
          <a:p>
            <a:pPr indent="0" marL="0">
              <a:buNone/>
            </a:pPr>
            <a:r>
              <a:rPr lang="en-US" sz="1400" b="1" dirty="0">
                <a:solidFill>
                  <a:srgbClr val="14314F"/>
                </a:solidFill>
                <a:latin typeface="Cambria" pitchFamily="34" charset="0"/>
                <a:ea typeface="Cambria" pitchFamily="34" charset="-122"/>
                <a:cs typeface="Cambria" pitchFamily="34" charset="-120"/>
              </a:rPr>
              <a:t>Handle the whole lost-wallet call</a:t>
            </a:r>
            <a:endParaRPr lang="en-US" sz="1400" dirty="0"/>
          </a:p>
        </p:txBody>
      </p:sp>
      <p:sp>
        <p:nvSpPr>
          <p:cNvPr id="13" name="Text 11"/>
          <p:cNvSpPr txBox="1"/>
          <p:nvPr/>
        </p:nvSpPr>
        <p:spPr>
          <a:xfrm>
            <a:off x="777240" y="4828032"/>
            <a:ext cx="3063240" cy="868680"/>
          </a:xfrm>
          <a:prstGeom prst="rect">
            <a:avLst/>
          </a:prstGeom>
          <a:noFill/>
          <a:ln/>
        </p:spPr>
        <p:txBody>
          <a:bodyPr wrap="square" lIns="0" tIns="0" rIns="0" bIns="0" rtlCol="0" anchor="ctr"/>
          <a:lstStyle/>
          <a:p>
            <a:pPr indent="0" marL="0">
              <a:buNone/>
            </a:pPr>
            <a:r>
              <a:rPr lang="en-US" sz="1150" dirty="0">
                <a:solidFill>
                  <a:srgbClr val="4A5A68"/>
                </a:solidFill>
                <a:latin typeface="Calibri" pitchFamily="34" charset="0"/>
                <a:ea typeface="Calibri" pitchFamily="34" charset="-122"/>
                <a:cs typeface="Calibri" pitchFamily="34" charset="-120"/>
              </a:rPr>
              <a:t>Lock the card, check the last week for odd charges, order a replacement, then warn which automatic payments will now fail.</a:t>
            </a:r>
            <a:endParaRPr lang="en-US" sz="1150" dirty="0"/>
          </a:p>
        </p:txBody>
      </p:sp>
      <p:sp>
        <p:nvSpPr>
          <p:cNvPr id="14" name="Shape 12"/>
          <p:cNvSpPr/>
          <p:nvPr/>
        </p:nvSpPr>
        <p:spPr>
          <a:xfrm>
            <a:off x="4334256" y="4114800"/>
            <a:ext cx="3511296" cy="1691640"/>
          </a:xfrm>
          <a:prstGeom prst="roundRect">
            <a:avLst>
              <a:gd name="adj" fmla="val 5405"/>
            </a:avLst>
          </a:prstGeom>
          <a:solidFill>
            <a:srgbClr val="FFFFFF"/>
          </a:solidFill>
          <a:ln w="15240">
            <a:solidFill>
              <a:srgbClr val="C9A227"/>
            </a:solidFill>
            <a:prstDash val="solid"/>
          </a:ln>
        </p:spPr>
      </p:sp>
      <p:sp>
        <p:nvSpPr>
          <p:cNvPr id="15" name="Text 13"/>
          <p:cNvSpPr txBox="1"/>
          <p:nvPr/>
        </p:nvSpPr>
        <p:spPr>
          <a:xfrm>
            <a:off x="4562856" y="4279392"/>
            <a:ext cx="3063240" cy="502920"/>
          </a:xfrm>
          <a:prstGeom prst="rect">
            <a:avLst/>
          </a:prstGeom>
          <a:noFill/>
          <a:ln/>
        </p:spPr>
        <p:txBody>
          <a:bodyPr wrap="square" lIns="0" tIns="0" rIns="0" bIns="0" rtlCol="0" anchor="ctr"/>
          <a:lstStyle/>
          <a:p>
            <a:pPr indent="0" marL="0">
              <a:buNone/>
            </a:pPr>
            <a:r>
              <a:rPr lang="en-US" sz="1400" b="1" dirty="0">
                <a:solidFill>
                  <a:srgbClr val="14314F"/>
                </a:solidFill>
                <a:latin typeface="Cambria" pitchFamily="34" charset="0"/>
                <a:ea typeface="Cambria" pitchFamily="34" charset="-122"/>
                <a:cs typeface="Cambria" pitchFamily="34" charset="-120"/>
              </a:rPr>
              <a:t>Open a new Corestone account</a:t>
            </a:r>
            <a:endParaRPr lang="en-US" sz="1400" dirty="0"/>
          </a:p>
        </p:txBody>
      </p:sp>
      <p:sp>
        <p:nvSpPr>
          <p:cNvPr id="16" name="Text 14"/>
          <p:cNvSpPr txBox="1"/>
          <p:nvPr/>
        </p:nvSpPr>
        <p:spPr>
          <a:xfrm>
            <a:off x="4562856" y="4828032"/>
            <a:ext cx="3063240" cy="868680"/>
          </a:xfrm>
          <a:prstGeom prst="rect">
            <a:avLst/>
          </a:prstGeom>
          <a:noFill/>
          <a:ln/>
        </p:spPr>
        <p:txBody>
          <a:bodyPr wrap="square" lIns="0" tIns="0" rIns="0" bIns="0" rtlCol="0" anchor="ctr"/>
          <a:lstStyle/>
          <a:p>
            <a:pPr indent="0" marL="0">
              <a:buNone/>
            </a:pPr>
            <a:r>
              <a:rPr lang="en-US" sz="1150" dirty="0">
                <a:solidFill>
                  <a:srgbClr val="4A5A68"/>
                </a:solidFill>
                <a:latin typeface="Calibri" pitchFamily="34" charset="0"/>
                <a:ea typeface="Calibri" pitchFamily="34" charset="-122"/>
                <a:cs typeface="Calibri" pitchFamily="34" charset="-120"/>
              </a:rPr>
              <a:t>Collect details, check them against policy, send parts for sign-off, then pick the job back up days later.</a:t>
            </a:r>
            <a:endParaRPr lang="en-US" sz="1150" dirty="0"/>
          </a:p>
        </p:txBody>
      </p:sp>
      <p:sp>
        <p:nvSpPr>
          <p:cNvPr id="17" name="Shape 15"/>
          <p:cNvSpPr/>
          <p:nvPr/>
        </p:nvSpPr>
        <p:spPr>
          <a:xfrm>
            <a:off x="8119872" y="4114800"/>
            <a:ext cx="3511296" cy="1691640"/>
          </a:xfrm>
          <a:prstGeom prst="roundRect">
            <a:avLst>
              <a:gd name="adj" fmla="val 5405"/>
            </a:avLst>
          </a:prstGeom>
          <a:solidFill>
            <a:srgbClr val="FFFFFF"/>
          </a:solidFill>
          <a:ln w="15240">
            <a:solidFill>
              <a:srgbClr val="C9A227"/>
            </a:solidFill>
            <a:prstDash val="solid"/>
          </a:ln>
        </p:spPr>
      </p:sp>
      <p:sp>
        <p:nvSpPr>
          <p:cNvPr id="18" name="Text 16"/>
          <p:cNvSpPr txBox="1"/>
          <p:nvPr/>
        </p:nvSpPr>
        <p:spPr>
          <a:xfrm>
            <a:off x="8348472" y="4279392"/>
            <a:ext cx="3063240" cy="502920"/>
          </a:xfrm>
          <a:prstGeom prst="rect">
            <a:avLst/>
          </a:prstGeom>
          <a:noFill/>
          <a:ln/>
        </p:spPr>
        <p:txBody>
          <a:bodyPr wrap="square" lIns="0" tIns="0" rIns="0" bIns="0" rtlCol="0" anchor="ctr"/>
          <a:lstStyle/>
          <a:p>
            <a:pPr indent="0" marL="0">
              <a:buNone/>
            </a:pPr>
            <a:r>
              <a:rPr lang="en-US" sz="1400" b="1" dirty="0">
                <a:solidFill>
                  <a:srgbClr val="14314F"/>
                </a:solidFill>
                <a:latin typeface="Cambria" pitchFamily="34" charset="0"/>
                <a:ea typeface="Cambria" pitchFamily="34" charset="-122"/>
                <a:cs typeface="Cambria" pitchFamily="34" charset="-120"/>
              </a:rPr>
              <a:t>Find out why a card was declined</a:t>
            </a:r>
            <a:endParaRPr lang="en-US" sz="1400" dirty="0"/>
          </a:p>
        </p:txBody>
      </p:sp>
      <p:sp>
        <p:nvSpPr>
          <p:cNvPr id="19" name="Text 17"/>
          <p:cNvSpPr txBox="1"/>
          <p:nvPr/>
        </p:nvSpPr>
        <p:spPr>
          <a:xfrm>
            <a:off x="8348472" y="4828032"/>
            <a:ext cx="3063240" cy="868680"/>
          </a:xfrm>
          <a:prstGeom prst="rect">
            <a:avLst/>
          </a:prstGeom>
          <a:noFill/>
          <a:ln/>
        </p:spPr>
        <p:txBody>
          <a:bodyPr wrap="square" lIns="0" tIns="0" rIns="0" bIns="0" rtlCol="0" anchor="ctr"/>
          <a:lstStyle/>
          <a:p>
            <a:pPr indent="0" marL="0">
              <a:buNone/>
            </a:pPr>
            <a:r>
              <a:rPr lang="en-US" sz="1150" dirty="0">
                <a:solidFill>
                  <a:srgbClr val="4A5A68"/>
                </a:solidFill>
                <a:latin typeface="Calibri" pitchFamily="34" charset="0"/>
                <a:ea typeface="Calibri" pitchFamily="34" charset="-122"/>
                <a:cs typeface="Calibri" pitchFamily="34" charset="-120"/>
              </a:rPr>
              <a:t>Could be a hold, a limit, a missing travel notice, no funds. It has to look in several places and follow the live thread.</a:t>
            </a:r>
            <a:endParaRPr lang="en-US" sz="1150" dirty="0"/>
          </a:p>
        </p:txBody>
      </p:sp>
      <p:sp>
        <p:nvSpPr>
          <p:cNvPr id="20" name="Text 18"/>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These are natural later phases — not something to attempt now.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What a skill actually looks like</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Two files we write once — and the request the chat produces each time it is asked.</a:t>
            </a:r>
            <a:endParaRPr lang="en-US" sz="1400" dirty="0"/>
          </a:p>
        </p:txBody>
      </p:sp>
      <p:sp>
        <p:nvSpPr>
          <p:cNvPr id="4" name="Text 2"/>
          <p:cNvSpPr txBox="1"/>
          <p:nvPr/>
        </p:nvSpPr>
        <p:spPr>
          <a:xfrm>
            <a:off x="548640" y="1371600"/>
            <a:ext cx="5120640" cy="219456"/>
          </a:xfrm>
          <a:prstGeom prst="rect">
            <a:avLst/>
          </a:prstGeom>
          <a:noFill/>
          <a:ln/>
        </p:spPr>
        <p:txBody>
          <a:bodyPr wrap="square" lIns="0" tIns="0" rIns="0" bIns="0" rtlCol="0" anchor="ctr"/>
          <a:lstStyle/>
          <a:p>
            <a:pPr indent="0" marL="0">
              <a:buNone/>
            </a:pPr>
            <a:r>
              <a:rPr lang="en-US" sz="1000" b="1" spc="100" kern="0" dirty="0">
                <a:solidFill>
                  <a:srgbClr val="5B6B7A"/>
                </a:solidFill>
                <a:latin typeface="Calibri" pitchFamily="34" charset="0"/>
                <a:ea typeface="Calibri" pitchFamily="34" charset="-122"/>
                <a:cs typeface="Calibri" pitchFamily="34" charset="-120"/>
              </a:rPr>
              <a:t>WE WRITE THESE ONCE</a:t>
            </a:r>
            <a:endParaRPr lang="en-US" sz="1000" dirty="0"/>
          </a:p>
        </p:txBody>
      </p:sp>
      <p:sp>
        <p:nvSpPr>
          <p:cNvPr id="5" name="Text 3"/>
          <p:cNvSpPr txBox="1"/>
          <p:nvPr/>
        </p:nvSpPr>
        <p:spPr>
          <a:xfrm>
            <a:off x="6400800" y="1371600"/>
            <a:ext cx="5212080" cy="219456"/>
          </a:xfrm>
          <a:prstGeom prst="rect">
            <a:avLst/>
          </a:prstGeom>
          <a:noFill/>
          <a:ln/>
        </p:spPr>
        <p:txBody>
          <a:bodyPr wrap="square" lIns="0" tIns="0" rIns="0" bIns="0" rtlCol="0" anchor="ctr"/>
          <a:lstStyle/>
          <a:p>
            <a:pPr indent="0" marL="0">
              <a:buNone/>
            </a:pPr>
            <a:r>
              <a:rPr lang="en-US" sz="1000" b="1" spc="100" kern="0" dirty="0">
                <a:solidFill>
                  <a:srgbClr val="5B6B7A"/>
                </a:solidFill>
                <a:latin typeface="Calibri" pitchFamily="34" charset="0"/>
                <a:ea typeface="Calibri" pitchFamily="34" charset="-122"/>
                <a:cs typeface="Calibri" pitchFamily="34" charset="-120"/>
              </a:rPr>
              <a:t>PRODUCED EACH TIME AN ADVISOR ASKS</a:t>
            </a:r>
            <a:endParaRPr lang="en-US" sz="1000" dirty="0"/>
          </a:p>
        </p:txBody>
      </p:sp>
      <p:sp>
        <p:nvSpPr>
          <p:cNvPr id="6" name="Shape 4"/>
          <p:cNvSpPr/>
          <p:nvPr/>
        </p:nvSpPr>
        <p:spPr>
          <a:xfrm>
            <a:off x="548640" y="1627632"/>
            <a:ext cx="5120640" cy="3017520"/>
          </a:xfrm>
          <a:prstGeom prst="roundRect">
            <a:avLst>
              <a:gd name="adj" fmla="val 3030"/>
            </a:avLst>
          </a:prstGeom>
          <a:solidFill>
            <a:srgbClr val="FFFFFF"/>
          </a:solidFill>
          <a:ln w="20320">
            <a:solidFill>
              <a:srgbClr val="C9A227"/>
            </a:solidFill>
            <a:prstDash val="solid"/>
          </a:ln>
        </p:spPr>
      </p:sp>
      <p:sp>
        <p:nvSpPr>
          <p:cNvPr id="7" name="Shape 5"/>
          <p:cNvSpPr/>
          <p:nvPr/>
        </p:nvSpPr>
        <p:spPr>
          <a:xfrm>
            <a:off x="548640" y="1627632"/>
            <a:ext cx="5120640" cy="384048"/>
          </a:xfrm>
          <a:prstGeom prst="rect">
            <a:avLst/>
          </a:prstGeom>
          <a:solidFill>
            <a:srgbClr val="FBF2DA"/>
          </a:solidFill>
          <a:ln w="12700">
            <a:solidFill>
              <a:srgbClr val="FBF2DA"/>
            </a:solidFill>
            <a:prstDash val="solid"/>
          </a:ln>
        </p:spPr>
      </p:sp>
      <p:sp>
        <p:nvSpPr>
          <p:cNvPr id="8" name="Text 6"/>
          <p:cNvSpPr txBox="1"/>
          <p:nvPr/>
        </p:nvSpPr>
        <p:spPr>
          <a:xfrm>
            <a:off x="731520" y="1691640"/>
            <a:ext cx="4754880" cy="256032"/>
          </a:xfrm>
          <a:prstGeom prst="rect">
            <a:avLst/>
          </a:prstGeom>
          <a:noFill/>
          <a:ln/>
        </p:spPr>
        <p:txBody>
          <a:bodyPr wrap="square" lIns="0" tIns="0" rIns="0" bIns="0" rtlCol="0" anchor="ctr"/>
          <a:lstStyle/>
          <a:p>
            <a:pPr indent="0" marL="0">
              <a:buNone/>
            </a:pPr>
            <a:r>
              <a:rPr lang="en-US" sz="1200" b="1" dirty="0">
                <a:solidFill>
                  <a:srgbClr val="8A6E17"/>
                </a:solidFill>
                <a:latin typeface="Calibri" pitchFamily="34" charset="0"/>
                <a:ea typeface="Calibri" pitchFamily="34" charset="-122"/>
                <a:cs typeface="Calibri" pitchFamily="34" charset="-120"/>
              </a:rPr>
              <a:t>1.  SKILL.md   —   how the chat should behave</a:t>
            </a:r>
            <a:endParaRPr lang="en-US" sz="1200" dirty="0"/>
          </a:p>
        </p:txBody>
      </p:sp>
      <p:sp>
        <p:nvSpPr>
          <p:cNvPr id="9" name="Text 7"/>
          <p:cNvSpPr txBox="1"/>
          <p:nvPr/>
        </p:nvSpPr>
        <p:spPr>
          <a:xfrm>
            <a:off x="822960" y="2066544"/>
            <a:ext cx="4754880" cy="173736"/>
          </a:xfrm>
          <a:prstGeom prst="rect">
            <a:avLst/>
          </a:prstGeom>
          <a:noFill/>
          <a:ln/>
        </p:spPr>
        <p:txBody>
          <a:bodyPr wrap="square" lIns="0" tIns="0" rIns="0" bIns="0" rtlCol="0" anchor="ctr"/>
          <a:lstStyle/>
          <a:p>
            <a:pPr indent="0" marL="0">
              <a:buNone/>
            </a:pPr>
            <a:r>
              <a:rPr lang="en-US" sz="950" b="1" dirty="0">
                <a:solidFill>
                  <a:srgbClr val="14314F"/>
                </a:solidFill>
                <a:latin typeface="Courier New" pitchFamily="34" charset="0"/>
                <a:ea typeface="Courier New" pitchFamily="34" charset="-122"/>
                <a:cs typeface="Courier New" pitchFamily="34" charset="-120"/>
              </a:rPr>
              <a:t>## lock_card</a:t>
            </a:r>
            <a:endParaRPr lang="en-US" sz="950" dirty="0"/>
          </a:p>
        </p:txBody>
      </p:sp>
      <p:sp>
        <p:nvSpPr>
          <p:cNvPr id="10" name="Text 8"/>
          <p:cNvSpPr txBox="1"/>
          <p:nvPr/>
        </p:nvSpPr>
        <p:spPr>
          <a:xfrm>
            <a:off x="822960" y="2237537"/>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Blocks the card. Reversible.</a:t>
            </a:r>
            <a:endParaRPr lang="en-US" sz="950" dirty="0"/>
          </a:p>
        </p:txBody>
      </p:sp>
      <p:sp>
        <p:nvSpPr>
          <p:cNvPr id="11" name="Text 9"/>
          <p:cNvSpPr txBox="1"/>
          <p:nvPr/>
        </p:nvSpPr>
        <p:spPr>
          <a:xfrm>
            <a:off x="822960" y="2408530"/>
            <a:ext cx="4754880" cy="173736"/>
          </a:xfrm>
          <a:prstGeom prst="rect">
            <a:avLst/>
          </a:prstGeom>
          <a:noFill/>
          <a:ln/>
        </p:spPr>
        <p:txBody>
          <a:bodyPr wrap="square" lIns="0" tIns="0" rIns="0" bIns="0" rtlCol="0" anchor="ctr"/>
          <a:lstStyle/>
          <a:p>
            <a:pPr indent="0" marL="0">
              <a:buNone/>
            </a:pPr>
            <a:r>
              <a:rPr lang="en-US" sz="950" dirty="0">
                <a:solidFill>
                  <a:srgbClr val="2E7D5B"/>
                </a:solidFill>
                <a:latin typeface="Courier New" pitchFamily="34" charset="0"/>
                <a:ea typeface="Courier New" pitchFamily="34" charset="-122"/>
                <a:cs typeface="Courier New" pitchFamily="34" charset="-120"/>
              </a:rPr>
              <a:t>Required:  client_id,  card_id</a:t>
            </a:r>
            <a:endParaRPr lang="en-US" sz="950" dirty="0"/>
          </a:p>
        </p:txBody>
      </p:sp>
      <p:sp>
        <p:nvSpPr>
          <p:cNvPr id="12" name="Text 10"/>
          <p:cNvSpPr txBox="1"/>
          <p:nvPr/>
        </p:nvSpPr>
        <p:spPr>
          <a:xfrm>
            <a:off x="822960" y="2579522"/>
            <a:ext cx="4754880" cy="173736"/>
          </a:xfrm>
          <a:prstGeom prst="rect">
            <a:avLst/>
          </a:prstGeom>
          <a:noFill/>
          <a:ln/>
        </p:spPr>
        <p:txBody>
          <a:bodyPr wrap="square" lIns="0" tIns="0" rIns="0" bIns="0" rtlCol="0" anchor="ctr"/>
          <a:lstStyle/>
          <a:p>
            <a:pPr indent="0" marL="0">
              <a:buNone/>
            </a:pPr>
            <a:endParaRPr lang="en-US" sz="950" dirty="0"/>
          </a:p>
        </p:txBody>
      </p:sp>
      <p:sp>
        <p:nvSpPr>
          <p:cNvPr id="13" name="Text 11"/>
          <p:cNvSpPr txBox="1"/>
          <p:nvPr/>
        </p:nvSpPr>
        <p:spPr>
          <a:xfrm>
            <a:off x="822960" y="2750515"/>
            <a:ext cx="4754880" cy="173736"/>
          </a:xfrm>
          <a:prstGeom prst="rect">
            <a:avLst/>
          </a:prstGeom>
          <a:noFill/>
          <a:ln/>
        </p:spPr>
        <p:txBody>
          <a:bodyPr wrap="square" lIns="0" tIns="0" rIns="0" bIns="0" rtlCol="0" anchor="ctr"/>
          <a:lstStyle/>
          <a:p>
            <a:pPr indent="0" marL="0">
              <a:buNone/>
            </a:pPr>
            <a:r>
              <a:rPr lang="en-US" sz="950" b="1" dirty="0">
                <a:solidFill>
                  <a:srgbClr val="14314F"/>
                </a:solidFill>
                <a:latin typeface="Courier New" pitchFamily="34" charset="0"/>
                <a:ea typeface="Courier New" pitchFamily="34" charset="-122"/>
                <a:cs typeface="Courier New" pitchFamily="34" charset="-120"/>
              </a:rPr>
              <a:t>### Finding the right client</a:t>
            </a:r>
            <a:endParaRPr lang="en-US" sz="950" dirty="0"/>
          </a:p>
        </p:txBody>
      </p:sp>
      <p:sp>
        <p:nvSpPr>
          <p:cNvPr id="14" name="Text 12"/>
          <p:cNvSpPr txBox="1"/>
          <p:nvPr/>
        </p:nvSpPr>
        <p:spPr>
          <a:xfrm>
            <a:off x="822960" y="2921508"/>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One match       → use it</a:t>
            </a:r>
            <a:endParaRPr lang="en-US" sz="950" dirty="0"/>
          </a:p>
        </p:txBody>
      </p:sp>
      <p:sp>
        <p:nvSpPr>
          <p:cNvPr id="15" name="Text 13"/>
          <p:cNvSpPr txBox="1"/>
          <p:nvPr/>
        </p:nvSpPr>
        <p:spPr>
          <a:xfrm>
            <a:off x="822960" y="3092501"/>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Several matches → list them and ask</a:t>
            </a:r>
            <a:endParaRPr lang="en-US" sz="950" dirty="0"/>
          </a:p>
        </p:txBody>
      </p:sp>
      <p:sp>
        <p:nvSpPr>
          <p:cNvPr id="16" name="Text 14"/>
          <p:cNvSpPr txBox="1"/>
          <p:nvPr/>
        </p:nvSpPr>
        <p:spPr>
          <a:xfrm>
            <a:off x="822960" y="3263494"/>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No match        → say so, do not guess why</a:t>
            </a:r>
            <a:endParaRPr lang="en-US" sz="950" dirty="0"/>
          </a:p>
        </p:txBody>
      </p:sp>
      <p:sp>
        <p:nvSpPr>
          <p:cNvPr id="17" name="Text 15"/>
          <p:cNvSpPr txBox="1"/>
          <p:nvPr/>
        </p:nvSpPr>
        <p:spPr>
          <a:xfrm>
            <a:off x="822960" y="3434486"/>
            <a:ext cx="4754880" cy="173736"/>
          </a:xfrm>
          <a:prstGeom prst="rect">
            <a:avLst/>
          </a:prstGeom>
          <a:noFill/>
          <a:ln/>
        </p:spPr>
        <p:txBody>
          <a:bodyPr wrap="square" lIns="0" tIns="0" rIns="0" bIns="0" rtlCol="0" anchor="ctr"/>
          <a:lstStyle/>
          <a:p>
            <a:pPr indent="0" marL="0">
              <a:buNone/>
            </a:pPr>
            <a:r>
              <a:rPr lang="en-US" sz="950" dirty="0">
                <a:solidFill>
                  <a:srgbClr val="B9C2CB"/>
                </a:solidFill>
                <a:latin typeface="Courier New" pitchFamily="34" charset="0"/>
                <a:ea typeface="Courier New" pitchFamily="34" charset="-122"/>
                <a:cs typeface="Courier New" pitchFamily="34" charset="-120"/>
              </a:rPr>
              <a:t>…</a:t>
            </a:r>
            <a:endParaRPr lang="en-US" sz="950" dirty="0"/>
          </a:p>
        </p:txBody>
      </p:sp>
      <p:sp>
        <p:nvSpPr>
          <p:cNvPr id="18" name="Text 16"/>
          <p:cNvSpPr txBox="1"/>
          <p:nvPr/>
        </p:nvSpPr>
        <p:spPr>
          <a:xfrm>
            <a:off x="822960" y="3605479"/>
            <a:ext cx="4754880" cy="173736"/>
          </a:xfrm>
          <a:prstGeom prst="rect">
            <a:avLst/>
          </a:prstGeom>
          <a:noFill/>
          <a:ln/>
        </p:spPr>
        <p:txBody>
          <a:bodyPr wrap="square" lIns="0" tIns="0" rIns="0" bIns="0" rtlCol="0" anchor="ctr"/>
          <a:lstStyle/>
          <a:p>
            <a:pPr indent="0" marL="0">
              <a:buNone/>
            </a:pPr>
            <a:r>
              <a:rPr lang="en-US" sz="950" b="1" dirty="0">
                <a:solidFill>
                  <a:srgbClr val="14314F"/>
                </a:solidFill>
                <a:latin typeface="Courier New" pitchFamily="34" charset="0"/>
                <a:ea typeface="Courier New" pitchFamily="34" charset="-122"/>
                <a:cs typeface="Courier New" pitchFamily="34" charset="-120"/>
              </a:rPr>
              <a:t>### Before acting</a:t>
            </a:r>
            <a:endParaRPr lang="en-US" sz="950" dirty="0"/>
          </a:p>
        </p:txBody>
      </p:sp>
      <p:sp>
        <p:nvSpPr>
          <p:cNvPr id="19" name="Text 17"/>
          <p:cNvSpPr txBox="1"/>
          <p:nvPr/>
        </p:nvSpPr>
        <p:spPr>
          <a:xfrm>
            <a:off x="822960" y="3776472"/>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Restate it in one line and wait for a yes.</a:t>
            </a:r>
            <a:endParaRPr lang="en-US" sz="950" dirty="0"/>
          </a:p>
        </p:txBody>
      </p:sp>
      <p:sp>
        <p:nvSpPr>
          <p:cNvPr id="20" name="Text 18"/>
          <p:cNvSpPr txBox="1"/>
          <p:nvPr/>
        </p:nvSpPr>
        <p:spPr>
          <a:xfrm>
            <a:off x="822960" y="3947465"/>
            <a:ext cx="4754880" cy="173736"/>
          </a:xfrm>
          <a:prstGeom prst="rect">
            <a:avLst/>
          </a:prstGeom>
          <a:noFill/>
          <a:ln/>
        </p:spPr>
        <p:txBody>
          <a:bodyPr wrap="square" lIns="0" tIns="0" rIns="0" bIns="0" rtlCol="0" anchor="ctr"/>
          <a:lstStyle/>
          <a:p>
            <a:pPr indent="0" marL="0">
              <a:buNone/>
            </a:pPr>
            <a:endParaRPr lang="en-US" sz="950" dirty="0"/>
          </a:p>
        </p:txBody>
      </p:sp>
      <p:sp>
        <p:nvSpPr>
          <p:cNvPr id="21" name="Text 19"/>
          <p:cNvSpPr txBox="1"/>
          <p:nvPr/>
        </p:nvSpPr>
        <p:spPr>
          <a:xfrm>
            <a:off x="822960" y="4118458"/>
            <a:ext cx="4754880" cy="173736"/>
          </a:xfrm>
          <a:prstGeom prst="rect">
            <a:avLst/>
          </a:prstGeom>
          <a:noFill/>
          <a:ln/>
        </p:spPr>
        <p:txBody>
          <a:bodyPr wrap="square" lIns="0" tIns="0" rIns="0" bIns="0" rtlCol="0" anchor="ctr"/>
          <a:lstStyle/>
          <a:p>
            <a:pPr indent="0" marL="0">
              <a:buNone/>
            </a:pPr>
            <a:r>
              <a:rPr lang="en-US" sz="950" b="1" dirty="0">
                <a:solidFill>
                  <a:srgbClr val="B03030"/>
                </a:solidFill>
                <a:latin typeface="Courier New" pitchFamily="34" charset="0"/>
                <a:ea typeface="Courier New" pitchFamily="34" charset="-122"/>
                <a:cs typeface="Courier New" pitchFamily="34" charset="-120"/>
              </a:rPr>
              <a:t>### Never</a:t>
            </a:r>
            <a:endParaRPr lang="en-US" sz="950" dirty="0"/>
          </a:p>
        </p:txBody>
      </p:sp>
      <p:sp>
        <p:nvSpPr>
          <p:cNvPr id="22" name="Text 20"/>
          <p:cNvSpPr txBox="1"/>
          <p:nvPr/>
        </p:nvSpPr>
        <p:spPr>
          <a:xfrm>
            <a:off x="822960" y="4289450"/>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Never decide who is allowed to act.</a:t>
            </a:r>
            <a:endParaRPr lang="en-US" sz="950" dirty="0"/>
          </a:p>
        </p:txBody>
      </p:sp>
      <p:sp>
        <p:nvSpPr>
          <p:cNvPr id="23" name="Text 21"/>
          <p:cNvSpPr txBox="1"/>
          <p:nvPr/>
        </p:nvSpPr>
        <p:spPr>
          <a:xfrm>
            <a:off x="822960" y="4460443"/>
            <a:ext cx="4754880" cy="173736"/>
          </a:xfrm>
          <a:prstGeom prst="rect">
            <a:avLst/>
          </a:prstGeom>
          <a:noFill/>
          <a:ln/>
        </p:spPr>
        <p:txBody>
          <a:bodyPr wrap="square" lIns="0" tIns="0" rIns="0" bIns="0" rtlCol="0" anchor="ctr"/>
          <a:lstStyle/>
          <a:p>
            <a:pPr indent="0" marL="0">
              <a:buNone/>
            </a:pPr>
            <a:r>
              <a:rPr lang="en-US" sz="950" dirty="0">
                <a:solidFill>
                  <a:srgbClr val="3C4C5A"/>
                </a:solidFill>
                <a:latin typeface="Courier New" pitchFamily="34" charset="0"/>
                <a:ea typeface="Courier New" pitchFamily="34" charset="-122"/>
                <a:cs typeface="Courier New" pitchFamily="34" charset="-120"/>
              </a:rPr>
              <a:t>Never fill a required field with a guess.</a:t>
            </a:r>
            <a:endParaRPr lang="en-US" sz="950" dirty="0"/>
          </a:p>
        </p:txBody>
      </p:sp>
      <p:sp>
        <p:nvSpPr>
          <p:cNvPr id="24" name="Shape 22"/>
          <p:cNvSpPr/>
          <p:nvPr/>
        </p:nvSpPr>
        <p:spPr>
          <a:xfrm>
            <a:off x="548640" y="4709160"/>
            <a:ext cx="5120640" cy="914400"/>
          </a:xfrm>
          <a:prstGeom prst="roundRect">
            <a:avLst>
              <a:gd name="adj" fmla="val 10000"/>
            </a:avLst>
          </a:prstGeom>
          <a:solidFill>
            <a:srgbClr val="FFFFFF"/>
          </a:solidFill>
          <a:ln w="20320">
            <a:solidFill>
              <a:srgbClr val="14314F"/>
            </a:solidFill>
            <a:prstDash val="solid"/>
          </a:ln>
        </p:spPr>
      </p:sp>
      <p:sp>
        <p:nvSpPr>
          <p:cNvPr id="25" name="Shape 23"/>
          <p:cNvSpPr/>
          <p:nvPr/>
        </p:nvSpPr>
        <p:spPr>
          <a:xfrm>
            <a:off x="548640" y="4709160"/>
            <a:ext cx="5120640" cy="329184"/>
          </a:xfrm>
          <a:prstGeom prst="rect">
            <a:avLst/>
          </a:prstGeom>
          <a:solidFill>
            <a:srgbClr val="EAF1F7"/>
          </a:solidFill>
          <a:ln w="12700">
            <a:solidFill>
              <a:srgbClr val="EAF1F7"/>
            </a:solidFill>
            <a:prstDash val="solid"/>
          </a:ln>
        </p:spPr>
      </p:sp>
      <p:sp>
        <p:nvSpPr>
          <p:cNvPr id="26" name="Text 24"/>
          <p:cNvSpPr txBox="1"/>
          <p:nvPr/>
        </p:nvSpPr>
        <p:spPr>
          <a:xfrm>
            <a:off x="731520" y="4754880"/>
            <a:ext cx="4754880" cy="237744"/>
          </a:xfrm>
          <a:prstGeom prst="rect">
            <a:avLst/>
          </a:prstGeom>
          <a:noFill/>
          <a:ln/>
        </p:spPr>
        <p:txBody>
          <a:bodyPr wrap="square" lIns="0" tIns="0" rIns="0" bIns="0" rtlCol="0" anchor="ctr"/>
          <a:lstStyle/>
          <a:p>
            <a:pPr indent="0" marL="0">
              <a:buNone/>
            </a:pPr>
            <a:r>
              <a:rPr lang="en-US" sz="1150" b="1" dirty="0">
                <a:solidFill>
                  <a:srgbClr val="14314F"/>
                </a:solidFill>
                <a:latin typeface="Calibri" pitchFamily="34" charset="0"/>
                <a:ea typeface="Calibri" pitchFamily="34" charset="-122"/>
                <a:cs typeface="Calibri" pitchFamily="34" charset="-120"/>
              </a:rPr>
              <a:t>2.  lock_card schema   —   the blank form</a:t>
            </a:r>
            <a:endParaRPr lang="en-US" sz="1150" dirty="0"/>
          </a:p>
        </p:txBody>
      </p:sp>
      <p:sp>
        <p:nvSpPr>
          <p:cNvPr id="27" name="Text 25"/>
          <p:cNvSpPr txBox="1"/>
          <p:nvPr/>
        </p:nvSpPr>
        <p:spPr>
          <a:xfrm>
            <a:off x="822960" y="5093208"/>
            <a:ext cx="1234440" cy="164592"/>
          </a:xfrm>
          <a:prstGeom prst="rect">
            <a:avLst/>
          </a:prstGeom>
          <a:noFill/>
          <a:ln/>
        </p:spPr>
        <p:txBody>
          <a:bodyPr wrap="square" lIns="0" tIns="0" rIns="0" bIns="0" rtlCol="0" anchor="ctr"/>
          <a:lstStyle/>
          <a:p>
            <a:pPr indent="0" marL="0">
              <a:buNone/>
            </a:pPr>
            <a:r>
              <a:rPr lang="en-US" sz="950" dirty="0">
                <a:solidFill>
                  <a:srgbClr val="14314F"/>
                </a:solidFill>
                <a:latin typeface="Courier New" pitchFamily="34" charset="0"/>
                <a:ea typeface="Courier New" pitchFamily="34" charset="-122"/>
                <a:cs typeface="Courier New" pitchFamily="34" charset="-120"/>
              </a:rPr>
              <a:t>client_id</a:t>
            </a:r>
            <a:endParaRPr lang="en-US" sz="950" dirty="0"/>
          </a:p>
        </p:txBody>
      </p:sp>
      <p:sp>
        <p:nvSpPr>
          <p:cNvPr id="28" name="Text 26"/>
          <p:cNvSpPr txBox="1"/>
          <p:nvPr/>
        </p:nvSpPr>
        <p:spPr>
          <a:xfrm>
            <a:off x="2057400" y="5093208"/>
            <a:ext cx="822960" cy="164592"/>
          </a:xfrm>
          <a:prstGeom prst="rect">
            <a:avLst/>
          </a:prstGeom>
          <a:noFill/>
          <a:ln/>
        </p:spPr>
        <p:txBody>
          <a:bodyPr wrap="square" lIns="0" tIns="0" rIns="0" bIns="0" rtlCol="0" anchor="ctr"/>
          <a:lstStyle/>
          <a:p>
            <a:pPr indent="0" marL="0">
              <a:buNone/>
            </a:pPr>
            <a:r>
              <a:rPr lang="en-US" sz="900" b="1" dirty="0">
                <a:solidFill>
                  <a:srgbClr val="B03030"/>
                </a:solidFill>
                <a:latin typeface="Calibri" pitchFamily="34" charset="0"/>
                <a:ea typeface="Calibri" pitchFamily="34" charset="-122"/>
                <a:cs typeface="Calibri" pitchFamily="34" charset="-120"/>
              </a:rPr>
              <a:t>required</a:t>
            </a:r>
            <a:endParaRPr lang="en-US" sz="900" dirty="0"/>
          </a:p>
        </p:txBody>
      </p:sp>
      <p:sp>
        <p:nvSpPr>
          <p:cNvPr id="29" name="Text 27"/>
          <p:cNvSpPr txBox="1"/>
          <p:nvPr/>
        </p:nvSpPr>
        <p:spPr>
          <a:xfrm>
            <a:off x="2880360" y="5093208"/>
            <a:ext cx="2697480" cy="164592"/>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the ID from find_client — never invented</a:t>
            </a:r>
            <a:endParaRPr lang="en-US" sz="900" dirty="0"/>
          </a:p>
        </p:txBody>
      </p:sp>
      <p:sp>
        <p:nvSpPr>
          <p:cNvPr id="30" name="Text 28"/>
          <p:cNvSpPr txBox="1"/>
          <p:nvPr/>
        </p:nvSpPr>
        <p:spPr>
          <a:xfrm>
            <a:off x="822960" y="5253228"/>
            <a:ext cx="1234440" cy="164592"/>
          </a:xfrm>
          <a:prstGeom prst="rect">
            <a:avLst/>
          </a:prstGeom>
          <a:noFill/>
          <a:ln/>
        </p:spPr>
        <p:txBody>
          <a:bodyPr wrap="square" lIns="0" tIns="0" rIns="0" bIns="0" rtlCol="0" anchor="ctr"/>
          <a:lstStyle/>
          <a:p>
            <a:pPr indent="0" marL="0">
              <a:buNone/>
            </a:pPr>
            <a:r>
              <a:rPr lang="en-US" sz="950" dirty="0">
                <a:solidFill>
                  <a:srgbClr val="14314F"/>
                </a:solidFill>
                <a:latin typeface="Courier New" pitchFamily="34" charset="0"/>
                <a:ea typeface="Courier New" pitchFamily="34" charset="-122"/>
                <a:cs typeface="Courier New" pitchFamily="34" charset="-120"/>
              </a:rPr>
              <a:t>card_id</a:t>
            </a:r>
            <a:endParaRPr lang="en-US" sz="950" dirty="0"/>
          </a:p>
        </p:txBody>
      </p:sp>
      <p:sp>
        <p:nvSpPr>
          <p:cNvPr id="31" name="Text 29"/>
          <p:cNvSpPr txBox="1"/>
          <p:nvPr/>
        </p:nvSpPr>
        <p:spPr>
          <a:xfrm>
            <a:off x="2057400" y="5253228"/>
            <a:ext cx="822960" cy="164592"/>
          </a:xfrm>
          <a:prstGeom prst="rect">
            <a:avLst/>
          </a:prstGeom>
          <a:noFill/>
          <a:ln/>
        </p:spPr>
        <p:txBody>
          <a:bodyPr wrap="square" lIns="0" tIns="0" rIns="0" bIns="0" rtlCol="0" anchor="ctr"/>
          <a:lstStyle/>
          <a:p>
            <a:pPr indent="0" marL="0">
              <a:buNone/>
            </a:pPr>
            <a:r>
              <a:rPr lang="en-US" sz="900" b="1" dirty="0">
                <a:solidFill>
                  <a:srgbClr val="B03030"/>
                </a:solidFill>
                <a:latin typeface="Calibri" pitchFamily="34" charset="0"/>
                <a:ea typeface="Calibri" pitchFamily="34" charset="-122"/>
                <a:cs typeface="Calibri" pitchFamily="34" charset="-120"/>
              </a:rPr>
              <a:t>required</a:t>
            </a:r>
            <a:endParaRPr lang="en-US" sz="900" dirty="0"/>
          </a:p>
        </p:txBody>
      </p:sp>
      <p:sp>
        <p:nvSpPr>
          <p:cNvPr id="32" name="Text 30"/>
          <p:cNvSpPr txBox="1"/>
          <p:nvPr/>
        </p:nvSpPr>
        <p:spPr>
          <a:xfrm>
            <a:off x="2880360" y="5253228"/>
            <a:ext cx="2697480" cy="164592"/>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the ID from list_cards</a:t>
            </a:r>
            <a:endParaRPr lang="en-US" sz="900" dirty="0"/>
          </a:p>
        </p:txBody>
      </p:sp>
      <p:sp>
        <p:nvSpPr>
          <p:cNvPr id="33" name="Text 31"/>
          <p:cNvSpPr txBox="1"/>
          <p:nvPr/>
        </p:nvSpPr>
        <p:spPr>
          <a:xfrm>
            <a:off x="822960" y="5413248"/>
            <a:ext cx="1234440" cy="164592"/>
          </a:xfrm>
          <a:prstGeom prst="rect">
            <a:avLst/>
          </a:prstGeom>
          <a:noFill/>
          <a:ln/>
        </p:spPr>
        <p:txBody>
          <a:bodyPr wrap="square" lIns="0" tIns="0" rIns="0" bIns="0" rtlCol="0" anchor="ctr"/>
          <a:lstStyle/>
          <a:p>
            <a:pPr indent="0" marL="0">
              <a:buNone/>
            </a:pPr>
            <a:r>
              <a:rPr lang="en-US" sz="950" dirty="0">
                <a:solidFill>
                  <a:srgbClr val="14314F"/>
                </a:solidFill>
                <a:latin typeface="Courier New" pitchFamily="34" charset="0"/>
                <a:ea typeface="Courier New" pitchFamily="34" charset="-122"/>
                <a:cs typeface="Courier New" pitchFamily="34" charset="-120"/>
              </a:rPr>
              <a:t>reason</a:t>
            </a:r>
            <a:endParaRPr lang="en-US" sz="950" dirty="0"/>
          </a:p>
        </p:txBody>
      </p:sp>
      <p:sp>
        <p:nvSpPr>
          <p:cNvPr id="34" name="Text 32"/>
          <p:cNvSpPr txBox="1"/>
          <p:nvPr/>
        </p:nvSpPr>
        <p:spPr>
          <a:xfrm>
            <a:off x="2057400" y="5413248"/>
            <a:ext cx="822960" cy="164592"/>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optional</a:t>
            </a:r>
            <a:endParaRPr lang="en-US" sz="900" dirty="0"/>
          </a:p>
        </p:txBody>
      </p:sp>
      <p:sp>
        <p:nvSpPr>
          <p:cNvPr id="35" name="Text 33"/>
          <p:cNvSpPr txBox="1"/>
          <p:nvPr/>
        </p:nvSpPr>
        <p:spPr>
          <a:xfrm>
            <a:off x="2880360" y="5413248"/>
            <a:ext cx="2697480" cy="164592"/>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free text, stored on the audit record</a:t>
            </a:r>
            <a:endParaRPr lang="en-US" sz="900" dirty="0"/>
          </a:p>
        </p:txBody>
      </p:sp>
      <p:sp>
        <p:nvSpPr>
          <p:cNvPr id="36" name="Text 34"/>
          <p:cNvSpPr txBox="1"/>
          <p:nvPr/>
        </p:nvSpPr>
        <p:spPr>
          <a:xfrm>
            <a:off x="5760720" y="3246120"/>
            <a:ext cx="548640" cy="365760"/>
          </a:xfrm>
          <a:prstGeom prst="rect">
            <a:avLst/>
          </a:prstGeom>
          <a:noFill/>
          <a:ln/>
        </p:spPr>
        <p:txBody>
          <a:bodyPr wrap="square" lIns="0" tIns="0" rIns="0" bIns="0" rtlCol="0" anchor="ctr"/>
          <a:lstStyle/>
          <a:p>
            <a:pPr algn="ctr" indent="0" marL="0">
              <a:buNone/>
            </a:pPr>
            <a:r>
              <a:rPr lang="en-US" sz="2600" dirty="0">
                <a:solidFill>
                  <a:srgbClr val="7E8D9B"/>
                </a:solidFill>
                <a:latin typeface="Calibri" pitchFamily="34" charset="0"/>
                <a:ea typeface="Calibri" pitchFamily="34" charset="-122"/>
                <a:cs typeface="Calibri" pitchFamily="34" charset="-120"/>
              </a:rPr>
              <a:t>→</a:t>
            </a:r>
            <a:endParaRPr lang="en-US" sz="2600" dirty="0"/>
          </a:p>
        </p:txBody>
      </p:sp>
      <p:sp>
        <p:nvSpPr>
          <p:cNvPr id="37" name="Shape 35"/>
          <p:cNvSpPr/>
          <p:nvPr/>
        </p:nvSpPr>
        <p:spPr>
          <a:xfrm>
            <a:off x="6400800" y="1627632"/>
            <a:ext cx="5212080" cy="1783080"/>
          </a:xfrm>
          <a:prstGeom prst="roundRect">
            <a:avLst>
              <a:gd name="adj" fmla="val 5128"/>
            </a:avLst>
          </a:prstGeom>
          <a:solidFill>
            <a:srgbClr val="EAF1F7"/>
          </a:solidFill>
          <a:ln w="20320">
            <a:solidFill>
              <a:srgbClr val="14314F"/>
            </a:solidFill>
            <a:prstDash val="solid"/>
          </a:ln>
        </p:spPr>
      </p:sp>
      <p:sp>
        <p:nvSpPr>
          <p:cNvPr id="38" name="Text 36"/>
          <p:cNvSpPr txBox="1"/>
          <p:nvPr/>
        </p:nvSpPr>
        <p:spPr>
          <a:xfrm>
            <a:off x="6629400" y="1737360"/>
            <a:ext cx="4754880" cy="256032"/>
          </a:xfrm>
          <a:prstGeom prst="rect">
            <a:avLst/>
          </a:prstGeom>
          <a:noFill/>
          <a:ln/>
        </p:spPr>
        <p:txBody>
          <a:bodyPr wrap="square" lIns="0" tIns="0" rIns="0" bIns="0" rtlCol="0" anchor="ctr"/>
          <a:lstStyle/>
          <a:p>
            <a:pPr indent="0" marL="0">
              <a:buNone/>
            </a:pPr>
            <a:r>
              <a:rPr lang="en-US" sz="1200" b="1" dirty="0">
                <a:solidFill>
                  <a:srgbClr val="14314F"/>
                </a:solidFill>
                <a:latin typeface="Calibri" pitchFamily="34" charset="0"/>
                <a:ea typeface="Calibri" pitchFamily="34" charset="-122"/>
                <a:cs typeface="Calibri" pitchFamily="34" charset="-120"/>
              </a:rPr>
              <a:t>3.  The same form, filled in by the chat</a:t>
            </a:r>
            <a:endParaRPr lang="en-US" sz="1200" dirty="0"/>
          </a:p>
        </p:txBody>
      </p:sp>
      <p:sp>
        <p:nvSpPr>
          <p:cNvPr id="39" name="Text 37"/>
          <p:cNvSpPr txBox="1"/>
          <p:nvPr/>
        </p:nvSpPr>
        <p:spPr>
          <a:xfrm>
            <a:off x="6675120" y="2103120"/>
            <a:ext cx="4754880" cy="237744"/>
          </a:xfrm>
          <a:prstGeom prst="rect">
            <a:avLst/>
          </a:prstGeom>
          <a:noFill/>
          <a:ln/>
        </p:spPr>
        <p:txBody>
          <a:bodyPr wrap="square" lIns="0" tIns="0" rIns="0" bIns="0" rtlCol="0" anchor="ctr"/>
          <a:lstStyle/>
          <a:p>
            <a:pPr indent="0" marL="0">
              <a:buNone/>
            </a:pPr>
            <a:r>
              <a:rPr lang="en-US" sz="1100" dirty="0">
                <a:solidFill>
                  <a:srgbClr val="14314F"/>
                </a:solidFill>
                <a:latin typeface="Courier New" pitchFamily="34" charset="0"/>
                <a:ea typeface="Courier New" pitchFamily="34" charset="-122"/>
                <a:cs typeface="Courier New" pitchFamily="34" charset="-120"/>
              </a:rPr>
              <a:t>{  "tool": "lock_card",</a:t>
            </a:r>
            <a:endParaRPr lang="en-US" sz="1100" dirty="0"/>
          </a:p>
        </p:txBody>
      </p:sp>
      <p:sp>
        <p:nvSpPr>
          <p:cNvPr id="40" name="Text 38"/>
          <p:cNvSpPr txBox="1"/>
          <p:nvPr/>
        </p:nvSpPr>
        <p:spPr>
          <a:xfrm>
            <a:off x="6675120" y="2359152"/>
            <a:ext cx="4754880" cy="237744"/>
          </a:xfrm>
          <a:prstGeom prst="rect">
            <a:avLst/>
          </a:prstGeom>
          <a:noFill/>
          <a:ln/>
        </p:spPr>
        <p:txBody>
          <a:bodyPr wrap="square" lIns="0" tIns="0" rIns="0" bIns="0" rtlCol="0" anchor="ctr"/>
          <a:lstStyle/>
          <a:p>
            <a:pPr indent="0" marL="0">
              <a:buNone/>
            </a:pPr>
            <a:r>
              <a:rPr lang="en-US" sz="1100" dirty="0">
                <a:solidFill>
                  <a:srgbClr val="14314F"/>
                </a:solidFill>
                <a:latin typeface="Courier New" pitchFamily="34" charset="0"/>
                <a:ea typeface="Courier New" pitchFamily="34" charset="-122"/>
                <a:cs typeface="Courier New" pitchFamily="34" charset="-120"/>
              </a:rPr>
              <a:t>   "client_id": "C-88210",</a:t>
            </a:r>
            <a:endParaRPr lang="en-US" sz="1100" dirty="0"/>
          </a:p>
        </p:txBody>
      </p:sp>
      <p:sp>
        <p:nvSpPr>
          <p:cNvPr id="41" name="Text 39"/>
          <p:cNvSpPr txBox="1"/>
          <p:nvPr/>
        </p:nvSpPr>
        <p:spPr>
          <a:xfrm>
            <a:off x="6675120" y="2615184"/>
            <a:ext cx="4754880" cy="237744"/>
          </a:xfrm>
          <a:prstGeom prst="rect">
            <a:avLst/>
          </a:prstGeom>
          <a:noFill/>
          <a:ln/>
        </p:spPr>
        <p:txBody>
          <a:bodyPr wrap="square" lIns="0" tIns="0" rIns="0" bIns="0" rtlCol="0" anchor="ctr"/>
          <a:lstStyle/>
          <a:p>
            <a:pPr indent="0" marL="0">
              <a:buNone/>
            </a:pPr>
            <a:r>
              <a:rPr lang="en-US" sz="1100" dirty="0">
                <a:solidFill>
                  <a:srgbClr val="14314F"/>
                </a:solidFill>
                <a:latin typeface="Courier New" pitchFamily="34" charset="0"/>
                <a:ea typeface="Courier New" pitchFamily="34" charset="-122"/>
                <a:cs typeface="Courier New" pitchFamily="34" charset="-120"/>
              </a:rPr>
              <a:t>   "card_id":   "CARD-4417"  }</a:t>
            </a:r>
            <a:endParaRPr lang="en-US" sz="1100" dirty="0"/>
          </a:p>
        </p:txBody>
      </p:sp>
      <p:sp>
        <p:nvSpPr>
          <p:cNvPr id="42" name="Text 40"/>
          <p:cNvSpPr txBox="1"/>
          <p:nvPr/>
        </p:nvSpPr>
        <p:spPr>
          <a:xfrm>
            <a:off x="6675120" y="2962656"/>
            <a:ext cx="4754880" cy="365760"/>
          </a:xfrm>
          <a:prstGeom prst="rect">
            <a:avLst/>
          </a:prstGeom>
          <a:noFill/>
          <a:ln/>
        </p:spPr>
        <p:txBody>
          <a:bodyPr wrap="square" lIns="0" tIns="0" rIns="0" bIns="0" rtlCol="0" anchor="ctr"/>
          <a:lstStyle/>
          <a:p>
            <a:pPr indent="0" marL="0">
              <a:buNone/>
            </a:pPr>
            <a:r>
              <a:rPr lang="en-US" sz="1050" i="1" dirty="0">
                <a:solidFill>
                  <a:srgbClr val="5B6B7A"/>
                </a:solidFill>
                <a:latin typeface="Calibri" pitchFamily="34" charset="0"/>
                <a:ea typeface="Calibri" pitchFamily="34" charset="-122"/>
                <a:cs typeface="Calibri" pitchFamily="34" charset="-120"/>
              </a:rPr>
              <a:t>Checked against the schema first — a missing or invented field is rejected before it reaches us.</a:t>
            </a:r>
            <a:endParaRPr lang="en-US" sz="1050" dirty="0"/>
          </a:p>
        </p:txBody>
      </p:sp>
      <p:sp>
        <p:nvSpPr>
          <p:cNvPr id="43" name="Shape 41"/>
          <p:cNvSpPr/>
          <p:nvPr/>
        </p:nvSpPr>
        <p:spPr>
          <a:xfrm>
            <a:off x="6400800" y="3611880"/>
            <a:ext cx="5212080" cy="2011680"/>
          </a:xfrm>
          <a:prstGeom prst="roundRect">
            <a:avLst>
              <a:gd name="adj" fmla="val 4545"/>
            </a:avLst>
          </a:prstGeom>
          <a:solidFill>
            <a:srgbClr val="EEF4F2"/>
          </a:solidFill>
          <a:ln w="20320">
            <a:solidFill>
              <a:srgbClr val="2E7D5B"/>
            </a:solidFill>
            <a:prstDash val="solid"/>
          </a:ln>
        </p:spPr>
      </p:sp>
      <p:sp>
        <p:nvSpPr>
          <p:cNvPr id="44" name="Text 42"/>
          <p:cNvSpPr txBox="1"/>
          <p:nvPr/>
        </p:nvSpPr>
        <p:spPr>
          <a:xfrm>
            <a:off x="6629400" y="3721608"/>
            <a:ext cx="4754880" cy="256032"/>
          </a:xfrm>
          <a:prstGeom prst="rect">
            <a:avLst/>
          </a:prstGeom>
          <a:noFill/>
          <a:ln/>
        </p:spPr>
        <p:txBody>
          <a:bodyPr wrap="square" lIns="0" tIns="0" rIns="0" bIns="0" rtlCol="0" anchor="ctr"/>
          <a:lstStyle/>
          <a:p>
            <a:pPr indent="0" marL="0">
              <a:buNone/>
            </a:pPr>
            <a:r>
              <a:rPr lang="en-US" sz="1200" b="1" dirty="0">
                <a:solidFill>
                  <a:srgbClr val="2E7D5B"/>
                </a:solidFill>
                <a:latin typeface="Calibri" pitchFamily="34" charset="0"/>
                <a:ea typeface="Calibri" pitchFamily="34" charset="-122"/>
                <a:cs typeface="Calibri" pitchFamily="34" charset="-120"/>
              </a:rPr>
              <a:t>4.  What our code then does — no AI</a:t>
            </a:r>
            <a:endParaRPr lang="en-US" sz="1200" dirty="0"/>
          </a:p>
        </p:txBody>
      </p:sp>
      <p:sp>
        <p:nvSpPr>
          <p:cNvPr id="45" name="Shape 43"/>
          <p:cNvSpPr/>
          <p:nvPr/>
        </p:nvSpPr>
        <p:spPr>
          <a:xfrm>
            <a:off x="6675120" y="4087368"/>
            <a:ext cx="201168" cy="201168"/>
          </a:xfrm>
          <a:prstGeom prst="ellipse">
            <a:avLst/>
          </a:prstGeom>
          <a:solidFill>
            <a:srgbClr val="2E7D5B"/>
          </a:solidFill>
          <a:ln/>
        </p:spPr>
      </p:sp>
      <p:sp>
        <p:nvSpPr>
          <p:cNvPr id="46" name="Text 44"/>
          <p:cNvSpPr txBox="1"/>
          <p:nvPr/>
        </p:nvSpPr>
        <p:spPr>
          <a:xfrm>
            <a:off x="6675120" y="4105656"/>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7" name="Text 45"/>
          <p:cNvSpPr txBox="1"/>
          <p:nvPr/>
        </p:nvSpPr>
        <p:spPr>
          <a:xfrm>
            <a:off x="6967728" y="4069080"/>
            <a:ext cx="4480560" cy="256032"/>
          </a:xfrm>
          <a:prstGeom prst="rect">
            <a:avLst/>
          </a:prstGeom>
          <a:noFill/>
          <a:ln/>
        </p:spPr>
        <p:txBody>
          <a:bodyPr wrap="square" lIns="0" tIns="0" rIns="0" bIns="0" rtlCol="0" anchor="ctr"/>
          <a:lstStyle/>
          <a:p>
            <a:pPr indent="0" marL="0">
              <a:buNone/>
            </a:pPr>
            <a:r>
              <a:rPr lang="en-US" sz="1100" dirty="0">
                <a:solidFill>
                  <a:srgbClr val="23343F"/>
                </a:solidFill>
                <a:latin typeface="Calibri" pitchFamily="34" charset="0"/>
                <a:ea typeface="Calibri" pitchFamily="34" charset="-122"/>
                <a:cs typeface="Calibri" pitchFamily="34" charset="-120"/>
              </a:rPr>
              <a:t>Is this advisor entitled to the account?</a:t>
            </a:r>
            <a:endParaRPr lang="en-US" sz="1100" dirty="0"/>
          </a:p>
        </p:txBody>
      </p:sp>
      <p:sp>
        <p:nvSpPr>
          <p:cNvPr id="48" name="Shape 46"/>
          <p:cNvSpPr/>
          <p:nvPr/>
        </p:nvSpPr>
        <p:spPr>
          <a:xfrm>
            <a:off x="6675120" y="4379976"/>
            <a:ext cx="201168" cy="201168"/>
          </a:xfrm>
          <a:prstGeom prst="ellipse">
            <a:avLst/>
          </a:prstGeom>
          <a:solidFill>
            <a:srgbClr val="2E7D5B"/>
          </a:solidFill>
          <a:ln/>
        </p:spPr>
      </p:sp>
      <p:sp>
        <p:nvSpPr>
          <p:cNvPr id="49" name="Text 47"/>
          <p:cNvSpPr txBox="1"/>
          <p:nvPr/>
        </p:nvSpPr>
        <p:spPr>
          <a:xfrm>
            <a:off x="6675120" y="4398264"/>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0" name="Text 48"/>
          <p:cNvSpPr txBox="1"/>
          <p:nvPr/>
        </p:nvSpPr>
        <p:spPr>
          <a:xfrm>
            <a:off x="6967728" y="4361688"/>
            <a:ext cx="4480560" cy="256032"/>
          </a:xfrm>
          <a:prstGeom prst="rect">
            <a:avLst/>
          </a:prstGeom>
          <a:noFill/>
          <a:ln/>
        </p:spPr>
        <p:txBody>
          <a:bodyPr wrap="square" lIns="0" tIns="0" rIns="0" bIns="0" rtlCol="0" anchor="ctr"/>
          <a:lstStyle/>
          <a:p>
            <a:pPr indent="0" marL="0">
              <a:buNone/>
            </a:pPr>
            <a:r>
              <a:rPr lang="en-US" sz="1100" dirty="0">
                <a:solidFill>
                  <a:srgbClr val="23343F"/>
                </a:solidFill>
                <a:latin typeface="Calibri" pitchFamily="34" charset="0"/>
                <a:ea typeface="Calibri" pitchFamily="34" charset="-122"/>
                <a:cs typeface="Calibri" pitchFamily="34" charset="-120"/>
              </a:rPr>
              <a:t>Does this card belong to that client?</a:t>
            </a:r>
            <a:endParaRPr lang="en-US" sz="1100" dirty="0"/>
          </a:p>
        </p:txBody>
      </p:sp>
      <p:sp>
        <p:nvSpPr>
          <p:cNvPr id="51" name="Shape 49"/>
          <p:cNvSpPr/>
          <p:nvPr/>
        </p:nvSpPr>
        <p:spPr>
          <a:xfrm>
            <a:off x="6675120" y="4672584"/>
            <a:ext cx="201168" cy="201168"/>
          </a:xfrm>
          <a:prstGeom prst="ellipse">
            <a:avLst/>
          </a:prstGeom>
          <a:solidFill>
            <a:srgbClr val="2E7D5B"/>
          </a:solidFill>
          <a:ln/>
        </p:spPr>
      </p:sp>
      <p:sp>
        <p:nvSpPr>
          <p:cNvPr id="52" name="Text 50"/>
          <p:cNvSpPr txBox="1"/>
          <p:nvPr/>
        </p:nvSpPr>
        <p:spPr>
          <a:xfrm>
            <a:off x="6675120" y="4690872"/>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3" name="Text 51"/>
          <p:cNvSpPr txBox="1"/>
          <p:nvPr/>
        </p:nvSpPr>
        <p:spPr>
          <a:xfrm>
            <a:off x="6967728" y="4654296"/>
            <a:ext cx="4480560" cy="256032"/>
          </a:xfrm>
          <a:prstGeom prst="rect">
            <a:avLst/>
          </a:prstGeom>
          <a:noFill/>
          <a:ln/>
        </p:spPr>
        <p:txBody>
          <a:bodyPr wrap="square" lIns="0" tIns="0" rIns="0" bIns="0" rtlCol="0" anchor="ctr"/>
          <a:lstStyle/>
          <a:p>
            <a:pPr indent="0" marL="0">
              <a:buNone/>
            </a:pPr>
            <a:r>
              <a:rPr lang="en-US" sz="1100" dirty="0">
                <a:solidFill>
                  <a:srgbClr val="23343F"/>
                </a:solidFill>
                <a:latin typeface="Calibri" pitchFamily="34" charset="0"/>
                <a:ea typeface="Calibri" pitchFamily="34" charset="-122"/>
                <a:cs typeface="Calibri" pitchFamily="34" charset="-120"/>
              </a:rPr>
              <a:t>Show the summary, wait for Confirm</a:t>
            </a:r>
            <a:endParaRPr lang="en-US" sz="1100" dirty="0"/>
          </a:p>
        </p:txBody>
      </p:sp>
      <p:sp>
        <p:nvSpPr>
          <p:cNvPr id="54" name="Shape 52"/>
          <p:cNvSpPr/>
          <p:nvPr/>
        </p:nvSpPr>
        <p:spPr>
          <a:xfrm>
            <a:off x="6675120" y="4965192"/>
            <a:ext cx="201168" cy="201168"/>
          </a:xfrm>
          <a:prstGeom prst="ellipse">
            <a:avLst/>
          </a:prstGeom>
          <a:solidFill>
            <a:srgbClr val="2E7D5B"/>
          </a:solidFill>
          <a:ln/>
        </p:spPr>
      </p:sp>
      <p:sp>
        <p:nvSpPr>
          <p:cNvPr id="55" name="Text 53"/>
          <p:cNvSpPr txBox="1"/>
          <p:nvPr/>
        </p:nvSpPr>
        <p:spPr>
          <a:xfrm>
            <a:off x="6675120" y="498348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6" name="Text 54"/>
          <p:cNvSpPr txBox="1"/>
          <p:nvPr/>
        </p:nvSpPr>
        <p:spPr>
          <a:xfrm>
            <a:off x="6967728" y="4946904"/>
            <a:ext cx="4480560" cy="256032"/>
          </a:xfrm>
          <a:prstGeom prst="rect">
            <a:avLst/>
          </a:prstGeom>
          <a:noFill/>
          <a:ln/>
        </p:spPr>
        <p:txBody>
          <a:bodyPr wrap="square" lIns="0" tIns="0" rIns="0" bIns="0" rtlCol="0" anchor="ctr"/>
          <a:lstStyle/>
          <a:p>
            <a:pPr indent="0" marL="0">
              <a:buNone/>
            </a:pPr>
            <a:r>
              <a:rPr lang="en-US" sz="1100" dirty="0">
                <a:solidFill>
                  <a:srgbClr val="23343F"/>
                </a:solidFill>
                <a:latin typeface="Calibri" pitchFamily="34" charset="0"/>
                <a:ea typeface="Calibri" pitchFamily="34" charset="-122"/>
                <a:cs typeface="Calibri" pitchFamily="34" charset="-120"/>
              </a:rPr>
              <a:t>Call the existing lock_card API</a:t>
            </a:r>
            <a:endParaRPr lang="en-US" sz="1100" dirty="0"/>
          </a:p>
        </p:txBody>
      </p:sp>
      <p:sp>
        <p:nvSpPr>
          <p:cNvPr id="57" name="Shape 55"/>
          <p:cNvSpPr/>
          <p:nvPr/>
        </p:nvSpPr>
        <p:spPr>
          <a:xfrm>
            <a:off x="6675120" y="5257800"/>
            <a:ext cx="201168" cy="201168"/>
          </a:xfrm>
          <a:prstGeom prst="ellipse">
            <a:avLst/>
          </a:prstGeom>
          <a:solidFill>
            <a:srgbClr val="2E7D5B"/>
          </a:solidFill>
          <a:ln/>
        </p:spPr>
      </p:sp>
      <p:sp>
        <p:nvSpPr>
          <p:cNvPr id="58" name="Text 56"/>
          <p:cNvSpPr txBox="1"/>
          <p:nvPr/>
        </p:nvSpPr>
        <p:spPr>
          <a:xfrm>
            <a:off x="6675120" y="5276088"/>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59" name="Text 57"/>
          <p:cNvSpPr txBox="1"/>
          <p:nvPr/>
        </p:nvSpPr>
        <p:spPr>
          <a:xfrm>
            <a:off x="6967728" y="5239512"/>
            <a:ext cx="4480560" cy="256032"/>
          </a:xfrm>
          <a:prstGeom prst="rect">
            <a:avLst/>
          </a:prstGeom>
          <a:noFill/>
          <a:ln/>
        </p:spPr>
        <p:txBody>
          <a:bodyPr wrap="square" lIns="0" tIns="0" rIns="0" bIns="0" rtlCol="0" anchor="ctr"/>
          <a:lstStyle/>
          <a:p>
            <a:pPr indent="0" marL="0">
              <a:buNone/>
            </a:pPr>
            <a:r>
              <a:rPr lang="en-US" sz="1100" dirty="0">
                <a:solidFill>
                  <a:srgbClr val="23343F"/>
                </a:solidFill>
                <a:latin typeface="Calibri" pitchFamily="34" charset="0"/>
                <a:ea typeface="Calibri" pitchFamily="34" charset="-122"/>
                <a:cs typeface="Calibri" pitchFamily="34" charset="-120"/>
              </a:rPr>
              <a:t>Write the audit record</a:t>
            </a:r>
            <a:endParaRPr lang="en-US" sz="1100" dirty="0"/>
          </a:p>
        </p:txBody>
      </p:sp>
      <p:sp>
        <p:nvSpPr>
          <p:cNvPr id="60" name="Text 58"/>
          <p:cNvSpPr txBox="1"/>
          <p:nvPr/>
        </p:nvSpPr>
        <p:spPr>
          <a:xfrm>
            <a:off x="548640" y="5852160"/>
            <a:ext cx="11064240" cy="27432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The skill governs behaviour. The schema governs shape. The filled-in form is all that passes from the chat to our code.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What the chat could do</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Six tools agreed with Ben — and six more we would like to put on the table.</a:t>
            </a:r>
            <a:endParaRPr lang="en-US" sz="1400" dirty="0"/>
          </a:p>
        </p:txBody>
      </p:sp>
      <p:sp>
        <p:nvSpPr>
          <p:cNvPr id="4" name="Shape 2"/>
          <p:cNvSpPr/>
          <p:nvPr/>
        </p:nvSpPr>
        <p:spPr>
          <a:xfrm>
            <a:off x="548640" y="1481328"/>
            <a:ext cx="5440680" cy="4114800"/>
          </a:xfrm>
          <a:prstGeom prst="roundRect">
            <a:avLst>
              <a:gd name="adj" fmla="val 2222"/>
            </a:avLst>
          </a:prstGeom>
          <a:solidFill>
            <a:srgbClr val="F4FAF6"/>
          </a:solidFill>
          <a:ln w="20320">
            <a:solidFill>
              <a:srgbClr val="2E7D5B"/>
            </a:solidFill>
            <a:prstDash val="solid"/>
          </a:ln>
        </p:spPr>
      </p:sp>
      <p:sp>
        <p:nvSpPr>
          <p:cNvPr id="5" name="Text 3"/>
          <p:cNvSpPr txBox="1"/>
          <p:nvPr/>
        </p:nvSpPr>
        <p:spPr>
          <a:xfrm>
            <a:off x="822960" y="1645920"/>
            <a:ext cx="4937760" cy="274320"/>
          </a:xfrm>
          <a:prstGeom prst="rect">
            <a:avLst/>
          </a:prstGeom>
          <a:noFill/>
          <a:ln/>
        </p:spPr>
        <p:txBody>
          <a:bodyPr wrap="square" lIns="0" tIns="0" rIns="0" bIns="0" rtlCol="0" anchor="ctr"/>
          <a:lstStyle/>
          <a:p>
            <a:pPr indent="0" marL="0">
              <a:buNone/>
            </a:pPr>
            <a:r>
              <a:rPr lang="en-US" sz="1500" b="1" dirty="0">
                <a:solidFill>
                  <a:srgbClr val="2E7D5B"/>
                </a:solidFill>
                <a:latin typeface="Cambria" pitchFamily="34" charset="0"/>
                <a:ea typeface="Cambria" pitchFamily="34" charset="-122"/>
                <a:cs typeface="Cambria" pitchFamily="34" charset="-120"/>
              </a:rPr>
              <a:t>AGREED WITH BEN — in scope</a:t>
            </a:r>
            <a:endParaRPr lang="en-US" sz="1500" dirty="0"/>
          </a:p>
        </p:txBody>
      </p:sp>
      <p:sp>
        <p:nvSpPr>
          <p:cNvPr id="6" name="Text 4"/>
          <p:cNvSpPr txBox="1"/>
          <p:nvPr/>
        </p:nvSpPr>
        <p:spPr>
          <a:xfrm>
            <a:off x="1005840" y="1883664"/>
            <a:ext cx="2377440" cy="219456"/>
          </a:xfrm>
          <a:prstGeom prst="rect">
            <a:avLst/>
          </a:prstGeom>
          <a:noFill/>
          <a:ln/>
        </p:spPr>
        <p:txBody>
          <a:bodyPr wrap="square" lIns="0" tIns="0" rIns="0" bIns="0" rtlCol="0" anchor="ctr"/>
          <a:lstStyle/>
          <a:p>
            <a:pPr indent="0" marL="0">
              <a:buNone/>
            </a:pPr>
            <a:r>
              <a:rPr lang="en-US" sz="950" b="1" spc="50" kern="0" dirty="0">
                <a:solidFill>
                  <a:srgbClr val="7A8894"/>
                </a:solidFill>
                <a:latin typeface="Calibri" pitchFamily="34" charset="0"/>
                <a:ea typeface="Calibri" pitchFamily="34" charset="-122"/>
                <a:cs typeface="Calibri" pitchFamily="34" charset="-120"/>
              </a:rPr>
              <a:t>action  /  tool</a:t>
            </a:r>
            <a:endParaRPr lang="en-US" sz="950" dirty="0"/>
          </a:p>
        </p:txBody>
      </p:sp>
      <p:sp>
        <p:nvSpPr>
          <p:cNvPr id="7" name="Text 5"/>
          <p:cNvSpPr txBox="1"/>
          <p:nvPr/>
        </p:nvSpPr>
        <p:spPr>
          <a:xfrm>
            <a:off x="3246120" y="1883664"/>
            <a:ext cx="2286000" cy="219456"/>
          </a:xfrm>
          <a:prstGeom prst="rect">
            <a:avLst/>
          </a:prstGeom>
          <a:noFill/>
          <a:ln/>
        </p:spPr>
        <p:txBody>
          <a:bodyPr wrap="square" lIns="0" tIns="0" rIns="0" bIns="0" rtlCol="0" anchor="ctr"/>
          <a:lstStyle/>
          <a:p>
            <a:pPr algn="r" indent="0" marL="0">
              <a:buNone/>
            </a:pPr>
            <a:r>
              <a:rPr lang="en-US" sz="950" b="1" dirty="0">
                <a:solidFill>
                  <a:srgbClr val="7A8894"/>
                </a:solidFill>
                <a:latin typeface="Calibri" pitchFamily="34" charset="0"/>
                <a:ea typeface="Calibri" pitchFamily="34" charset="-122"/>
                <a:cs typeface="Calibri" pitchFamily="34" charset="-120"/>
              </a:rPr>
              <a:t>what the chat must collect</a:t>
            </a:r>
            <a:endParaRPr lang="en-US" sz="950" dirty="0"/>
          </a:p>
        </p:txBody>
      </p:sp>
      <p:sp>
        <p:nvSpPr>
          <p:cNvPr id="8" name="Shape 6"/>
          <p:cNvSpPr/>
          <p:nvPr/>
        </p:nvSpPr>
        <p:spPr>
          <a:xfrm>
            <a:off x="822960" y="2176272"/>
            <a:ext cx="4892040" cy="512064"/>
          </a:xfrm>
          <a:prstGeom prst="roundRect">
            <a:avLst>
              <a:gd name="adj" fmla="val 10714"/>
            </a:avLst>
          </a:prstGeom>
          <a:solidFill>
            <a:srgbClr val="FFFFFF"/>
          </a:solidFill>
          <a:ln w="12700">
            <a:solidFill>
              <a:srgbClr val="C7D2DC"/>
            </a:solidFill>
            <a:prstDash val="solid"/>
          </a:ln>
        </p:spPr>
      </p:sp>
      <p:sp>
        <p:nvSpPr>
          <p:cNvPr id="9" name="Text 7"/>
          <p:cNvSpPr txBox="1"/>
          <p:nvPr/>
        </p:nvSpPr>
        <p:spPr>
          <a:xfrm>
            <a:off x="1005840" y="2203704"/>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Lock card</a:t>
            </a:r>
            <a:endParaRPr lang="en-US" sz="1250" dirty="0"/>
          </a:p>
        </p:txBody>
      </p:sp>
      <p:sp>
        <p:nvSpPr>
          <p:cNvPr id="10" name="Text 8"/>
          <p:cNvSpPr txBox="1"/>
          <p:nvPr/>
        </p:nvSpPr>
        <p:spPr>
          <a:xfrm>
            <a:off x="1005840" y="2432304"/>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lock_card</a:t>
            </a:r>
            <a:endParaRPr lang="en-US" sz="1000" dirty="0"/>
          </a:p>
        </p:txBody>
      </p:sp>
      <p:sp>
        <p:nvSpPr>
          <p:cNvPr id="11" name="Text 9"/>
          <p:cNvSpPr txBox="1"/>
          <p:nvPr/>
        </p:nvSpPr>
        <p:spPr>
          <a:xfrm>
            <a:off x="3246120" y="2304288"/>
            <a:ext cx="2286000" cy="256032"/>
          </a:xfrm>
          <a:prstGeom prst="rect">
            <a:avLst/>
          </a:prstGeom>
          <a:noFill/>
          <a:ln/>
        </p:spPr>
        <p:txBody>
          <a:bodyPr wrap="square" lIns="0" tIns="0" rIns="0" bIns="0" rtlCol="0" anchor="ctr"/>
          <a:lstStyle/>
          <a:p>
            <a:pPr algn="r" indent="0" marL="0">
              <a:buNone/>
            </a:pPr>
            <a:r>
              <a:rPr lang="en-US" sz="1050" dirty="0">
                <a:solidFill>
                  <a:srgbClr val="5B6B7A"/>
                </a:solidFill>
                <a:latin typeface="Calibri" pitchFamily="34" charset="0"/>
                <a:ea typeface="Calibri" pitchFamily="34" charset="-122"/>
                <a:cs typeface="Calibri" pitchFamily="34" charset="-120"/>
              </a:rPr>
              <a:t>which card</a:t>
            </a:r>
            <a:endParaRPr lang="en-US" sz="1050" dirty="0"/>
          </a:p>
        </p:txBody>
      </p:sp>
      <p:sp>
        <p:nvSpPr>
          <p:cNvPr id="12" name="Shape 10"/>
          <p:cNvSpPr/>
          <p:nvPr/>
        </p:nvSpPr>
        <p:spPr>
          <a:xfrm>
            <a:off x="822960" y="2743200"/>
            <a:ext cx="4892040" cy="512064"/>
          </a:xfrm>
          <a:prstGeom prst="roundRect">
            <a:avLst>
              <a:gd name="adj" fmla="val 10714"/>
            </a:avLst>
          </a:prstGeom>
          <a:solidFill>
            <a:srgbClr val="FFFFFF"/>
          </a:solidFill>
          <a:ln w="12700">
            <a:solidFill>
              <a:srgbClr val="C7D2DC"/>
            </a:solidFill>
            <a:prstDash val="solid"/>
          </a:ln>
        </p:spPr>
      </p:sp>
      <p:sp>
        <p:nvSpPr>
          <p:cNvPr id="13" name="Text 11"/>
          <p:cNvSpPr txBox="1"/>
          <p:nvPr/>
        </p:nvSpPr>
        <p:spPr>
          <a:xfrm>
            <a:off x="1005840" y="2770632"/>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Unlock card</a:t>
            </a:r>
            <a:endParaRPr lang="en-US" sz="1250" dirty="0"/>
          </a:p>
        </p:txBody>
      </p:sp>
      <p:sp>
        <p:nvSpPr>
          <p:cNvPr id="14" name="Text 12"/>
          <p:cNvSpPr txBox="1"/>
          <p:nvPr/>
        </p:nvSpPr>
        <p:spPr>
          <a:xfrm>
            <a:off x="1005840" y="2999232"/>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unlock_card</a:t>
            </a:r>
            <a:endParaRPr lang="en-US" sz="1000" dirty="0"/>
          </a:p>
        </p:txBody>
      </p:sp>
      <p:sp>
        <p:nvSpPr>
          <p:cNvPr id="15" name="Text 13"/>
          <p:cNvSpPr txBox="1"/>
          <p:nvPr/>
        </p:nvSpPr>
        <p:spPr>
          <a:xfrm>
            <a:off x="3246120" y="2871216"/>
            <a:ext cx="2286000" cy="256032"/>
          </a:xfrm>
          <a:prstGeom prst="rect">
            <a:avLst/>
          </a:prstGeom>
          <a:noFill/>
          <a:ln/>
        </p:spPr>
        <p:txBody>
          <a:bodyPr wrap="square" lIns="0" tIns="0" rIns="0" bIns="0" rtlCol="0" anchor="ctr"/>
          <a:lstStyle/>
          <a:p>
            <a:pPr algn="r" indent="0" marL="0">
              <a:buNone/>
            </a:pPr>
            <a:r>
              <a:rPr lang="en-US" sz="1050" dirty="0">
                <a:solidFill>
                  <a:srgbClr val="5B6B7A"/>
                </a:solidFill>
                <a:latin typeface="Calibri" pitchFamily="34" charset="0"/>
                <a:ea typeface="Calibri" pitchFamily="34" charset="-122"/>
                <a:cs typeface="Calibri" pitchFamily="34" charset="-120"/>
              </a:rPr>
              <a:t>which card</a:t>
            </a:r>
            <a:endParaRPr lang="en-US" sz="1050" dirty="0"/>
          </a:p>
        </p:txBody>
      </p:sp>
      <p:sp>
        <p:nvSpPr>
          <p:cNvPr id="16" name="Shape 14"/>
          <p:cNvSpPr/>
          <p:nvPr/>
        </p:nvSpPr>
        <p:spPr>
          <a:xfrm>
            <a:off x="822960" y="3310128"/>
            <a:ext cx="4892040" cy="512064"/>
          </a:xfrm>
          <a:prstGeom prst="roundRect">
            <a:avLst>
              <a:gd name="adj" fmla="val 10714"/>
            </a:avLst>
          </a:prstGeom>
          <a:solidFill>
            <a:srgbClr val="FFFFFF"/>
          </a:solidFill>
          <a:ln w="12700">
            <a:solidFill>
              <a:srgbClr val="C7D2DC"/>
            </a:solidFill>
            <a:prstDash val="solid"/>
          </a:ln>
        </p:spPr>
      </p:sp>
      <p:sp>
        <p:nvSpPr>
          <p:cNvPr id="17" name="Text 15"/>
          <p:cNvSpPr txBox="1"/>
          <p:nvPr/>
        </p:nvSpPr>
        <p:spPr>
          <a:xfrm>
            <a:off x="1005840" y="3337560"/>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Replace card</a:t>
            </a:r>
            <a:endParaRPr lang="en-US" sz="1250" dirty="0"/>
          </a:p>
        </p:txBody>
      </p:sp>
      <p:sp>
        <p:nvSpPr>
          <p:cNvPr id="18" name="Text 16"/>
          <p:cNvSpPr txBox="1"/>
          <p:nvPr/>
        </p:nvSpPr>
        <p:spPr>
          <a:xfrm>
            <a:off x="1005840" y="3566160"/>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replace_card</a:t>
            </a:r>
            <a:endParaRPr lang="en-US" sz="1000" dirty="0"/>
          </a:p>
        </p:txBody>
      </p:sp>
      <p:sp>
        <p:nvSpPr>
          <p:cNvPr id="19" name="Text 17"/>
          <p:cNvSpPr txBox="1"/>
          <p:nvPr/>
        </p:nvSpPr>
        <p:spPr>
          <a:xfrm>
            <a:off x="3246120" y="3438144"/>
            <a:ext cx="2286000" cy="256032"/>
          </a:xfrm>
          <a:prstGeom prst="rect">
            <a:avLst/>
          </a:prstGeom>
          <a:noFill/>
          <a:ln/>
        </p:spPr>
        <p:txBody>
          <a:bodyPr wrap="square" lIns="0" tIns="0" rIns="0" bIns="0" rtlCol="0" anchor="ctr"/>
          <a:lstStyle/>
          <a:p>
            <a:pPr algn="r" indent="0" marL="0">
              <a:buNone/>
            </a:pPr>
            <a:r>
              <a:rPr lang="en-US" sz="1050" dirty="0">
                <a:solidFill>
                  <a:srgbClr val="5B6B7A"/>
                </a:solidFill>
                <a:latin typeface="Calibri" pitchFamily="34" charset="0"/>
                <a:ea typeface="Calibri" pitchFamily="34" charset="-122"/>
                <a:cs typeface="Calibri" pitchFamily="34" charset="-120"/>
              </a:rPr>
              <a:t>card + reason + address</a:t>
            </a:r>
            <a:endParaRPr lang="en-US" sz="1050" dirty="0"/>
          </a:p>
        </p:txBody>
      </p:sp>
      <p:sp>
        <p:nvSpPr>
          <p:cNvPr id="20" name="Shape 18"/>
          <p:cNvSpPr/>
          <p:nvPr/>
        </p:nvSpPr>
        <p:spPr>
          <a:xfrm>
            <a:off x="822960" y="3877056"/>
            <a:ext cx="4892040" cy="512064"/>
          </a:xfrm>
          <a:prstGeom prst="roundRect">
            <a:avLst>
              <a:gd name="adj" fmla="val 10714"/>
            </a:avLst>
          </a:prstGeom>
          <a:solidFill>
            <a:srgbClr val="FFFFFF"/>
          </a:solidFill>
          <a:ln w="12700">
            <a:solidFill>
              <a:srgbClr val="C7D2DC"/>
            </a:solidFill>
            <a:prstDash val="solid"/>
          </a:ln>
        </p:spPr>
      </p:sp>
      <p:sp>
        <p:nvSpPr>
          <p:cNvPr id="21" name="Text 19"/>
          <p:cNvSpPr txBox="1"/>
          <p:nvPr/>
        </p:nvSpPr>
        <p:spPr>
          <a:xfrm>
            <a:off x="1005840" y="3904488"/>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Close permanently</a:t>
            </a:r>
            <a:endParaRPr lang="en-US" sz="1250" dirty="0"/>
          </a:p>
        </p:txBody>
      </p:sp>
      <p:sp>
        <p:nvSpPr>
          <p:cNvPr id="22" name="Text 20"/>
          <p:cNvSpPr txBox="1"/>
          <p:nvPr/>
        </p:nvSpPr>
        <p:spPr>
          <a:xfrm>
            <a:off x="1005840" y="4133088"/>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close_card</a:t>
            </a:r>
            <a:endParaRPr lang="en-US" sz="1000" dirty="0"/>
          </a:p>
        </p:txBody>
      </p:sp>
      <p:sp>
        <p:nvSpPr>
          <p:cNvPr id="23" name="Text 21"/>
          <p:cNvSpPr txBox="1"/>
          <p:nvPr/>
        </p:nvSpPr>
        <p:spPr>
          <a:xfrm>
            <a:off x="3246120" y="4005072"/>
            <a:ext cx="2286000" cy="256032"/>
          </a:xfrm>
          <a:prstGeom prst="rect">
            <a:avLst/>
          </a:prstGeom>
          <a:noFill/>
          <a:ln/>
        </p:spPr>
        <p:txBody>
          <a:bodyPr wrap="square" lIns="0" tIns="0" rIns="0" bIns="0" rtlCol="0" anchor="ctr"/>
          <a:lstStyle/>
          <a:p>
            <a:pPr algn="r" indent="0" marL="0">
              <a:buNone/>
            </a:pPr>
            <a:r>
              <a:rPr lang="en-US" sz="1050" dirty="0">
                <a:solidFill>
                  <a:srgbClr val="5B6B7A"/>
                </a:solidFill>
                <a:latin typeface="Calibri" pitchFamily="34" charset="0"/>
                <a:ea typeface="Calibri" pitchFamily="34" charset="-122"/>
                <a:cs typeface="Calibri" pitchFamily="34" charset="-120"/>
              </a:rPr>
              <a:t>card + a firm confirm</a:t>
            </a:r>
            <a:endParaRPr lang="en-US" sz="1050" dirty="0"/>
          </a:p>
        </p:txBody>
      </p:sp>
      <p:sp>
        <p:nvSpPr>
          <p:cNvPr id="24" name="Shape 22"/>
          <p:cNvSpPr/>
          <p:nvPr/>
        </p:nvSpPr>
        <p:spPr>
          <a:xfrm>
            <a:off x="822960" y="4443984"/>
            <a:ext cx="4892040" cy="512064"/>
          </a:xfrm>
          <a:prstGeom prst="roundRect">
            <a:avLst>
              <a:gd name="adj" fmla="val 10714"/>
            </a:avLst>
          </a:prstGeom>
          <a:solidFill>
            <a:srgbClr val="FFFFFF"/>
          </a:solidFill>
          <a:ln w="12700">
            <a:solidFill>
              <a:srgbClr val="C7D2DC"/>
            </a:solidFill>
            <a:prstDash val="solid"/>
          </a:ln>
        </p:spPr>
      </p:sp>
      <p:sp>
        <p:nvSpPr>
          <p:cNvPr id="25" name="Text 23"/>
          <p:cNvSpPr txBox="1"/>
          <p:nvPr/>
        </p:nvSpPr>
        <p:spPr>
          <a:xfrm>
            <a:off x="1005840" y="4471416"/>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Report lost or stolen</a:t>
            </a:r>
            <a:endParaRPr lang="en-US" sz="1250" dirty="0"/>
          </a:p>
        </p:txBody>
      </p:sp>
      <p:sp>
        <p:nvSpPr>
          <p:cNvPr id="26" name="Text 24"/>
          <p:cNvSpPr txBox="1"/>
          <p:nvPr/>
        </p:nvSpPr>
        <p:spPr>
          <a:xfrm>
            <a:off x="1005840" y="4700016"/>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report_lost_stolen</a:t>
            </a:r>
            <a:endParaRPr lang="en-US" sz="1000" dirty="0"/>
          </a:p>
        </p:txBody>
      </p:sp>
      <p:sp>
        <p:nvSpPr>
          <p:cNvPr id="27" name="Text 25"/>
          <p:cNvSpPr txBox="1"/>
          <p:nvPr/>
        </p:nvSpPr>
        <p:spPr>
          <a:xfrm>
            <a:off x="3246120" y="4572000"/>
            <a:ext cx="2286000" cy="256032"/>
          </a:xfrm>
          <a:prstGeom prst="rect">
            <a:avLst/>
          </a:prstGeom>
          <a:noFill/>
          <a:ln/>
        </p:spPr>
        <p:txBody>
          <a:bodyPr wrap="square" lIns="0" tIns="0" rIns="0" bIns="0" rtlCol="0" anchor="ctr"/>
          <a:lstStyle/>
          <a:p>
            <a:pPr algn="r" indent="0" marL="0">
              <a:buNone/>
            </a:pPr>
            <a:r>
              <a:rPr lang="en-US" sz="1050" dirty="0">
                <a:solidFill>
                  <a:srgbClr val="5B6B7A"/>
                </a:solidFill>
                <a:latin typeface="Calibri" pitchFamily="34" charset="0"/>
                <a:ea typeface="Calibri" pitchFamily="34" charset="-122"/>
                <a:cs typeface="Calibri" pitchFamily="34" charset="-120"/>
              </a:rPr>
              <a:t>card — then flags the account</a:t>
            </a:r>
            <a:endParaRPr lang="en-US" sz="1050" dirty="0"/>
          </a:p>
        </p:txBody>
      </p:sp>
      <p:sp>
        <p:nvSpPr>
          <p:cNvPr id="28" name="Shape 26"/>
          <p:cNvSpPr/>
          <p:nvPr/>
        </p:nvSpPr>
        <p:spPr>
          <a:xfrm>
            <a:off x="822960" y="5010912"/>
            <a:ext cx="4892040" cy="512064"/>
          </a:xfrm>
          <a:prstGeom prst="roundRect">
            <a:avLst>
              <a:gd name="adj" fmla="val 10714"/>
            </a:avLst>
          </a:prstGeom>
          <a:solidFill>
            <a:srgbClr val="FFFFFF"/>
          </a:solidFill>
          <a:ln w="12700">
            <a:solidFill>
              <a:srgbClr val="C7D2DC"/>
            </a:solidFill>
            <a:prstDash val="solid"/>
          </a:ln>
        </p:spPr>
      </p:sp>
      <p:sp>
        <p:nvSpPr>
          <p:cNvPr id="29" name="Text 27"/>
          <p:cNvSpPr txBox="1"/>
          <p:nvPr/>
        </p:nvSpPr>
        <p:spPr>
          <a:xfrm>
            <a:off x="1005840" y="5038344"/>
            <a:ext cx="23774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Travel notice</a:t>
            </a:r>
            <a:endParaRPr lang="en-US" sz="1250" dirty="0"/>
          </a:p>
        </p:txBody>
      </p:sp>
      <p:sp>
        <p:nvSpPr>
          <p:cNvPr id="30" name="Text 28"/>
          <p:cNvSpPr txBox="1"/>
          <p:nvPr/>
        </p:nvSpPr>
        <p:spPr>
          <a:xfrm>
            <a:off x="1005840" y="5266944"/>
            <a:ext cx="2377440" cy="237744"/>
          </a:xfrm>
          <a:prstGeom prst="rect">
            <a:avLst/>
          </a:prstGeom>
          <a:noFill/>
          <a:ln/>
        </p:spPr>
        <p:txBody>
          <a:bodyPr wrap="square" lIns="0" tIns="0" rIns="0" bIns="0" rtlCol="0" anchor="ctr"/>
          <a:lstStyle/>
          <a:p>
            <a:pPr indent="0" marL="0">
              <a:buNone/>
            </a:pPr>
            <a:r>
              <a:rPr lang="en-US" sz="1000" dirty="0">
                <a:solidFill>
                  <a:srgbClr val="2E7D5B"/>
                </a:solidFill>
                <a:latin typeface="Courier New" pitchFamily="34" charset="0"/>
                <a:ea typeface="Courier New" pitchFamily="34" charset="-122"/>
                <a:cs typeface="Courier New" pitchFamily="34" charset="-120"/>
              </a:rPr>
              <a:t>travel_notice</a:t>
            </a:r>
            <a:endParaRPr lang="en-US" sz="1000" dirty="0"/>
          </a:p>
        </p:txBody>
      </p:sp>
      <p:sp>
        <p:nvSpPr>
          <p:cNvPr id="31" name="Text 29"/>
          <p:cNvSpPr txBox="1"/>
          <p:nvPr/>
        </p:nvSpPr>
        <p:spPr>
          <a:xfrm>
            <a:off x="3246120" y="5138928"/>
            <a:ext cx="2286000" cy="256032"/>
          </a:xfrm>
          <a:prstGeom prst="rect">
            <a:avLst/>
          </a:prstGeom>
          <a:noFill/>
          <a:ln/>
        </p:spPr>
        <p:txBody>
          <a:bodyPr wrap="square" lIns="0" tIns="0" rIns="0" bIns="0" rtlCol="0" anchor="ctr"/>
          <a:lstStyle/>
          <a:p>
            <a:pPr algn="r" indent="0" marL="0">
              <a:buNone/>
            </a:pPr>
            <a:r>
              <a:rPr lang="en-US" sz="1050" dirty="0">
                <a:solidFill>
                  <a:srgbClr val="B03030"/>
                </a:solidFill>
                <a:latin typeface="Calibri" pitchFamily="34" charset="0"/>
                <a:ea typeface="Calibri" pitchFamily="34" charset="-122"/>
                <a:cs typeface="Calibri" pitchFamily="34" charset="-120"/>
              </a:rPr>
              <a:t>card + place + start + end</a:t>
            </a:r>
            <a:endParaRPr lang="en-US" sz="1050" dirty="0"/>
          </a:p>
        </p:txBody>
      </p:sp>
      <p:sp>
        <p:nvSpPr>
          <p:cNvPr id="32" name="Shape 30"/>
          <p:cNvSpPr/>
          <p:nvPr/>
        </p:nvSpPr>
        <p:spPr>
          <a:xfrm>
            <a:off x="6217920" y="1481328"/>
            <a:ext cx="5440680" cy="4114800"/>
          </a:xfrm>
          <a:prstGeom prst="roundRect">
            <a:avLst>
              <a:gd name="adj" fmla="val 2222"/>
            </a:avLst>
          </a:prstGeom>
          <a:solidFill>
            <a:srgbClr val="FDF8E8"/>
          </a:solidFill>
          <a:ln w="20320">
            <a:solidFill>
              <a:srgbClr val="C9A227"/>
            </a:solidFill>
            <a:prstDash val="dash"/>
          </a:ln>
        </p:spPr>
      </p:sp>
      <p:sp>
        <p:nvSpPr>
          <p:cNvPr id="33" name="Text 31"/>
          <p:cNvSpPr txBox="1"/>
          <p:nvPr/>
        </p:nvSpPr>
        <p:spPr>
          <a:xfrm>
            <a:off x="6492240" y="1645920"/>
            <a:ext cx="4937760" cy="274320"/>
          </a:xfrm>
          <a:prstGeom prst="rect">
            <a:avLst/>
          </a:prstGeom>
          <a:noFill/>
          <a:ln/>
        </p:spPr>
        <p:txBody>
          <a:bodyPr wrap="square" lIns="0" tIns="0" rIns="0" bIns="0" rtlCol="0" anchor="ctr"/>
          <a:lstStyle/>
          <a:p>
            <a:pPr indent="0" marL="0">
              <a:buNone/>
            </a:pPr>
            <a:r>
              <a:rPr lang="en-US" sz="1500" b="1" dirty="0">
                <a:solidFill>
                  <a:srgbClr val="A5851F"/>
                </a:solidFill>
                <a:latin typeface="Cambria" pitchFamily="34" charset="0"/>
                <a:ea typeface="Cambria" pitchFamily="34" charset="-122"/>
                <a:cs typeface="Cambria" pitchFamily="34" charset="-120"/>
              </a:rPr>
              <a:t>OUR SUGGESTIONS — for discussion today</a:t>
            </a:r>
            <a:endParaRPr lang="en-US" sz="1500" dirty="0"/>
          </a:p>
        </p:txBody>
      </p:sp>
      <p:sp>
        <p:nvSpPr>
          <p:cNvPr id="34" name="Text 32"/>
          <p:cNvSpPr txBox="1"/>
          <p:nvPr/>
        </p:nvSpPr>
        <p:spPr>
          <a:xfrm>
            <a:off x="6675120" y="1883664"/>
            <a:ext cx="2377440" cy="219456"/>
          </a:xfrm>
          <a:prstGeom prst="rect">
            <a:avLst/>
          </a:prstGeom>
          <a:noFill/>
          <a:ln/>
        </p:spPr>
        <p:txBody>
          <a:bodyPr wrap="square" lIns="0" tIns="0" rIns="0" bIns="0" rtlCol="0" anchor="ctr"/>
          <a:lstStyle/>
          <a:p>
            <a:pPr indent="0" marL="0">
              <a:buNone/>
            </a:pPr>
            <a:r>
              <a:rPr lang="en-US" sz="950" b="1" spc="50" kern="0" dirty="0">
                <a:solidFill>
                  <a:srgbClr val="A5851F"/>
                </a:solidFill>
                <a:latin typeface="Calibri" pitchFamily="34" charset="0"/>
                <a:ea typeface="Calibri" pitchFamily="34" charset="-122"/>
                <a:cs typeface="Calibri" pitchFamily="34" charset="-120"/>
              </a:rPr>
              <a:t>action  /  tool</a:t>
            </a:r>
            <a:endParaRPr lang="en-US" sz="950" dirty="0"/>
          </a:p>
        </p:txBody>
      </p:sp>
      <p:sp>
        <p:nvSpPr>
          <p:cNvPr id="35" name="Text 33"/>
          <p:cNvSpPr txBox="1"/>
          <p:nvPr/>
        </p:nvSpPr>
        <p:spPr>
          <a:xfrm>
            <a:off x="9052560" y="1883664"/>
            <a:ext cx="2148840" cy="219456"/>
          </a:xfrm>
          <a:prstGeom prst="rect">
            <a:avLst/>
          </a:prstGeom>
          <a:noFill/>
          <a:ln/>
        </p:spPr>
        <p:txBody>
          <a:bodyPr wrap="square" lIns="0" tIns="0" rIns="0" bIns="0" rtlCol="0" anchor="ctr"/>
          <a:lstStyle/>
          <a:p>
            <a:pPr algn="r" indent="0" marL="0">
              <a:buNone/>
            </a:pPr>
            <a:r>
              <a:rPr lang="en-US" sz="950" b="1" dirty="0">
                <a:solidFill>
                  <a:srgbClr val="A5851F"/>
                </a:solidFill>
                <a:latin typeface="Calibri" pitchFamily="34" charset="0"/>
                <a:ea typeface="Calibri" pitchFamily="34" charset="-122"/>
                <a:cs typeface="Calibri" pitchFamily="34" charset="-120"/>
              </a:rPr>
              <a:t>why we suggest it</a:t>
            </a:r>
            <a:endParaRPr lang="en-US" sz="950" dirty="0"/>
          </a:p>
        </p:txBody>
      </p:sp>
      <p:sp>
        <p:nvSpPr>
          <p:cNvPr id="36" name="Shape 34"/>
          <p:cNvSpPr/>
          <p:nvPr/>
        </p:nvSpPr>
        <p:spPr>
          <a:xfrm>
            <a:off x="6492240" y="2176272"/>
            <a:ext cx="4892040" cy="512064"/>
          </a:xfrm>
          <a:prstGeom prst="roundRect">
            <a:avLst>
              <a:gd name="adj" fmla="val 10714"/>
            </a:avLst>
          </a:prstGeom>
          <a:solidFill>
            <a:srgbClr val="FFFFFF"/>
          </a:solidFill>
          <a:ln w="12700">
            <a:solidFill>
              <a:srgbClr val="E0D3A8"/>
            </a:solidFill>
            <a:prstDash val="solid"/>
          </a:ln>
        </p:spPr>
      </p:sp>
      <p:sp>
        <p:nvSpPr>
          <p:cNvPr id="37" name="Text 35"/>
          <p:cNvSpPr txBox="1"/>
          <p:nvPr/>
        </p:nvSpPr>
        <p:spPr>
          <a:xfrm>
            <a:off x="6675120" y="2203704"/>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Check card status</a:t>
            </a:r>
            <a:endParaRPr lang="en-US" sz="1250" dirty="0"/>
          </a:p>
        </p:txBody>
      </p:sp>
      <p:sp>
        <p:nvSpPr>
          <p:cNvPr id="38" name="Text 36"/>
          <p:cNvSpPr txBox="1"/>
          <p:nvPr/>
        </p:nvSpPr>
        <p:spPr>
          <a:xfrm>
            <a:off x="6675120" y="2432304"/>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get_card_status</a:t>
            </a:r>
            <a:endParaRPr lang="en-US" sz="1000" dirty="0"/>
          </a:p>
        </p:txBody>
      </p:sp>
      <p:sp>
        <p:nvSpPr>
          <p:cNvPr id="39" name="Text 37"/>
          <p:cNvSpPr txBox="1"/>
          <p:nvPr/>
        </p:nvSpPr>
        <p:spPr>
          <a:xfrm>
            <a:off x="9326880" y="2304288"/>
            <a:ext cx="1874520" cy="256032"/>
          </a:xfrm>
          <a:prstGeom prst="rect">
            <a:avLst/>
          </a:prstGeom>
          <a:noFill/>
          <a:ln/>
        </p:spPr>
        <p:txBody>
          <a:bodyPr wrap="square" lIns="0" tIns="0" rIns="0" bIns="0" rtlCol="0" anchor="ctr"/>
          <a:lstStyle/>
          <a:p>
            <a:pPr algn="r" indent="0" marL="0">
              <a:buNone/>
            </a:pPr>
            <a:r>
              <a:rPr lang="en-US" sz="1050" dirty="0">
                <a:solidFill>
                  <a:srgbClr val="2E7D5B"/>
                </a:solidFill>
                <a:latin typeface="Calibri" pitchFamily="34" charset="0"/>
                <a:ea typeface="Calibri" pitchFamily="34" charset="-122"/>
                <a:cs typeface="Calibri" pitchFamily="34" charset="-120"/>
              </a:rPr>
              <a:t>read only</a:t>
            </a:r>
            <a:endParaRPr lang="en-US" sz="1050" dirty="0"/>
          </a:p>
        </p:txBody>
      </p:sp>
      <p:sp>
        <p:nvSpPr>
          <p:cNvPr id="40" name="Shape 38"/>
          <p:cNvSpPr/>
          <p:nvPr/>
        </p:nvSpPr>
        <p:spPr>
          <a:xfrm>
            <a:off x="6492240" y="2743200"/>
            <a:ext cx="4892040" cy="512064"/>
          </a:xfrm>
          <a:prstGeom prst="roundRect">
            <a:avLst>
              <a:gd name="adj" fmla="val 10714"/>
            </a:avLst>
          </a:prstGeom>
          <a:solidFill>
            <a:srgbClr val="FFFFFF"/>
          </a:solidFill>
          <a:ln w="12700">
            <a:solidFill>
              <a:srgbClr val="E0D3A8"/>
            </a:solidFill>
            <a:prstDash val="solid"/>
          </a:ln>
        </p:spPr>
      </p:sp>
      <p:sp>
        <p:nvSpPr>
          <p:cNvPr id="41" name="Text 39"/>
          <p:cNvSpPr txBox="1"/>
          <p:nvPr/>
        </p:nvSpPr>
        <p:spPr>
          <a:xfrm>
            <a:off x="6675120" y="2770632"/>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See recent card activity</a:t>
            </a:r>
            <a:endParaRPr lang="en-US" sz="1250" dirty="0"/>
          </a:p>
        </p:txBody>
      </p:sp>
      <p:sp>
        <p:nvSpPr>
          <p:cNvPr id="42" name="Text 40"/>
          <p:cNvSpPr txBox="1"/>
          <p:nvPr/>
        </p:nvSpPr>
        <p:spPr>
          <a:xfrm>
            <a:off x="6675120" y="2999232"/>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get_card_activity</a:t>
            </a:r>
            <a:endParaRPr lang="en-US" sz="1000" dirty="0"/>
          </a:p>
        </p:txBody>
      </p:sp>
      <p:sp>
        <p:nvSpPr>
          <p:cNvPr id="43" name="Text 41"/>
          <p:cNvSpPr txBox="1"/>
          <p:nvPr/>
        </p:nvSpPr>
        <p:spPr>
          <a:xfrm>
            <a:off x="9326880" y="2871216"/>
            <a:ext cx="1874520" cy="256032"/>
          </a:xfrm>
          <a:prstGeom prst="rect">
            <a:avLst/>
          </a:prstGeom>
          <a:noFill/>
          <a:ln/>
        </p:spPr>
        <p:txBody>
          <a:bodyPr wrap="square" lIns="0" tIns="0" rIns="0" bIns="0" rtlCol="0" anchor="ctr"/>
          <a:lstStyle/>
          <a:p>
            <a:pPr algn="r" indent="0" marL="0">
              <a:buNone/>
            </a:pPr>
            <a:r>
              <a:rPr lang="en-US" sz="1050" dirty="0">
                <a:solidFill>
                  <a:srgbClr val="2E7D5B"/>
                </a:solidFill>
                <a:latin typeface="Calibri" pitchFamily="34" charset="0"/>
                <a:ea typeface="Calibri" pitchFamily="34" charset="-122"/>
                <a:cs typeface="Calibri" pitchFamily="34" charset="-120"/>
              </a:rPr>
              <a:t>read only</a:t>
            </a:r>
            <a:endParaRPr lang="en-US" sz="1050" dirty="0"/>
          </a:p>
        </p:txBody>
      </p:sp>
      <p:sp>
        <p:nvSpPr>
          <p:cNvPr id="44" name="Shape 42"/>
          <p:cNvSpPr/>
          <p:nvPr/>
        </p:nvSpPr>
        <p:spPr>
          <a:xfrm>
            <a:off x="6492240" y="3310128"/>
            <a:ext cx="4892040" cy="512064"/>
          </a:xfrm>
          <a:prstGeom prst="roundRect">
            <a:avLst>
              <a:gd name="adj" fmla="val 10714"/>
            </a:avLst>
          </a:prstGeom>
          <a:solidFill>
            <a:srgbClr val="FFFFFF"/>
          </a:solidFill>
          <a:ln w="12700">
            <a:solidFill>
              <a:srgbClr val="E0D3A8"/>
            </a:solidFill>
            <a:prstDash val="solid"/>
          </a:ln>
        </p:spPr>
      </p:sp>
      <p:sp>
        <p:nvSpPr>
          <p:cNvPr id="45" name="Text 43"/>
          <p:cNvSpPr txBox="1"/>
          <p:nvPr/>
        </p:nvSpPr>
        <p:spPr>
          <a:xfrm>
            <a:off x="6675120" y="3337560"/>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Track a replacement card</a:t>
            </a:r>
            <a:endParaRPr lang="en-US" sz="1250" dirty="0"/>
          </a:p>
        </p:txBody>
      </p:sp>
      <p:sp>
        <p:nvSpPr>
          <p:cNvPr id="46" name="Text 44"/>
          <p:cNvSpPr txBox="1"/>
          <p:nvPr/>
        </p:nvSpPr>
        <p:spPr>
          <a:xfrm>
            <a:off x="6675120" y="3566160"/>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get_replacement_status</a:t>
            </a:r>
            <a:endParaRPr lang="en-US" sz="1000" dirty="0"/>
          </a:p>
        </p:txBody>
      </p:sp>
      <p:sp>
        <p:nvSpPr>
          <p:cNvPr id="47" name="Text 45"/>
          <p:cNvSpPr txBox="1"/>
          <p:nvPr/>
        </p:nvSpPr>
        <p:spPr>
          <a:xfrm>
            <a:off x="9326880" y="3438144"/>
            <a:ext cx="1874520" cy="256032"/>
          </a:xfrm>
          <a:prstGeom prst="rect">
            <a:avLst/>
          </a:prstGeom>
          <a:noFill/>
          <a:ln/>
        </p:spPr>
        <p:txBody>
          <a:bodyPr wrap="square" lIns="0" tIns="0" rIns="0" bIns="0" rtlCol="0" anchor="ctr"/>
          <a:lstStyle/>
          <a:p>
            <a:pPr algn="r" indent="0" marL="0">
              <a:buNone/>
            </a:pPr>
            <a:r>
              <a:rPr lang="en-US" sz="1050" dirty="0">
                <a:solidFill>
                  <a:srgbClr val="2E7D5B"/>
                </a:solidFill>
                <a:latin typeface="Calibri" pitchFamily="34" charset="0"/>
                <a:ea typeface="Calibri" pitchFamily="34" charset="-122"/>
                <a:cs typeface="Calibri" pitchFamily="34" charset="-120"/>
              </a:rPr>
              <a:t>read only</a:t>
            </a:r>
            <a:endParaRPr lang="en-US" sz="1050" dirty="0"/>
          </a:p>
        </p:txBody>
      </p:sp>
      <p:sp>
        <p:nvSpPr>
          <p:cNvPr id="48" name="Shape 46"/>
          <p:cNvSpPr/>
          <p:nvPr/>
        </p:nvSpPr>
        <p:spPr>
          <a:xfrm>
            <a:off x="6492240" y="3877056"/>
            <a:ext cx="4892040" cy="512064"/>
          </a:xfrm>
          <a:prstGeom prst="roundRect">
            <a:avLst>
              <a:gd name="adj" fmla="val 10714"/>
            </a:avLst>
          </a:prstGeom>
          <a:solidFill>
            <a:srgbClr val="FFFFFF"/>
          </a:solidFill>
          <a:ln w="12700">
            <a:solidFill>
              <a:srgbClr val="E0D3A8"/>
            </a:solidFill>
            <a:prstDash val="solid"/>
          </a:ln>
        </p:spPr>
      </p:sp>
      <p:sp>
        <p:nvSpPr>
          <p:cNvPr id="49" name="Text 47"/>
          <p:cNvSpPr txBox="1"/>
          <p:nvPr/>
        </p:nvSpPr>
        <p:spPr>
          <a:xfrm>
            <a:off x="6675120" y="3904488"/>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Cancel a travel notice</a:t>
            </a:r>
            <a:endParaRPr lang="en-US" sz="1250" dirty="0"/>
          </a:p>
        </p:txBody>
      </p:sp>
      <p:sp>
        <p:nvSpPr>
          <p:cNvPr id="50" name="Text 48"/>
          <p:cNvSpPr txBox="1"/>
          <p:nvPr/>
        </p:nvSpPr>
        <p:spPr>
          <a:xfrm>
            <a:off x="6675120" y="4133088"/>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cancel_travel_notice</a:t>
            </a:r>
            <a:endParaRPr lang="en-US" sz="1000" dirty="0"/>
          </a:p>
        </p:txBody>
      </p:sp>
      <p:sp>
        <p:nvSpPr>
          <p:cNvPr id="51" name="Text 49"/>
          <p:cNvSpPr txBox="1"/>
          <p:nvPr/>
        </p:nvSpPr>
        <p:spPr>
          <a:xfrm>
            <a:off x="9326880" y="4005072"/>
            <a:ext cx="1874520" cy="256032"/>
          </a:xfrm>
          <a:prstGeom prst="rect">
            <a:avLst/>
          </a:prstGeom>
          <a:noFill/>
          <a:ln/>
        </p:spPr>
        <p:txBody>
          <a:bodyPr wrap="square" lIns="0" tIns="0" rIns="0" bIns="0" rtlCol="0" anchor="ctr"/>
          <a:lstStyle/>
          <a:p>
            <a:pPr algn="r" indent="0" marL="0">
              <a:buNone/>
            </a:pPr>
            <a:r>
              <a:rPr lang="en-US" sz="1050" dirty="0">
                <a:solidFill>
                  <a:srgbClr val="7A8894"/>
                </a:solidFill>
                <a:latin typeface="Calibri" pitchFamily="34" charset="0"/>
                <a:ea typeface="Calibri" pitchFamily="34" charset="-122"/>
                <a:cs typeface="Calibri" pitchFamily="34" charset="-120"/>
              </a:rPr>
              <a:t>the missing half</a:t>
            </a:r>
            <a:endParaRPr lang="en-US" sz="1050" dirty="0"/>
          </a:p>
        </p:txBody>
      </p:sp>
      <p:sp>
        <p:nvSpPr>
          <p:cNvPr id="52" name="Shape 50"/>
          <p:cNvSpPr/>
          <p:nvPr/>
        </p:nvSpPr>
        <p:spPr>
          <a:xfrm>
            <a:off x="6492240" y="4443984"/>
            <a:ext cx="4892040" cy="512064"/>
          </a:xfrm>
          <a:prstGeom prst="roundRect">
            <a:avLst>
              <a:gd name="adj" fmla="val 10714"/>
            </a:avLst>
          </a:prstGeom>
          <a:solidFill>
            <a:srgbClr val="FFFFFF"/>
          </a:solidFill>
          <a:ln w="12700">
            <a:solidFill>
              <a:srgbClr val="E0D3A8"/>
            </a:solidFill>
            <a:prstDash val="solid"/>
          </a:ln>
        </p:spPr>
      </p:sp>
      <p:sp>
        <p:nvSpPr>
          <p:cNvPr id="53" name="Text 51"/>
          <p:cNvSpPr txBox="1"/>
          <p:nvPr/>
        </p:nvSpPr>
        <p:spPr>
          <a:xfrm>
            <a:off x="6675120" y="4471416"/>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Reset the card PIN</a:t>
            </a:r>
            <a:endParaRPr lang="en-US" sz="1250" dirty="0"/>
          </a:p>
        </p:txBody>
      </p:sp>
      <p:sp>
        <p:nvSpPr>
          <p:cNvPr id="54" name="Text 52"/>
          <p:cNvSpPr txBox="1"/>
          <p:nvPr/>
        </p:nvSpPr>
        <p:spPr>
          <a:xfrm>
            <a:off x="6675120" y="4700016"/>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reset_pin</a:t>
            </a:r>
            <a:endParaRPr lang="en-US" sz="1000" dirty="0"/>
          </a:p>
        </p:txBody>
      </p:sp>
      <p:sp>
        <p:nvSpPr>
          <p:cNvPr id="55" name="Text 53"/>
          <p:cNvSpPr txBox="1"/>
          <p:nvPr/>
        </p:nvSpPr>
        <p:spPr>
          <a:xfrm>
            <a:off x="9326880" y="4572000"/>
            <a:ext cx="1874520" cy="256032"/>
          </a:xfrm>
          <a:prstGeom prst="rect">
            <a:avLst/>
          </a:prstGeom>
          <a:noFill/>
          <a:ln/>
        </p:spPr>
        <p:txBody>
          <a:bodyPr wrap="square" lIns="0" tIns="0" rIns="0" bIns="0" rtlCol="0" anchor="ctr"/>
          <a:lstStyle/>
          <a:p>
            <a:pPr algn="r" indent="0" marL="0">
              <a:buNone/>
            </a:pPr>
            <a:r>
              <a:rPr lang="en-US" sz="1050" dirty="0">
                <a:solidFill>
                  <a:srgbClr val="7A8894"/>
                </a:solidFill>
                <a:latin typeface="Calibri" pitchFamily="34" charset="0"/>
                <a:ea typeface="Calibri" pitchFamily="34" charset="-122"/>
                <a:cs typeface="Calibri" pitchFamily="34" charset="-120"/>
              </a:rPr>
              <a:t>common call reason</a:t>
            </a:r>
            <a:endParaRPr lang="en-US" sz="1050" dirty="0"/>
          </a:p>
        </p:txBody>
      </p:sp>
      <p:sp>
        <p:nvSpPr>
          <p:cNvPr id="56" name="Shape 54"/>
          <p:cNvSpPr/>
          <p:nvPr/>
        </p:nvSpPr>
        <p:spPr>
          <a:xfrm>
            <a:off x="6492240" y="5010912"/>
            <a:ext cx="4892040" cy="512064"/>
          </a:xfrm>
          <a:prstGeom prst="roundRect">
            <a:avLst>
              <a:gd name="adj" fmla="val 10714"/>
            </a:avLst>
          </a:prstGeom>
          <a:solidFill>
            <a:srgbClr val="FFFFFF"/>
          </a:solidFill>
          <a:ln w="12700">
            <a:solidFill>
              <a:srgbClr val="E0D3A8"/>
            </a:solidFill>
            <a:prstDash val="solid"/>
          </a:ln>
        </p:spPr>
      </p:sp>
      <p:sp>
        <p:nvSpPr>
          <p:cNvPr id="57" name="Text 55"/>
          <p:cNvSpPr txBox="1"/>
          <p:nvPr/>
        </p:nvSpPr>
        <p:spPr>
          <a:xfrm>
            <a:off x="6675120" y="5038344"/>
            <a:ext cx="283464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Update delivery address</a:t>
            </a:r>
            <a:endParaRPr lang="en-US" sz="1250" dirty="0"/>
          </a:p>
        </p:txBody>
      </p:sp>
      <p:sp>
        <p:nvSpPr>
          <p:cNvPr id="58" name="Text 56"/>
          <p:cNvSpPr txBox="1"/>
          <p:nvPr/>
        </p:nvSpPr>
        <p:spPr>
          <a:xfrm>
            <a:off x="6675120" y="5266944"/>
            <a:ext cx="2834640" cy="237744"/>
          </a:xfrm>
          <a:prstGeom prst="rect">
            <a:avLst/>
          </a:prstGeom>
          <a:noFill/>
          <a:ln/>
        </p:spPr>
        <p:txBody>
          <a:bodyPr wrap="square" lIns="0" tIns="0" rIns="0" bIns="0" rtlCol="0" anchor="ctr"/>
          <a:lstStyle/>
          <a:p>
            <a:pPr indent="0" marL="0">
              <a:buNone/>
            </a:pPr>
            <a:r>
              <a:rPr lang="en-US" sz="1000" dirty="0">
                <a:solidFill>
                  <a:srgbClr val="A5851F"/>
                </a:solidFill>
                <a:latin typeface="Courier New" pitchFamily="34" charset="0"/>
                <a:ea typeface="Courier New" pitchFamily="34" charset="-122"/>
                <a:cs typeface="Courier New" pitchFamily="34" charset="-120"/>
              </a:rPr>
              <a:t>update_address</a:t>
            </a:r>
            <a:endParaRPr lang="en-US" sz="1000" dirty="0"/>
          </a:p>
        </p:txBody>
      </p:sp>
      <p:sp>
        <p:nvSpPr>
          <p:cNvPr id="59" name="Text 57"/>
          <p:cNvSpPr txBox="1"/>
          <p:nvPr/>
        </p:nvSpPr>
        <p:spPr>
          <a:xfrm>
            <a:off x="9326880" y="5138928"/>
            <a:ext cx="1874520" cy="256032"/>
          </a:xfrm>
          <a:prstGeom prst="rect">
            <a:avLst/>
          </a:prstGeom>
          <a:noFill/>
          <a:ln/>
        </p:spPr>
        <p:txBody>
          <a:bodyPr wrap="square" lIns="0" tIns="0" rIns="0" bIns="0" rtlCol="0" anchor="ctr"/>
          <a:lstStyle/>
          <a:p>
            <a:pPr algn="r" indent="0" marL="0">
              <a:buNone/>
            </a:pPr>
            <a:r>
              <a:rPr lang="en-US" sz="1050" dirty="0">
                <a:solidFill>
                  <a:srgbClr val="7A8894"/>
                </a:solidFill>
                <a:latin typeface="Calibri" pitchFamily="34" charset="0"/>
                <a:ea typeface="Calibri" pitchFamily="34" charset="-122"/>
                <a:cs typeface="Calibri" pitchFamily="34" charset="-120"/>
              </a:rPr>
              <a:t>pairs with replace</a:t>
            </a:r>
            <a:endParaRPr lang="en-US" sz="1050" dirty="0"/>
          </a:p>
        </p:txBody>
      </p:sp>
      <p:sp>
        <p:nvSpPr>
          <p:cNvPr id="60" name="Text 58"/>
          <p:cNvSpPr txBox="1"/>
          <p:nvPr/>
        </p:nvSpPr>
        <p:spPr>
          <a:xfrm>
            <a:off x="548640" y="5897880"/>
            <a:ext cx="11064240" cy="27432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The three read-only tools write nothing, so they carry no entitlement risk — and they make the chat useful from day one.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4314F"/>
                </a:solidFill>
                <a:latin typeface="Cambria" pitchFamily="34" charset="0"/>
                <a:ea typeface="Cambria" pitchFamily="34" charset="-122"/>
                <a:cs typeface="Cambria" pitchFamily="34" charset="-120"/>
              </a:rPr>
              <a:t>What we are assuming — and what we need from BNY</a:t>
            </a:r>
            <a:endParaRPr lang="en-US" sz="3200" dirty="0"/>
          </a:p>
        </p:txBody>
      </p:sp>
      <p:sp>
        <p:nvSpPr>
          <p:cNvPr id="3" name="Text 1"/>
          <p:cNvSpPr txBox="1"/>
          <p:nvPr/>
        </p:nvSpPr>
        <p:spPr>
          <a:xfrm>
            <a:off x="548640" y="914400"/>
            <a:ext cx="11064240" cy="310896"/>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Correct anything on the left. The first question on the right shapes our timeline most.</a:t>
            </a:r>
            <a:endParaRPr lang="en-US" sz="1400" dirty="0"/>
          </a:p>
        </p:txBody>
      </p:sp>
      <p:sp>
        <p:nvSpPr>
          <p:cNvPr id="4" name="Shape 2"/>
          <p:cNvSpPr/>
          <p:nvPr/>
        </p:nvSpPr>
        <p:spPr>
          <a:xfrm>
            <a:off x="548640" y="1536192"/>
            <a:ext cx="5440680" cy="3291840"/>
          </a:xfrm>
          <a:prstGeom prst="roundRect">
            <a:avLst>
              <a:gd name="adj" fmla="val 2778"/>
            </a:avLst>
          </a:prstGeom>
          <a:solidFill>
            <a:srgbClr val="F2F5F8"/>
          </a:solidFill>
          <a:ln w="19050">
            <a:solidFill>
              <a:srgbClr val="14314F"/>
            </a:solidFill>
            <a:prstDash val="solid"/>
          </a:ln>
        </p:spPr>
      </p:sp>
      <p:sp>
        <p:nvSpPr>
          <p:cNvPr id="5" name="Text 3"/>
          <p:cNvSpPr txBox="1"/>
          <p:nvPr/>
        </p:nvSpPr>
        <p:spPr>
          <a:xfrm>
            <a:off x="822960" y="1700784"/>
            <a:ext cx="4937760" cy="274320"/>
          </a:xfrm>
          <a:prstGeom prst="rect">
            <a:avLst/>
          </a:prstGeom>
          <a:noFill/>
          <a:ln/>
        </p:spPr>
        <p:txBody>
          <a:bodyPr wrap="square" lIns="0" tIns="0" rIns="0" bIns="0" rtlCol="0" anchor="ctr"/>
          <a:lstStyle/>
          <a:p>
            <a:pPr indent="0" marL="0">
              <a:buNone/>
            </a:pPr>
            <a:r>
              <a:rPr lang="en-US" sz="1250" b="1" spc="100" kern="0" dirty="0">
                <a:solidFill>
                  <a:srgbClr val="14314F"/>
                </a:solidFill>
                <a:latin typeface="Calibri" pitchFamily="34" charset="0"/>
                <a:ea typeface="Calibri" pitchFamily="34" charset="-122"/>
                <a:cs typeface="Calibri" pitchFamily="34" charset="-120"/>
              </a:rPr>
              <a:t>WHAT WE ARE ASSUMING</a:t>
            </a:r>
            <a:endParaRPr lang="en-US" sz="1250" dirty="0"/>
          </a:p>
        </p:txBody>
      </p:sp>
      <p:sp>
        <p:nvSpPr>
          <p:cNvPr id="6" name="Shape 4"/>
          <p:cNvSpPr/>
          <p:nvPr/>
        </p:nvSpPr>
        <p:spPr>
          <a:xfrm>
            <a:off x="822960" y="2148840"/>
            <a:ext cx="4892040" cy="420624"/>
          </a:xfrm>
          <a:prstGeom prst="roundRect">
            <a:avLst>
              <a:gd name="adj" fmla="val 13043"/>
            </a:avLst>
          </a:prstGeom>
          <a:solidFill>
            <a:srgbClr val="FFFFFF"/>
          </a:solidFill>
          <a:ln w="12700">
            <a:solidFill>
              <a:srgbClr val="C7D2DC"/>
            </a:solidFill>
            <a:prstDash val="solid"/>
          </a:ln>
        </p:spPr>
      </p:sp>
      <p:sp>
        <p:nvSpPr>
          <p:cNvPr id="7" name="Text 5"/>
          <p:cNvSpPr txBox="1"/>
          <p:nvPr/>
        </p:nvSpPr>
        <p:spPr>
          <a:xfrm>
            <a:off x="1005840" y="224028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A chat panel exists in NetX360 — read-only today</a:t>
            </a:r>
            <a:endParaRPr lang="en-US" sz="1250" dirty="0"/>
          </a:p>
        </p:txBody>
      </p:sp>
      <p:sp>
        <p:nvSpPr>
          <p:cNvPr id="8" name="Shape 6"/>
          <p:cNvSpPr/>
          <p:nvPr/>
        </p:nvSpPr>
        <p:spPr>
          <a:xfrm>
            <a:off x="822960" y="2651760"/>
            <a:ext cx="4892040" cy="420624"/>
          </a:xfrm>
          <a:prstGeom prst="roundRect">
            <a:avLst>
              <a:gd name="adj" fmla="val 13043"/>
            </a:avLst>
          </a:prstGeom>
          <a:solidFill>
            <a:srgbClr val="FFFFFF"/>
          </a:solidFill>
          <a:ln w="12700">
            <a:solidFill>
              <a:srgbClr val="C7D2DC"/>
            </a:solidFill>
            <a:prstDash val="solid"/>
          </a:ln>
        </p:spPr>
      </p:sp>
      <p:sp>
        <p:nvSpPr>
          <p:cNvPr id="9" name="Text 7"/>
          <p:cNvSpPr txBox="1"/>
          <p:nvPr/>
        </p:nvSpPr>
        <p:spPr>
          <a:xfrm>
            <a:off x="1005840" y="274320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Each card action already has its own API</a:t>
            </a:r>
            <a:endParaRPr lang="en-US" sz="1250" dirty="0"/>
          </a:p>
        </p:txBody>
      </p:sp>
      <p:sp>
        <p:nvSpPr>
          <p:cNvPr id="10" name="Shape 8"/>
          <p:cNvSpPr/>
          <p:nvPr/>
        </p:nvSpPr>
        <p:spPr>
          <a:xfrm>
            <a:off x="822960" y="3154680"/>
            <a:ext cx="4892040" cy="420624"/>
          </a:xfrm>
          <a:prstGeom prst="roundRect">
            <a:avLst>
              <a:gd name="adj" fmla="val 13043"/>
            </a:avLst>
          </a:prstGeom>
          <a:solidFill>
            <a:srgbClr val="FFFFFF"/>
          </a:solidFill>
          <a:ln w="12700">
            <a:solidFill>
              <a:srgbClr val="C7D2DC"/>
            </a:solidFill>
            <a:prstDash val="solid"/>
          </a:ln>
        </p:spPr>
      </p:sp>
      <p:sp>
        <p:nvSpPr>
          <p:cNvPr id="11" name="Text 9"/>
          <p:cNvSpPr txBox="1"/>
          <p:nvPr/>
        </p:nvSpPr>
        <p:spPr>
          <a:xfrm>
            <a:off x="1005840" y="324612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Card functions work on desktop and mobile</a:t>
            </a:r>
            <a:endParaRPr lang="en-US" sz="1250" dirty="0"/>
          </a:p>
        </p:txBody>
      </p:sp>
      <p:sp>
        <p:nvSpPr>
          <p:cNvPr id="12" name="Shape 10"/>
          <p:cNvSpPr/>
          <p:nvPr/>
        </p:nvSpPr>
        <p:spPr>
          <a:xfrm>
            <a:off x="822960" y="3657600"/>
            <a:ext cx="4892040" cy="420624"/>
          </a:xfrm>
          <a:prstGeom prst="roundRect">
            <a:avLst>
              <a:gd name="adj" fmla="val 13043"/>
            </a:avLst>
          </a:prstGeom>
          <a:solidFill>
            <a:srgbClr val="FFFFFF"/>
          </a:solidFill>
          <a:ln w="12700">
            <a:solidFill>
              <a:srgbClr val="C7D2DC"/>
            </a:solidFill>
            <a:prstDash val="solid"/>
          </a:ln>
        </p:spPr>
      </p:sp>
      <p:sp>
        <p:nvSpPr>
          <p:cNvPr id="13" name="Text 11"/>
          <p:cNvSpPr txBox="1"/>
          <p:nvPr/>
        </p:nvSpPr>
        <p:spPr>
          <a:xfrm>
            <a:off x="1005840" y="374904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On-prem GPT-5.4 is available to build against</a:t>
            </a:r>
            <a:endParaRPr lang="en-US" sz="1250" dirty="0"/>
          </a:p>
        </p:txBody>
      </p:sp>
      <p:sp>
        <p:nvSpPr>
          <p:cNvPr id="14" name="Shape 12"/>
          <p:cNvSpPr/>
          <p:nvPr/>
        </p:nvSpPr>
        <p:spPr>
          <a:xfrm>
            <a:off x="822960" y="4160520"/>
            <a:ext cx="4892040" cy="420624"/>
          </a:xfrm>
          <a:prstGeom prst="roundRect">
            <a:avLst>
              <a:gd name="adj" fmla="val 13043"/>
            </a:avLst>
          </a:prstGeom>
          <a:solidFill>
            <a:srgbClr val="FFFFFF"/>
          </a:solidFill>
          <a:ln w="12700">
            <a:solidFill>
              <a:srgbClr val="C7D2DC"/>
            </a:solidFill>
            <a:prstDash val="solid"/>
          </a:ln>
        </p:spPr>
      </p:sp>
      <p:sp>
        <p:nvSpPr>
          <p:cNvPr id="15" name="Text 13"/>
          <p:cNvSpPr txBox="1"/>
          <p:nvPr/>
        </p:nvSpPr>
        <p:spPr>
          <a:xfrm>
            <a:off x="1005840" y="425196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No test environment for us — so we stub the APIs</a:t>
            </a:r>
            <a:endParaRPr lang="en-US" sz="1250" dirty="0"/>
          </a:p>
        </p:txBody>
      </p:sp>
      <p:sp>
        <p:nvSpPr>
          <p:cNvPr id="16" name="Shape 14"/>
          <p:cNvSpPr/>
          <p:nvPr/>
        </p:nvSpPr>
        <p:spPr>
          <a:xfrm>
            <a:off x="6217920" y="1536192"/>
            <a:ext cx="5440680" cy="3291840"/>
          </a:xfrm>
          <a:prstGeom prst="roundRect">
            <a:avLst>
              <a:gd name="adj" fmla="val 2778"/>
            </a:avLst>
          </a:prstGeom>
          <a:solidFill>
            <a:srgbClr val="FDF8E8"/>
          </a:solidFill>
          <a:ln w="19050">
            <a:solidFill>
              <a:srgbClr val="C9A227"/>
            </a:solidFill>
            <a:prstDash val="solid"/>
          </a:ln>
        </p:spPr>
      </p:sp>
      <p:sp>
        <p:nvSpPr>
          <p:cNvPr id="17" name="Text 15"/>
          <p:cNvSpPr txBox="1"/>
          <p:nvPr/>
        </p:nvSpPr>
        <p:spPr>
          <a:xfrm>
            <a:off x="6492240" y="1700784"/>
            <a:ext cx="4937760" cy="274320"/>
          </a:xfrm>
          <a:prstGeom prst="rect">
            <a:avLst/>
          </a:prstGeom>
          <a:noFill/>
          <a:ln/>
        </p:spPr>
        <p:txBody>
          <a:bodyPr wrap="square" lIns="0" tIns="0" rIns="0" bIns="0" rtlCol="0" anchor="ctr"/>
          <a:lstStyle/>
          <a:p>
            <a:pPr indent="0" marL="0">
              <a:buNone/>
            </a:pPr>
            <a:r>
              <a:rPr lang="en-US" sz="1250" b="1" spc="100" kern="0" dirty="0">
                <a:solidFill>
                  <a:srgbClr val="A5851F"/>
                </a:solidFill>
                <a:latin typeface="Calibri" pitchFamily="34" charset="0"/>
                <a:ea typeface="Calibri" pitchFamily="34" charset="-122"/>
                <a:cs typeface="Calibri" pitchFamily="34" charset="-120"/>
              </a:rPr>
              <a:t>WHAT WE STILL NEED FROM BNY</a:t>
            </a:r>
            <a:endParaRPr lang="en-US" sz="1250" dirty="0"/>
          </a:p>
        </p:txBody>
      </p:sp>
      <p:sp>
        <p:nvSpPr>
          <p:cNvPr id="18" name="Shape 16"/>
          <p:cNvSpPr/>
          <p:nvPr/>
        </p:nvSpPr>
        <p:spPr>
          <a:xfrm>
            <a:off x="6492240" y="2148840"/>
            <a:ext cx="4892040" cy="420624"/>
          </a:xfrm>
          <a:prstGeom prst="roundRect">
            <a:avLst>
              <a:gd name="adj" fmla="val 13043"/>
            </a:avLst>
          </a:prstGeom>
          <a:solidFill>
            <a:srgbClr val="FFFFFF"/>
          </a:solidFill>
          <a:ln w="25400">
            <a:solidFill>
              <a:srgbClr val="C9A227"/>
            </a:solidFill>
            <a:prstDash val="solid"/>
          </a:ln>
        </p:spPr>
      </p:sp>
      <p:sp>
        <p:nvSpPr>
          <p:cNvPr id="19" name="Text 17"/>
          <p:cNvSpPr txBox="1"/>
          <p:nvPr/>
        </p:nvSpPr>
        <p:spPr>
          <a:xfrm>
            <a:off x="6675120" y="2240280"/>
            <a:ext cx="4572000" cy="256032"/>
          </a:xfrm>
          <a:prstGeom prst="rect">
            <a:avLst/>
          </a:prstGeom>
          <a:noFill/>
          <a:ln/>
        </p:spPr>
        <p:txBody>
          <a:bodyPr wrap="square" lIns="0" tIns="0" rIns="0" bIns="0" rtlCol="0" anchor="ctr"/>
          <a:lstStyle/>
          <a:p>
            <a:pPr indent="0" marL="0">
              <a:buNone/>
            </a:pPr>
            <a:r>
              <a:rPr lang="en-US" sz="1250" b="1" dirty="0">
                <a:solidFill>
                  <a:srgbClr val="14314F"/>
                </a:solidFill>
                <a:latin typeface="Calibri" pitchFamily="34" charset="0"/>
                <a:ea typeface="Calibri" pitchFamily="34" charset="-122"/>
                <a:cs typeface="Calibri" pitchFamily="34" charset="-120"/>
              </a:rPr>
              <a:t>Can the entitlement check be called from outside the card screen?</a:t>
            </a:r>
            <a:endParaRPr lang="en-US" sz="1250" dirty="0"/>
          </a:p>
        </p:txBody>
      </p:sp>
      <p:sp>
        <p:nvSpPr>
          <p:cNvPr id="20" name="Shape 18"/>
          <p:cNvSpPr/>
          <p:nvPr/>
        </p:nvSpPr>
        <p:spPr>
          <a:xfrm>
            <a:off x="6492240" y="2651760"/>
            <a:ext cx="4892040" cy="420624"/>
          </a:xfrm>
          <a:prstGeom prst="roundRect">
            <a:avLst>
              <a:gd name="adj" fmla="val 13043"/>
            </a:avLst>
          </a:prstGeom>
          <a:solidFill>
            <a:srgbClr val="FFFFFF"/>
          </a:solidFill>
          <a:ln w="12700">
            <a:solidFill>
              <a:srgbClr val="E0D3A8"/>
            </a:solidFill>
            <a:prstDash val="solid"/>
          </a:ln>
        </p:spPr>
      </p:sp>
      <p:sp>
        <p:nvSpPr>
          <p:cNvPr id="21" name="Text 19"/>
          <p:cNvSpPr txBox="1"/>
          <p:nvPr/>
        </p:nvSpPr>
        <p:spPr>
          <a:xfrm>
            <a:off x="6675120" y="274320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The real API names and parameters for the six actions</a:t>
            </a:r>
            <a:endParaRPr lang="en-US" sz="1250" dirty="0"/>
          </a:p>
        </p:txBody>
      </p:sp>
      <p:sp>
        <p:nvSpPr>
          <p:cNvPr id="22" name="Shape 20"/>
          <p:cNvSpPr/>
          <p:nvPr/>
        </p:nvSpPr>
        <p:spPr>
          <a:xfrm>
            <a:off x="6492240" y="3154680"/>
            <a:ext cx="4892040" cy="420624"/>
          </a:xfrm>
          <a:prstGeom prst="roundRect">
            <a:avLst>
              <a:gd name="adj" fmla="val 13043"/>
            </a:avLst>
          </a:prstGeom>
          <a:solidFill>
            <a:srgbClr val="FFFFFF"/>
          </a:solidFill>
          <a:ln w="12700">
            <a:solidFill>
              <a:srgbClr val="E0D3A8"/>
            </a:solidFill>
            <a:prstDash val="solid"/>
          </a:ln>
        </p:spPr>
      </p:sp>
      <p:sp>
        <p:nvSpPr>
          <p:cNvPr id="23" name="Text 21"/>
          <p:cNvSpPr txBox="1"/>
          <p:nvPr/>
        </p:nvSpPr>
        <p:spPr>
          <a:xfrm>
            <a:off x="6675120" y="324612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Screen recordings of today’s flow, so we can count the clicks</a:t>
            </a:r>
            <a:endParaRPr lang="en-US" sz="1250" dirty="0"/>
          </a:p>
        </p:txBody>
      </p:sp>
      <p:sp>
        <p:nvSpPr>
          <p:cNvPr id="24" name="Shape 22"/>
          <p:cNvSpPr/>
          <p:nvPr/>
        </p:nvSpPr>
        <p:spPr>
          <a:xfrm>
            <a:off x="6492240" y="3657600"/>
            <a:ext cx="4892040" cy="420624"/>
          </a:xfrm>
          <a:prstGeom prst="roundRect">
            <a:avLst>
              <a:gd name="adj" fmla="val 13043"/>
            </a:avLst>
          </a:prstGeom>
          <a:solidFill>
            <a:srgbClr val="FFFFFF"/>
          </a:solidFill>
          <a:ln w="12700">
            <a:solidFill>
              <a:srgbClr val="E0D3A8"/>
            </a:solidFill>
            <a:prstDash val="solid"/>
          </a:ln>
        </p:spPr>
      </p:sp>
      <p:sp>
        <p:nvSpPr>
          <p:cNvPr id="25" name="Text 23"/>
          <p:cNvSpPr txBox="1"/>
          <p:nvPr/>
        </p:nvSpPr>
        <p:spPr>
          <a:xfrm>
            <a:off x="6675120" y="374904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Same chat panel, or its own — whose call is that?</a:t>
            </a:r>
            <a:endParaRPr lang="en-US" sz="1250" dirty="0"/>
          </a:p>
        </p:txBody>
      </p:sp>
      <p:sp>
        <p:nvSpPr>
          <p:cNvPr id="26" name="Shape 24"/>
          <p:cNvSpPr/>
          <p:nvPr/>
        </p:nvSpPr>
        <p:spPr>
          <a:xfrm>
            <a:off x="6492240" y="4160520"/>
            <a:ext cx="4892040" cy="420624"/>
          </a:xfrm>
          <a:prstGeom prst="roundRect">
            <a:avLst>
              <a:gd name="adj" fmla="val 13043"/>
            </a:avLst>
          </a:prstGeom>
          <a:solidFill>
            <a:srgbClr val="FFFFFF"/>
          </a:solidFill>
          <a:ln w="12700">
            <a:solidFill>
              <a:srgbClr val="E0D3A8"/>
            </a:solidFill>
            <a:prstDash val="solid"/>
          </a:ln>
        </p:spPr>
      </p:sp>
      <p:sp>
        <p:nvSpPr>
          <p:cNvPr id="27" name="Text 25"/>
          <p:cNvSpPr txBox="1"/>
          <p:nvPr/>
        </p:nvSpPr>
        <p:spPr>
          <a:xfrm>
            <a:off x="6675120" y="4251960"/>
            <a:ext cx="4572000" cy="256032"/>
          </a:xfrm>
          <a:prstGeom prst="rect">
            <a:avLst/>
          </a:prstGeom>
          <a:noFill/>
          <a:ln/>
        </p:spPr>
        <p:txBody>
          <a:bodyPr wrap="square" lIns="0" tIns="0" rIns="0" bIns="0" rtlCol="0" anchor="ctr"/>
          <a:lstStyle/>
          <a:p>
            <a:pPr indent="0" marL="0">
              <a:buNone/>
            </a:pPr>
            <a:r>
              <a:rPr lang="en-US" sz="1250" dirty="0">
                <a:solidFill>
                  <a:srgbClr val="23343F"/>
                </a:solidFill>
                <a:latin typeface="Calibri" pitchFamily="34" charset="0"/>
                <a:ea typeface="Calibri" pitchFamily="34" charset="-122"/>
                <a:cs typeface="Calibri" pitchFamily="34" charset="-120"/>
              </a:rPr>
              <a:t>What the AI approval process will need from us</a:t>
            </a:r>
            <a:endParaRPr lang="en-US" sz="1250" dirty="0"/>
          </a:p>
        </p:txBody>
      </p:sp>
      <p:sp>
        <p:nvSpPr>
          <p:cNvPr id="28" name="Shape 26"/>
          <p:cNvSpPr/>
          <p:nvPr/>
        </p:nvSpPr>
        <p:spPr>
          <a:xfrm>
            <a:off x="548640" y="5074920"/>
            <a:ext cx="11109960" cy="777240"/>
          </a:xfrm>
          <a:prstGeom prst="roundRect">
            <a:avLst>
              <a:gd name="adj" fmla="val 11765"/>
            </a:avLst>
          </a:prstGeom>
          <a:solidFill>
            <a:srgbClr val="EEF4F2"/>
          </a:solidFill>
          <a:ln w="17780">
            <a:solidFill>
              <a:srgbClr val="2E7D5B"/>
            </a:solidFill>
            <a:prstDash val="solid"/>
          </a:ln>
        </p:spPr>
      </p:sp>
      <p:sp>
        <p:nvSpPr>
          <p:cNvPr id="29" name="Text 27"/>
          <p:cNvSpPr txBox="1"/>
          <p:nvPr/>
        </p:nvSpPr>
        <p:spPr>
          <a:xfrm>
            <a:off x="868680" y="5321808"/>
            <a:ext cx="640080" cy="274320"/>
          </a:xfrm>
          <a:prstGeom prst="rect">
            <a:avLst/>
          </a:prstGeom>
          <a:noFill/>
          <a:ln/>
        </p:spPr>
        <p:txBody>
          <a:bodyPr wrap="square" lIns="0" tIns="0" rIns="0" bIns="0" rtlCol="0" anchor="ctr"/>
          <a:lstStyle/>
          <a:p>
            <a:pPr indent="0" marL="0">
              <a:buNone/>
            </a:pPr>
            <a:r>
              <a:rPr lang="en-US" sz="1500" b="1" dirty="0">
                <a:solidFill>
                  <a:srgbClr val="2E7D5B"/>
                </a:solidFill>
                <a:latin typeface="Cambria" pitchFamily="34" charset="0"/>
                <a:ea typeface="Cambria" pitchFamily="34" charset="-122"/>
                <a:cs typeface="Cambria" pitchFamily="34" charset="-120"/>
              </a:rPr>
              <a:t>Next:</a:t>
            </a:r>
            <a:endParaRPr lang="en-US" sz="1500" dirty="0"/>
          </a:p>
        </p:txBody>
      </p:sp>
      <p:sp>
        <p:nvSpPr>
          <p:cNvPr id="30" name="Text 28"/>
          <p:cNvSpPr txBox="1"/>
          <p:nvPr/>
        </p:nvSpPr>
        <p:spPr>
          <a:xfrm>
            <a:off x="1554480" y="5340096"/>
            <a:ext cx="9875520" cy="274320"/>
          </a:xfrm>
          <a:prstGeom prst="rect">
            <a:avLst/>
          </a:prstGeom>
          <a:noFill/>
          <a:ln/>
        </p:spPr>
        <p:txBody>
          <a:bodyPr wrap="square" lIns="0" tIns="0" rIns="0" bIns="0" rtlCol="0" anchor="ctr"/>
          <a:lstStyle/>
          <a:p>
            <a:pPr indent="0" marL="0">
              <a:buNone/>
            </a:pPr>
            <a:r>
              <a:rPr lang="en-US" sz="1350" dirty="0">
                <a:solidFill>
                  <a:srgbClr val="23343F"/>
                </a:solidFill>
                <a:latin typeface="Calibri" pitchFamily="34" charset="0"/>
                <a:ea typeface="Calibri" pitchFamily="34" charset="-122"/>
                <a:cs typeface="Calibri" pitchFamily="34" charset="-120"/>
              </a:rPr>
              <a:t>confirm the assumptions    →    build the mock UI and stubbed APIs    →    start with travel notice, the hardest of the six</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2026-09-16T16:50:21Z</dcterms:created>
  <dcterms:modified xsi:type="dcterms:W3CDTF">2026-09-16T16:50:21Z</dcterms:modified>
</cp:coreProperties>
</file>